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4322292cddca4602" Type="http://schemas.openxmlformats.org/officeDocument/2006/relationships/extended-properties" Target="docProps/app.xml"/><Relationship Id="R4760e85057f944c4" Type="http://schemas.openxmlformats.org/package/2006/relationships/metadata/core-properties" Target="docProps/core.xml"/><Relationship Id="Ra1209dd07a5d4dfe"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243d1c1ab58947b1"/>
  </p:sldMasterIdLst>
  <p:notesMasterIdLst>
    <p:notesMasterId xmlns:r="http://schemas.openxmlformats.org/officeDocument/2006/relationships" r:id="R22aef37dce2d4290"/>
  </p:notesMasterIdLst>
  <p:sldIdLst>
    <p:sldId xmlns:r="http://schemas.openxmlformats.org/officeDocument/2006/relationships" id="256" r:id="R9a311c59b9df4649"/>
    <p:sldId xmlns:r="http://schemas.openxmlformats.org/officeDocument/2006/relationships" id="262" r:id="Rc8cbb1be505b4ae0"/>
    <p:sldId xmlns:r="http://schemas.openxmlformats.org/officeDocument/2006/relationships" id="263" r:id="R2ee0bcfaed0541b7"/>
    <p:sldId xmlns:r="http://schemas.openxmlformats.org/officeDocument/2006/relationships" id="264" r:id="R4aaf777acc8147d6"/>
    <p:sldId xmlns:r="http://schemas.openxmlformats.org/officeDocument/2006/relationships" id="265" r:id="R3df96479d62143c5"/>
    <p:sldId xmlns:r="http://schemas.openxmlformats.org/officeDocument/2006/relationships" id="275" r:id="R29281bffa76942b9"/>
    <p:sldId xmlns:r="http://schemas.openxmlformats.org/officeDocument/2006/relationships" id="271" r:id="Rd61726d01e8a4259"/>
    <p:sldId xmlns:r="http://schemas.openxmlformats.org/officeDocument/2006/relationships" id="272" r:id="Rfd438a27ec424b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22aef37dce2d4290" Type="http://schemas.openxmlformats.org/officeDocument/2006/relationships/notesMaster" Target="notesMasters/notesMaster1.xml"/><Relationship Id="R243d1c1ab58947b1" Type="http://schemas.openxmlformats.org/officeDocument/2006/relationships/slideMaster" Target="slideMasters/slideMaster1.xml"/><Relationship Id="R29281bffa76942b9" Type="http://schemas.openxmlformats.org/officeDocument/2006/relationships/slide" Target="slides/slide20.xml"/><Relationship Id="R2ee0bcfaed0541b7" Type="http://schemas.openxmlformats.org/officeDocument/2006/relationships/slide" Target="slides/slide8.xml"/><Relationship Id="R3651f7b04eeb4a98" Type="http://schemas.openxmlformats.org/officeDocument/2006/relationships/tableStyles" Target="tableStyles.xml"/><Relationship Id="R3df96479d62143c5" Type="http://schemas.openxmlformats.org/officeDocument/2006/relationships/slide" Target="slides/slide10.xml"/><Relationship Id="R4aaf777acc8147d6" Type="http://schemas.openxmlformats.org/officeDocument/2006/relationships/slide" Target="slides/slide9.xml"/><Relationship Id="R4c024c41a0b34599" Type="http://schemas.openxmlformats.org/officeDocument/2006/relationships/viewProps" Target="viewProps.xml"/><Relationship Id="R4d97ab9b040b4417" Type="http://schemas.openxmlformats.org/officeDocument/2006/relationships/presProps" Target="presProps.xml"/><Relationship Id="R9a311c59b9df4649" Type="http://schemas.openxmlformats.org/officeDocument/2006/relationships/slide" Target="slides/slide1.xml"/><Relationship Id="Rc2197ac1fda34593" Type="http://schemas.openxmlformats.org/officeDocument/2006/relationships/theme" Target="theme/theme1.xml"/><Relationship Id="Rc8cbb1be505b4ae0" Type="http://schemas.openxmlformats.org/officeDocument/2006/relationships/slide" Target="slides/slide7.xml"/><Relationship Id="Rd61726d01e8a4259" Type="http://schemas.openxmlformats.org/officeDocument/2006/relationships/slide" Target="slides/slide16.xml"/><Relationship Id="Rfd438a27ec424bca"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61c8163834884a79"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cb823fea545041a7" Type="http://schemas.openxmlformats.org/officeDocument/2006/relationships/slide" Target="../slides/slide1.xml"/><Relationship Id="Rf11b0d9c4eb6496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34e01736d4f84eab" Type="http://schemas.openxmlformats.org/officeDocument/2006/relationships/notesMaster" Target="../notesMasters/notesMaster1.xml"/><Relationship Id="Re751187206304aef"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e16ea5dc2d934c53" Type="http://schemas.openxmlformats.org/officeDocument/2006/relationships/slide" Target="../slides/slide8.xml"/><Relationship Id="Rf5e3e263006542f3"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3494232d3373413c" Type="http://schemas.openxmlformats.org/officeDocument/2006/relationships/notesMaster" Target="../notesMasters/notesMaster1.xml"/><Relationship Id="Rbe8db6751be24f5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c0ac511bc6a044a4" Type="http://schemas.openxmlformats.org/officeDocument/2006/relationships/notesMaster" Target="../notesMasters/notesMaster1.xml"/><Relationship Id="Ref80a07ea2bc4458" Type="http://schemas.openxmlformats.org/officeDocument/2006/relationships/slide" Target="../slides/slide10.xml"/></Relationships>
</file>

<file path=ppt/notesSlides/_rels/notesSlide16.xml.rels><?xml version='1.0' encoding='UTF-8' standalone='yes'?>
<Relationships xmlns="http://schemas.openxmlformats.org/package/2006/relationships"><Relationship Id="R47cf2944766142de" Type="http://schemas.openxmlformats.org/officeDocument/2006/relationships/slide" Target="../slides/slide16.xml"/><Relationship Id="R9574f9e4065a49d7"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b1dae365f0d54de7" Type="http://schemas.openxmlformats.org/officeDocument/2006/relationships/slide" Target="../slides/slide17.xml"/><Relationship Id="Rdcd7de60536b499e"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34241b32cfcf42d1" Type="http://schemas.openxmlformats.org/officeDocument/2006/relationships/slide" Target="../slides/slide20.xml"/><Relationship Id="R8153dd70421a4679"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Bonjour, je suis Fatima Zahrae Chakib, élève-ingénieure en 4e année, filière Génie Financier, Actuariat &amp; Finance. Je vous présente mon stage de perfectionnement réalisé au sein du département FP&amp;A d'Expleo Maroc à Tanger, sous l'encadrement de Mme El Amarti côté entreprise et de Mme Filali Halime côté EMSI.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Deuxième temps : comment j'ai construit la comparaison pour qu'elle soit honnête. C'est là que se situe ma valeur ajoutée — diagnostiquer, mesurer, challenger, recommander.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chaîne se lit de gauche à droite. Le point sur lequel j'ai passé le plus de temps est en bas à gauche : un modèle qui « voit » le futur affiche des scores spectaculaires et ne sert à rien.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C'est la garantie de robustesse de mes conclusions : trois évaluations indépendantes, pas un découpage chanceux.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baseline n'est pas une formalité : sur des séries fortement autocorrélées, c'est une référence exigeante.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Ces quatre difficultés ont structuré le travail. La feuille de route est conditionnelle, pas calendaire : on ne passe à l'étape suivante qu'après validation sur données réelles.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 conclusion tient en une phrase : le projet ne prouve pas que le ML est supérieur, il construit ce qui permettra de le savoir.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L'explicabilité est une condition d'adoption : un modèle que le FP&amp;A ne comprend pas ne sera jamais utilisé, même performant.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260a5ec2c68d4e8e"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3217a132fc334e8a" Type="http://schemas.openxmlformats.org/officeDocument/2006/relationships/theme" Target="theme/theme2.xml"/><Relationship Id="R3e9aa7a148cd4882" Type="http://schemas.openxmlformats.org/officeDocument/2006/relationships/slideLayout" Target="../slideLayouts/slideLayout1.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9aa7a148cd488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00f0ca0f33f4220" Type="http://schemas.openxmlformats.org/officeDocument/2006/relationships/notesSlide" Target="../notesSlides/notesSlide1.xml"/><Relationship Id="R257fc4371d9a4876" Type="http://schemas.openxmlformats.org/officeDocument/2006/relationships/slideLayout" Target="../slideLayouts/slideLayout1.xml"/><Relationship Id="R55d9e92949bf4f05" Type="http://schemas.openxmlformats.org/officeDocument/2006/relationships/image" Target="../media/image3.png"/><Relationship Id="Rbb870957ebdf4d18" Type="http://schemas.openxmlformats.org/officeDocument/2006/relationships/image" Target="../media/image2.png"/><Relationship Id="Rc0b9240068af495e" Type="http://schemas.openxmlformats.org/officeDocument/2006/relationships/image" Target="../media/image.png"/></Relationships>
</file>

<file path=ppt/slides/_rels/slide7.xml.rels><?xml version='1.0' encoding='UTF-8' standalone='yes'?>
<Relationships xmlns="http://schemas.openxmlformats.org/package/2006/relationships"><Relationship Id="R30a391580fba4e91" Type="http://schemas.openxmlformats.org/officeDocument/2006/relationships/slideLayout" Target="../slideLayouts/slideLayout1.xml"/><Relationship Id="R520815e290d8486a" Type="http://schemas.openxmlformats.org/officeDocument/2006/relationships/image" Target="../media/image7.png"/><Relationship Id="R62f7da3f3f314b4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1e9b96a621974040" Type="http://schemas.openxmlformats.org/officeDocument/2006/relationships/slideLayout" Target="../slideLayouts/slideLayout1.xml"/><Relationship Id="R63e9a9c6b17b4a1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54da4b3e7b714a1d" Type="http://schemas.openxmlformats.org/officeDocument/2006/relationships/notesSlide" Target="../notesSlides/notesSlide9.xml"/><Relationship Id="Rc56aecc11a554c0e"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0cd61ff8488440b8" Type="http://schemas.openxmlformats.org/officeDocument/2006/relationships/slideLayout" Target="../slideLayouts/slideLayout1.xml"/><Relationship Id="Rb9a1f22b8ffc42e3"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c5a03739ec904c03" Type="http://schemas.openxmlformats.org/officeDocument/2006/relationships/notesSlide" Target="../notesSlides/notesSlide16.xml"/><Relationship Id="Rde7585b327ad42c4"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b8eed808ce1f4f08" Type="http://schemas.openxmlformats.org/officeDocument/2006/relationships/notesSlide" Target="../notesSlides/notesSlide17.xml"/><Relationship Id="Rb93f6b5678fa4cdb" Type="http://schemas.openxmlformats.org/officeDocument/2006/relationships/slideLayout" Target="../slideLayouts/slideLayout1.xml"/><Relationship Id="Rd743daeedf71496f" Type="http://schemas.openxmlformats.org/officeDocument/2006/relationships/image" Target="../media/image11.png"/></Relationships>
</file>

<file path=ppt/slides/_rels/slide20.xml.rels><?xml version='1.0' encoding='UTF-8' standalone='yes'?>
<Relationships xmlns="http://schemas.openxmlformats.org/package/2006/relationships"><Relationship Id="R078c821d6eda4e97" Type="http://schemas.openxmlformats.org/officeDocument/2006/relationships/slideLayout" Target="../slideLayouts/slideLayout1.xml"/><Relationship Id="R0b0b778e4bc74077" Type="http://schemas.openxmlformats.org/officeDocument/2006/relationships/chart" Target="charts/chart3.xml"/><Relationship Id="R2583cf171602403d" Type="http://schemas.openxmlformats.org/officeDocument/2006/relationships/notesSlide" Target="../notesSlides/notesSlide20.xml"/></Relationships>
</file>

<file path=ppt/slides/charts/chart3.xml><?xml version="1.0" encoding="utf-8"?>
<c:chartSpace xmlns:c="http://schemas.openxmlformats.org/drawingml/2006/chart">
  <c:lang val="en-US"/>
  <c:roundedCorners val="1"/>
  <c:chart>
    <c:autoTitleDeleted val="1"/>
    <c:plotArea>
      <c:barChart>
        <c:barDir val="bar"/>
        <c:grouping val="clustered"/>
        <c:varyColors val="0"/>
        <c:ser>
          <c:idx val="0"/>
          <c:order val="0"/>
          <c:tx>
            <c:strRef>
              <c:f>Sheet1!$B$1</c:f>
              <c:strCache>
                <c:ptCount val="1"/>
                <c:pt idx="0">
                  <c:v>Gain relatif</c:v>
                </c:pt>
              </c:strCache>
            </c:strRef>
          </c:tx>
          <c:spPr>
            <a:solidFill xmlns:a="http://schemas.openxmlformats.org/drawingml/2006/main">
              <a:srgbClr val="6B46C7"/>
            </a:solidFill>
          </c:spPr>
          <c:dLbls>
            <c:numFmt formatCode="0.0%" sourceLinked="0"/>
            <c:txPr>
              <a:bodyPr xmlns:a="http://schemas.openxmlformats.org/drawingml/2006/main" anchorCtr="1"/>
              <a:lstStyle xmlns:a="http://schemas.openxmlformats.org/drawingml/2006/main"/>
              <a:p xmlns:a="http://schemas.openxmlformats.org/drawingml/2006/main">
                <a:pPr>
                  <a:defRPr sz="1000" b="0" i="0" u="none">
                    <a:solidFill>
                      <a:srgbClr val="4B2FA0"/>
                    </a:solidFill>
                    <a:latin typeface="Calibri"/>
                    <a:ea typeface="Calibri"/>
                    <a:cs typeface="Calibri"/>
                  </a:defRPr>
                </a:pPr>
              </a:p>
            </c:txPr>
            <c:showLegendKey val="0"/>
            <c:showVal val="1"/>
            <c:showCatName val="0"/>
            <c:showSerName val="0"/>
            <c:showPercent val="0"/>
            <c:showBubbleSize val="0"/>
            <c:showLeaderLines val="0"/>
          </c:dLbls>
          <c:cat>
            <c:strRef>
              <c:f>Sheet1!$A$2:$A$9</c:f>
              <c:strCache>
                <c:ptCount val="8"/>
                <c:pt idx="0">
                  <c:v>CA à M–3</c:v>
                </c:pt>
                <c:pt idx="1">
                  <c:v>Effectifs</c:v>
                </c:pt>
                <c:pt idx="2">
                  <c:v>CA à M–12</c:v>
                </c:pt>
                <c:pt idx="3">
                  <c:v>Carnet de commandes</c:v>
                </c:pt>
                <c:pt idx="4">
                  <c:v>Moyenne mobile 6 mois</c:v>
                </c:pt>
                <c:pt idx="5">
                  <c:v>Moyenne mobile 3 mois</c:v>
                </c:pt>
                <c:pt idx="6">
                  <c:v>CA du mois précédent</c:v>
                </c:pt>
                <c:pt idx="7">
                  <c:v>Budget</c:v>
                </c:pt>
              </c:strCache>
            </c:strRef>
          </c:cat>
          <c:val>
            <c:numRef>
              <c:f>Sheet1!$B$2:$B$9</c:f>
              <c:numCache>
                <c:formatCode>General</c:formatCode>
                <c:ptCount val="8"/>
                <c:pt idx="0">
                  <c:v>0.007</c:v>
                </c:pt>
                <c:pt idx="1">
                  <c:v>0.011</c:v>
                </c:pt>
                <c:pt idx="2">
                  <c:v>0.015</c:v>
                </c:pt>
                <c:pt idx="3">
                  <c:v>0.082</c:v>
                </c:pt>
                <c:pt idx="4">
                  <c:v>0.119</c:v>
                </c:pt>
                <c:pt idx="5">
                  <c:v>0.159</c:v>
                </c:pt>
                <c:pt idx="6">
                  <c:v>0.221</c:v>
                </c:pt>
                <c:pt idx="7">
                  <c:v>0.347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000" b="0" i="0" u="none">
                  <a:solidFill>
                    <a:srgbClr val="4B2FA0"/>
                  </a:solidFill>
                  <a:latin typeface="Calibri"/>
                  <a:ea typeface="Calibri"/>
                  <a:cs typeface="Calibri"/>
                </a:defRPr>
              </a:pPr>
            </a:p>
          </c:txPr>
          <c:showLegendKey val="0"/>
          <c:showVal val="1"/>
          <c:showCatName val="0"/>
          <c:showSerName val="0"/>
          <c:showPercent val="0"/>
          <c:showBubbleSize val="0"/>
          <c:showLeaderLines val="0"/>
        </c:dLbls>
        <c:gapWidth val="50"/>
        <c:overlap val="0"/>
        <c:axId val="2094734554"/>
        <c:axId val="2094734552"/>
      </c:barChart>
      <c:catAx>
        <c:axId val="2094734554"/>
        <c:scaling>
          <c:orientation val="minMax"/>
        </c:scaling>
        <c:delete val="0"/>
        <c:axPos val="l"/>
        <c:numFmt formatCode="General" sourceLinked="1"/>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1100" b="0" i="0" u="none">
                <a:solidFill>
                  <a:srgbClr val="26233D"/>
                </a:solidFill>
                <a:latin typeface="Calibri"/>
                <a:ea typeface="Calibri"/>
                <a:cs typeface="Calibri"/>
              </a:defRPr>
            </a:pPr>
          </a:p>
        </c:txPr>
        <c:crossAx val="2094734552"/>
        <c:crosses val="autoZero"/>
      </c:catAx>
      <c:valAx>
        <c:axId val="2094734552"/>
        <c:scaling>
          <c:orientation val="minMax"/>
          <c:max val="0.42"/>
          <c:min val="0"/>
        </c:scaling>
        <c:delete val="0"/>
        <c:axPos val="b"/>
        <c:majorGridlines>
          <c:spPr>
            <a:ln xmlns:a="http://schemas.openxmlformats.org/drawingml/2006/main" w="12700">
              <a:solidFill>
                <a:srgbClr val="EFEDF7"/>
              </a:solidFill>
              <a:prstDash val="solid"/>
            </a:ln>
          </c:spPr>
        </c:majorGridlines>
        <c:numFmt formatCode="0%" sourceLinked="0"/>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950" b="0" i="0" u="none">
                <a:solidFill>
                  <a:srgbClr val="9A96AE"/>
                </a:solidFill>
                <a:latin typeface="Calibri"/>
                <a:ea typeface="Calibri"/>
                <a:cs typeface="Calibri"/>
              </a:defRPr>
            </a:pPr>
          </a:p>
        </c:txPr>
        <c:crossAx val="2094734554"/>
        <c:crosses val="autoZero"/>
        <c:crossBetween val="between"/>
        <c:majorUnit val="0.1"/>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c0b9240068af495e">
            <a:lum/>
          </a:blip>
          <a:srcRect l="0" t="0" r="0" b="0"/>
          <a:stretch>
            <a:fillRect l="0" t="0" r="0" b="0"/>
          </a:stretch>
        </a:blipFill>
      </p:bgPr>
    </p:bg>
    <p:spTree>
      <p:nvGrpSpPr>
        <p:cNvPr id="1" name=""/>
        <p:cNvGrpSpPr/>
        <p:nvPr/>
      </p:nvGrpSpPr>
      <p:grpSpPr>
        <a:xfrm xmlns:a="http://schemas.openxmlformats.org/drawingml/2006/main"/>
      </p:grpSpPr>
      <p:pic>
        <p:nvPicPr>
          <p:cNvPr id="28" name="Image 0"/>
          <p:cNvPicPr>
            <a:picLocks xmlns:a="http://schemas.openxmlformats.org/drawingml/2006/main" noChangeAspect="1"/>
          </p:cNvPicPr>
          <p:nvPr/>
        </p:nvPicPr>
        <p:blipFill>
          <a:blip xmlns:r="http://schemas.openxmlformats.org/officeDocument/2006/relationships" xmlns:a="http://schemas.openxmlformats.org/drawingml/2006/main" r:embed="Rbb870957ebdf4d18"/>
          <a:stretch xmlns:a="http://schemas.openxmlformats.org/drawingml/2006/main">
            <a:fillRect l="0" t="0" r="0" b="0"/>
          </a:stretch>
        </p:blipFill>
        <p:spPr>
          <a:xfrm xmlns:a="http://schemas.openxmlformats.org/drawingml/2006/main">
            <a:off x="3429000" y="411480"/>
            <a:ext cx="3108960" cy="680314"/>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1D34E224-DC2E-4163-AE6E-56B9AD9961C7}"/>
              </a:ext>
            </a:extLst>
          </p:cNvPr>
          <p:cNvSpPr>
            <a:spLocks xmlns:a="http://schemas.openxmlformats.org/drawingml/2006/main" noGrp="1"/>
          </p:cNvSpPr>
          <p:nvPr/>
        </p:nvSpPr>
        <p:spPr>
          <a:xfrm xmlns:a="http://schemas.openxmlformats.org/drawingml/2006/main">
            <a:off x="6729984" y="457200"/>
            <a:ext cx="8230" cy="585216"/>
          </a:xfrm>
          <a:prstGeom xmlns:a="http://schemas.openxmlformats.org/drawingml/2006/main" prst="rect">
            <a:avLst/>
          </a:prstGeom>
          <a:solidFill xmlns:a="http://schemas.openxmlformats.org/drawingml/2006/main">
            <a:srgbClr val="C9C0E4"/>
          </a:solidFill>
        </p:spPr>
      </p:sp>
      <p:pic>
        <p:nvPicPr>
          <p:cNvPr id="30" name="Image 1"/>
          <p:cNvPicPr>
            <a:picLocks xmlns:a="http://schemas.openxmlformats.org/drawingml/2006/main" noChangeAspect="1"/>
          </p:cNvPicPr>
          <p:nvPr/>
        </p:nvPicPr>
        <p:blipFill>
          <a:blip xmlns:r="http://schemas.openxmlformats.org/officeDocument/2006/relationships" xmlns:a="http://schemas.openxmlformats.org/drawingml/2006/main" r:embed="R55d9e92949bf4f05"/>
          <a:stretch xmlns:a="http://schemas.openxmlformats.org/drawingml/2006/main">
            <a:fillRect l="0" t="0" r="0" b="0"/>
          </a:stretch>
        </p:blipFill>
        <p:spPr>
          <a:xfrm xmlns:a="http://schemas.openxmlformats.org/drawingml/2006/main">
            <a:off x="7022592" y="557784"/>
            <a:ext cx="1737360" cy="382219"/>
          </a:xfrm>
          <a:prstGeom xmlns:a="http://schemas.openxmlformats.org/drawingml/2006/main" prst="rect">
            <a:avLst/>
          </a:prstGeom>
        </p:spPr>
      </p:pic>
      <p:sp>
        <p:nvSpPr>
          <p:cNvPr id="5" name="Text 1">
            <a:extLst xmlns:a="http://schemas.openxmlformats.org/drawingml/2006/main">
              <a:ext uri="{FF2B5EF4-FFF2-40B4-BE49-F238E27FC236}">
                <a16:creationId xmlns:a16="http://schemas.microsoft.com/office/drawing/2014/main" id="{55A323E6-79E6-4AD6-A725-6FE80EF6FD8F}"/>
              </a:ext>
            </a:extLst>
          </p:cNvPr>
          <p:cNvSpPr>
            <a:spLocks xmlns:a="http://schemas.openxmlformats.org/drawingml/2006/main" noGrp="1"/>
          </p:cNvSpPr>
          <p:nvPr/>
        </p:nvSpPr>
        <p:spPr>
          <a:xfrm xmlns:a="http://schemas.openxmlformats.org/drawingml/2006/main">
            <a:off x="548640" y="1426464"/>
            <a:ext cx="1109167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141230"/>
                </a:solidFill>
                <a:latin typeface="Cambria"/>
                <a:ea typeface="Cambria"/>
                <a:cs typeface="Cambria"/>
              </a:rPr>
              <a:t>Soutenance de stage de perfectionnement</a:t>
            </a:r>
            <a:endParaRPr sz="2100"/>
          </a:p>
        </p:txBody>
      </p:sp>
      <p:sp>
        <p:nvSpPr>
          <p:cNvPr id="6" name="Text 2">
            <a:extLst xmlns:a="http://schemas.openxmlformats.org/drawingml/2006/main">
              <a:ext uri="{FF2B5EF4-FFF2-40B4-BE49-F238E27FC236}">
                <a16:creationId xmlns:a16="http://schemas.microsoft.com/office/drawing/2014/main" id="{22D23855-9A59-498C-A942-98C95D1009EE}"/>
              </a:ext>
            </a:extLst>
          </p:cNvPr>
          <p:cNvSpPr>
            <a:spLocks xmlns:a="http://schemas.openxmlformats.org/drawingml/2006/main" noGrp="1"/>
          </p:cNvSpPr>
          <p:nvPr/>
        </p:nvSpPr>
        <p:spPr>
          <a:xfrm xmlns:a="http://schemas.openxmlformats.org/drawingml/2006/main">
            <a:off x="548640" y="1819656"/>
            <a:ext cx="1109167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50">
                <a:solidFill>
                  <a:srgbClr val="6E6A88"/>
                </a:solidFill>
                <a:latin typeface="Calibri"/>
                <a:ea typeface="Calibri"/>
                <a:cs typeface="Calibri"/>
              </a:rPr>
              <a:t>4e année — Génie Financier, Actuariat &amp; Finance</a:t>
            </a:r>
            <a:endParaRPr sz="1450"/>
          </a:p>
        </p:txBody>
      </p:sp>
      <p:sp>
        <p:nvSpPr>
          <p:cNvPr id="7" name="Text 3">
            <a:extLst xmlns:a="http://schemas.openxmlformats.org/drawingml/2006/main">
              <a:ext uri="{FF2B5EF4-FFF2-40B4-BE49-F238E27FC236}">
                <a16:creationId xmlns:a16="http://schemas.microsoft.com/office/drawing/2014/main" id="{3130E882-7CFC-432B-A6CF-2CCDB2DC9FD6}"/>
              </a:ext>
            </a:extLst>
          </p:cNvPr>
          <p:cNvSpPr>
            <a:spLocks xmlns:a="http://schemas.openxmlformats.org/drawingml/2006/main" noGrp="1"/>
          </p:cNvSpPr>
          <p:nvPr/>
        </p:nvSpPr>
        <p:spPr>
          <a:xfrm xmlns:a="http://schemas.openxmlformats.org/drawingml/2006/main">
            <a:off x="548640" y="2267712"/>
            <a:ext cx="1109167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300">
                <a:solidFill>
                  <a:srgbClr val="6B46C7"/>
                </a:solidFill>
                <a:latin typeface="Calibri"/>
                <a:ea typeface="Calibri"/>
                <a:cs typeface="Calibri"/>
              </a:rPr>
              <a:t>SOUS LE THÈME</a:t>
            </a:r>
            <a:endParaRPr sz="1050"/>
          </a:p>
        </p:txBody>
      </p:sp>
      <p:sp>
        <p:nvSpPr>
          <p:cNvPr id="8" name="Shape 4">
            <a:extLst xmlns:a="http://schemas.openxmlformats.org/drawingml/2006/main">
              <a:ext uri="{FF2B5EF4-FFF2-40B4-BE49-F238E27FC236}">
                <a16:creationId xmlns:a16="http://schemas.microsoft.com/office/drawing/2014/main" id="{A0CEC290-331E-41CD-AAA6-5C7AD706A351}"/>
              </a:ext>
            </a:extLst>
          </p:cNvPr>
          <p:cNvSpPr>
            <a:spLocks xmlns:a="http://schemas.openxmlformats.org/drawingml/2006/main" noGrp="1"/>
          </p:cNvSpPr>
          <p:nvPr/>
        </p:nvSpPr>
        <p:spPr>
          <a:xfrm xmlns:a="http://schemas.openxmlformats.org/drawingml/2006/main">
            <a:off x="914400" y="2651760"/>
            <a:ext cx="10360152" cy="18288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6B46C7"/>
            </a:solidFill>
            <a:prstDash val="solid"/>
          </a:ln>
          <a:effectLst xmlns:a="http://schemas.openxmlformats.org/drawingml/2006/main">
            <a:outerShdw blurRad="279400" dist="63500" dir="5400000" sx="100000" sy="100000" kx="0" ky="0" algn="bl" rotWithShape="0">
              <a:srgbClr val="3C2E7A">
                <a:alpha val="16000"/>
              </a:srgbClr>
            </a:outerShdw>
          </a:effectLst>
        </p:spPr>
      </p:sp>
      <p:sp>
        <p:nvSpPr>
          <p:cNvPr id="9" name="Text 5">
            <a:extLst xmlns:a="http://schemas.openxmlformats.org/drawingml/2006/main">
              <a:ext uri="{FF2B5EF4-FFF2-40B4-BE49-F238E27FC236}">
                <a16:creationId xmlns:a16="http://schemas.microsoft.com/office/drawing/2014/main" id="{766833D9-967E-4AC6-A2D6-A2AF60C57CF0}"/>
              </a:ext>
            </a:extLst>
          </p:cNvPr>
          <p:cNvSpPr>
            <a:spLocks xmlns:a="http://schemas.openxmlformats.org/drawingml/2006/main" noGrp="1"/>
          </p:cNvSpPr>
          <p:nvPr/>
        </p:nvSpPr>
        <p:spPr>
          <a:xfrm xmlns:a="http://schemas.openxmlformats.org/drawingml/2006/main">
            <a:off x="1143000" y="2798064"/>
            <a:ext cx="990295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141230"/>
                </a:solidFill>
                <a:latin typeface="Cambria"/>
                <a:ea typeface="Cambria"/>
                <a:cs typeface="Cambria"/>
              </a:rPr>
              <a:t>Fiabilisation du forecast du chiffre d’affaires pour le pilotage FP&amp;A</a:t>
            </a:r>
            <a:endParaRPr sz="2600"/>
          </a:p>
        </p:txBody>
      </p:sp>
      <p:sp>
        <p:nvSpPr>
          <p:cNvPr id="10" name="Text 6">
            <a:extLst xmlns:a="http://schemas.openxmlformats.org/drawingml/2006/main">
              <a:ext uri="{FF2B5EF4-FFF2-40B4-BE49-F238E27FC236}">
                <a16:creationId xmlns:a16="http://schemas.microsoft.com/office/drawing/2014/main" id="{2D65369D-44FF-4483-86CD-38553B087A18}"/>
              </a:ext>
            </a:extLst>
          </p:cNvPr>
          <p:cNvSpPr>
            <a:spLocks xmlns:a="http://schemas.openxmlformats.org/drawingml/2006/main" noGrp="1"/>
          </p:cNvSpPr>
          <p:nvPr/>
        </p:nvSpPr>
        <p:spPr>
          <a:xfrm xmlns:a="http://schemas.openxmlformats.org/drawingml/2006/main">
            <a:off x="1143000" y="3346704"/>
            <a:ext cx="990295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6E6A88"/>
                </a:solidFill>
                <a:latin typeface="Calibri"/>
                <a:ea typeface="Calibri"/>
                <a:cs typeface="Calibri"/>
              </a:rPr>
              <a:t>Évaluation comparative d’une méthode de référence et du modèle XGBoost</a:t>
            </a:r>
            <a:endParaRPr sz="1350"/>
          </a:p>
        </p:txBody>
      </p:sp>
      <p:sp>
        <p:nvSpPr>
          <p:cNvPr id="11" name="Text 7">
            <a:extLst xmlns:a="http://schemas.openxmlformats.org/drawingml/2006/main">
              <a:ext uri="{FF2B5EF4-FFF2-40B4-BE49-F238E27FC236}">
                <a16:creationId xmlns:a16="http://schemas.microsoft.com/office/drawing/2014/main" id="{6AFE705A-DA9C-4C1E-900D-9FDF66C1F025}"/>
              </a:ext>
            </a:extLst>
          </p:cNvPr>
          <p:cNvSpPr>
            <a:spLocks xmlns:a="http://schemas.openxmlformats.org/drawingml/2006/main" noGrp="1"/>
          </p:cNvSpPr>
          <p:nvPr/>
        </p:nvSpPr>
        <p:spPr>
          <a:xfrm xmlns:a="http://schemas.openxmlformats.org/drawingml/2006/main">
            <a:off x="1143000" y="3803904"/>
            <a:ext cx="990295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4B2FA0"/>
                </a:solidFill>
                <a:latin typeface="Cambria"/>
                <a:ea typeface="Cambria"/>
                <a:cs typeface="Cambria"/>
              </a:rPr>
              <a:t>Cas d'entreprise : EXPLEO MAROC — TANGER</a:t>
            </a:r>
            <a:endParaRPr sz="1650"/>
          </a:p>
        </p:txBody>
      </p:sp>
      <p:sp>
        <p:nvSpPr>
          <p:cNvPr id="12" name="Text 8">
            <a:extLst xmlns:a="http://schemas.openxmlformats.org/drawingml/2006/main">
              <a:ext uri="{FF2B5EF4-FFF2-40B4-BE49-F238E27FC236}">
                <a16:creationId xmlns:a16="http://schemas.microsoft.com/office/drawing/2014/main" id="{04882E1E-33A9-4AB2-A230-7D81E27309DB}"/>
              </a:ext>
            </a:extLst>
          </p:cNvPr>
          <p:cNvSpPr>
            <a:spLocks xmlns:a="http://schemas.openxmlformats.org/drawingml/2006/main" noGrp="1"/>
          </p:cNvSpPr>
          <p:nvPr/>
        </p:nvSpPr>
        <p:spPr>
          <a:xfrm xmlns:a="http://schemas.openxmlformats.org/drawingml/2006/main">
            <a:off x="1051560" y="4700016"/>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180">
                <a:solidFill>
                  <a:srgbClr val="6B46C7"/>
                </a:solidFill>
                <a:latin typeface="Calibri"/>
                <a:ea typeface="Calibri"/>
                <a:cs typeface="Calibri"/>
              </a:rPr>
              <a:t>RÉALISÉ PAR</a:t>
            </a:r>
            <a:endParaRPr sz="900"/>
          </a:p>
        </p:txBody>
      </p:sp>
      <p:sp>
        <p:nvSpPr>
          <p:cNvPr id="13" name="Text 9">
            <a:extLst xmlns:a="http://schemas.openxmlformats.org/drawingml/2006/main">
              <a:ext uri="{FF2B5EF4-FFF2-40B4-BE49-F238E27FC236}">
                <a16:creationId xmlns:a16="http://schemas.microsoft.com/office/drawing/2014/main" id="{12B45F58-4C57-40F4-AC0D-E5B6FC41E1F2}"/>
              </a:ext>
            </a:extLst>
          </p:cNvPr>
          <p:cNvSpPr>
            <a:spLocks xmlns:a="http://schemas.openxmlformats.org/drawingml/2006/main" noGrp="1"/>
          </p:cNvSpPr>
          <p:nvPr/>
        </p:nvSpPr>
        <p:spPr>
          <a:xfrm xmlns:a="http://schemas.openxmlformats.org/drawingml/2006/main">
            <a:off x="1051560" y="4937760"/>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41230"/>
                </a:solidFill>
                <a:latin typeface="Calibri"/>
                <a:ea typeface="Calibri"/>
                <a:cs typeface="Calibri"/>
              </a:rPr>
              <a:t>Fatima Zahrae Chakib</a:t>
            </a:r>
            <a:endParaRPr sz="1400"/>
          </a:p>
        </p:txBody>
      </p:sp>
      <p:sp>
        <p:nvSpPr>
          <p:cNvPr id="14" name="Text 10">
            <a:extLst xmlns:a="http://schemas.openxmlformats.org/drawingml/2006/main">
              <a:ext uri="{FF2B5EF4-FFF2-40B4-BE49-F238E27FC236}">
                <a16:creationId xmlns:a16="http://schemas.microsoft.com/office/drawing/2014/main" id="{F71F0E19-9319-4F76-B053-603008C55424}"/>
              </a:ext>
            </a:extLst>
          </p:cNvPr>
          <p:cNvSpPr>
            <a:spLocks xmlns:a="http://schemas.openxmlformats.org/drawingml/2006/main" noGrp="1"/>
          </p:cNvSpPr>
          <p:nvPr/>
        </p:nvSpPr>
        <p:spPr>
          <a:xfrm xmlns:a="http://schemas.openxmlformats.org/drawingml/2006/main">
            <a:off x="1051560" y="5212080"/>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E6A88"/>
                </a:solidFill>
                <a:latin typeface="Calibri"/>
                <a:ea typeface="Calibri"/>
                <a:cs typeface="Calibri"/>
              </a:rPr>
              <a:t>Élève ingénieure en 4ᵉ année — Génie financier, actuariat et finance</a:t>
            </a:r>
            <a:endParaRPr sz="1050"/>
          </a:p>
        </p:txBody>
      </p:sp>
      <p:sp>
        <p:nvSpPr>
          <p:cNvPr id="15" name="Text 11">
            <a:extLst xmlns:a="http://schemas.openxmlformats.org/drawingml/2006/main">
              <a:ext uri="{FF2B5EF4-FFF2-40B4-BE49-F238E27FC236}">
                <a16:creationId xmlns:a16="http://schemas.microsoft.com/office/drawing/2014/main" id="{FB201AEA-F288-411F-AACF-8D69B695FBD0}"/>
              </a:ext>
            </a:extLst>
          </p:cNvPr>
          <p:cNvSpPr>
            <a:spLocks xmlns:a="http://schemas.openxmlformats.org/drawingml/2006/main" noGrp="1"/>
          </p:cNvSpPr>
          <p:nvPr/>
        </p:nvSpPr>
        <p:spPr>
          <a:xfrm xmlns:a="http://schemas.openxmlformats.org/drawingml/2006/main">
            <a:off x="1051560" y="5614416"/>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180">
                <a:solidFill>
                  <a:srgbClr val="6B46C7"/>
                </a:solidFill>
                <a:latin typeface="Calibri"/>
                <a:ea typeface="Calibri"/>
                <a:cs typeface="Calibri"/>
              </a:rPr>
              <a:t>ENCADRÉE PAR</a:t>
            </a:r>
            <a:endParaRPr sz="900"/>
          </a:p>
        </p:txBody>
      </p:sp>
      <p:sp>
        <p:nvSpPr>
          <p:cNvPr id="16" name="Text 12">
            <a:extLst xmlns:a="http://schemas.openxmlformats.org/drawingml/2006/main">
              <a:ext uri="{FF2B5EF4-FFF2-40B4-BE49-F238E27FC236}">
                <a16:creationId xmlns:a16="http://schemas.microsoft.com/office/drawing/2014/main" id="{13C37551-7A91-48E8-BE00-6AC2328CCCE8}"/>
              </a:ext>
            </a:extLst>
          </p:cNvPr>
          <p:cNvSpPr>
            <a:spLocks xmlns:a="http://schemas.openxmlformats.org/drawingml/2006/main" noGrp="1"/>
          </p:cNvSpPr>
          <p:nvPr/>
        </p:nvSpPr>
        <p:spPr>
          <a:xfrm xmlns:a="http://schemas.openxmlformats.org/drawingml/2006/main">
            <a:off x="1051560" y="5852160"/>
            <a:ext cx="4754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41230"/>
                </a:solidFill>
                <a:latin typeface="Calibri"/>
                <a:ea typeface="Calibri"/>
                <a:cs typeface="Calibri"/>
              </a:rPr>
              <a:t>Mme Zohra Filali Halime</a:t>
            </a:r>
            <a:r>
              <a:rPr sz="1150">
                <a:solidFill>
                  <a:srgbClr val="6E6A88"/>
                </a:solidFill>
                <a:latin typeface="Calibri"/>
                <a:ea typeface="Calibri"/>
                <a:cs typeface="Calibri"/>
              </a:rPr>
              <a:t>  —  Encadrante pédagogique, EMSI Tanger</a:t>
            </a:r>
            <a:endParaRPr sz="1150"/>
          </a:p>
        </p:txBody>
      </p:sp>
      <p:sp>
        <p:nvSpPr>
          <p:cNvPr id="17" name="Text 13">
            <a:extLst xmlns:a="http://schemas.openxmlformats.org/drawingml/2006/main">
              <a:ext uri="{FF2B5EF4-FFF2-40B4-BE49-F238E27FC236}">
                <a16:creationId xmlns:a16="http://schemas.microsoft.com/office/drawing/2014/main" id="{68F002E1-2BAE-41CB-A95E-8A9821CEA65D}"/>
              </a:ext>
            </a:extLst>
          </p:cNvPr>
          <p:cNvSpPr>
            <a:spLocks xmlns:a="http://schemas.openxmlformats.org/drawingml/2006/main" noGrp="1"/>
          </p:cNvSpPr>
          <p:nvPr/>
        </p:nvSpPr>
        <p:spPr>
          <a:xfrm xmlns:a="http://schemas.openxmlformats.org/drawingml/2006/main">
            <a:off x="1051560" y="6108192"/>
            <a:ext cx="4754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41230"/>
                </a:solidFill>
                <a:latin typeface="Calibri"/>
                <a:ea typeface="Calibri"/>
                <a:cs typeface="Calibri"/>
              </a:rPr>
              <a:t>Mme Yasmina El Amarti</a:t>
            </a:r>
            <a:r>
              <a:rPr sz="1150">
                <a:solidFill>
                  <a:srgbClr val="6E6A88"/>
                </a:solidFill>
                <a:latin typeface="Calibri"/>
                <a:ea typeface="Calibri"/>
                <a:cs typeface="Calibri"/>
              </a:rPr>
              <a:t>  —  Senior FP&amp;A Specialist, Expleo Maroc</a:t>
            </a:r>
            <a:endParaRPr sz="1150"/>
          </a:p>
        </p:txBody>
      </p:sp>
      <p:sp>
        <p:nvSpPr>
          <p:cNvPr id="18" name="Text 14">
            <a:extLst xmlns:a="http://schemas.openxmlformats.org/drawingml/2006/main">
              <a:ext uri="{FF2B5EF4-FFF2-40B4-BE49-F238E27FC236}">
                <a16:creationId xmlns:a16="http://schemas.microsoft.com/office/drawing/2014/main" id="{6FCD1AB0-7E0C-4F6C-99F5-2232293F0769}"/>
              </a:ext>
            </a:extLst>
          </p:cNvPr>
          <p:cNvSpPr>
            <a:spLocks xmlns:a="http://schemas.openxmlformats.org/drawingml/2006/main" noGrp="1"/>
          </p:cNvSpPr>
          <p:nvPr/>
        </p:nvSpPr>
        <p:spPr>
          <a:xfrm xmlns:a="http://schemas.openxmlformats.org/drawingml/2006/main">
            <a:off x="6675120" y="4700016"/>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180">
                <a:solidFill>
                  <a:srgbClr val="6B46C7"/>
                </a:solidFill>
                <a:latin typeface="Calibri"/>
                <a:ea typeface="Calibri"/>
                <a:cs typeface="Calibri"/>
              </a:rPr>
              <a:t>MEMBRES DU JURY</a:t>
            </a:r>
            <a:endParaRPr sz="900"/>
          </a:p>
        </p:txBody>
      </p:sp>
      <p:sp>
        <p:nvSpPr>
          <p:cNvPr id="19" name="Shape 15">
            <a:extLst xmlns:a="http://schemas.openxmlformats.org/drawingml/2006/main">
              <a:ext uri="{FF2B5EF4-FFF2-40B4-BE49-F238E27FC236}">
                <a16:creationId xmlns:a16="http://schemas.microsoft.com/office/drawing/2014/main" id="{7012012C-C88E-4880-AE06-7E4830F92028}"/>
              </a:ext>
            </a:extLst>
          </p:cNvPr>
          <p:cNvSpPr>
            <a:spLocks xmlns:a="http://schemas.openxmlformats.org/drawingml/2006/main" noGrp="1"/>
          </p:cNvSpPr>
          <p:nvPr/>
        </p:nvSpPr>
        <p:spPr>
          <a:xfrm xmlns:a="http://schemas.openxmlformats.org/drawingml/2006/main">
            <a:off x="6675120" y="5093208"/>
            <a:ext cx="91440" cy="91440"/>
          </a:xfrm>
          <a:prstGeom xmlns:a="http://schemas.openxmlformats.org/drawingml/2006/main" prst="ellipse">
            <a:avLst/>
          </a:prstGeom>
          <a:solidFill xmlns:a="http://schemas.openxmlformats.org/drawingml/2006/main">
            <a:srgbClr val="6B46C7"/>
          </a:solidFill>
        </p:spPr>
      </p:sp>
      <p:sp>
        <p:nvSpPr>
          <p:cNvPr id="21" name="Shape 17">
            <a:extLst xmlns:a="http://schemas.openxmlformats.org/drawingml/2006/main">
              <a:ext uri="{FF2B5EF4-FFF2-40B4-BE49-F238E27FC236}">
                <a16:creationId xmlns:a16="http://schemas.microsoft.com/office/drawing/2014/main" id="{6F431E85-D35A-4753-B6AD-D828AA58427F}"/>
              </a:ext>
            </a:extLst>
          </p:cNvPr>
          <p:cNvSpPr>
            <a:spLocks xmlns:a="http://schemas.openxmlformats.org/drawingml/2006/main" noGrp="1"/>
          </p:cNvSpPr>
          <p:nvPr/>
        </p:nvSpPr>
        <p:spPr>
          <a:xfrm xmlns:a="http://schemas.openxmlformats.org/drawingml/2006/main">
            <a:off x="6675120" y="5477256"/>
            <a:ext cx="91440" cy="91440"/>
          </a:xfrm>
          <a:prstGeom xmlns:a="http://schemas.openxmlformats.org/drawingml/2006/main" prst="ellipse">
            <a:avLst/>
          </a:prstGeom>
          <a:solidFill xmlns:a="http://schemas.openxmlformats.org/drawingml/2006/main">
            <a:srgbClr val="6B46C7"/>
          </a:solidFill>
        </p:spPr>
      </p:sp>
      <p:sp>
        <p:nvSpPr>
          <p:cNvPr id="23" name="Shape 19">
            <a:extLst xmlns:a="http://schemas.openxmlformats.org/drawingml/2006/main">
              <a:ext uri="{FF2B5EF4-FFF2-40B4-BE49-F238E27FC236}">
                <a16:creationId xmlns:a16="http://schemas.microsoft.com/office/drawing/2014/main" id="{B220F993-3A75-4B72-92C8-3957C938D9CE}"/>
              </a:ext>
            </a:extLst>
          </p:cNvPr>
          <p:cNvSpPr>
            <a:spLocks xmlns:a="http://schemas.openxmlformats.org/drawingml/2006/main" noGrp="1"/>
          </p:cNvSpPr>
          <p:nvPr/>
        </p:nvSpPr>
        <p:spPr>
          <a:xfrm xmlns:a="http://schemas.openxmlformats.org/drawingml/2006/main">
            <a:off x="6675120" y="5861304"/>
            <a:ext cx="91440" cy="91440"/>
          </a:xfrm>
          <a:prstGeom xmlns:a="http://schemas.openxmlformats.org/drawingml/2006/main" prst="ellipse">
            <a:avLst/>
          </a:prstGeom>
          <a:solidFill xmlns:a="http://schemas.openxmlformats.org/drawingml/2006/main">
            <a:srgbClr val="6B46C7"/>
          </a:solidFill>
        </p:spPr>
      </p:sp>
      <p:sp>
        <p:nvSpPr>
          <p:cNvPr id="25" name="Text 21">
            <a:extLst xmlns:a="http://schemas.openxmlformats.org/drawingml/2006/main">
              <a:ext uri="{FF2B5EF4-FFF2-40B4-BE49-F238E27FC236}">
                <a16:creationId xmlns:a16="http://schemas.microsoft.com/office/drawing/2014/main" id="{8B86F3E8-DDDA-4AD5-8631-07FAF1EE6AC1}"/>
              </a:ext>
            </a:extLst>
          </p:cNvPr>
          <p:cNvSpPr>
            <a:spLocks xmlns:a="http://schemas.openxmlformats.org/drawingml/2006/main" noGrp="1"/>
          </p:cNvSpPr>
          <p:nvPr/>
        </p:nvSpPr>
        <p:spPr>
          <a:xfrm xmlns:a="http://schemas.openxmlformats.org/drawingml/2006/main">
            <a:off x="548640" y="6419088"/>
            <a:ext cx="110916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8E89A6"/>
                </a:solidFill>
                <a:latin typeface="Calibri"/>
                <a:ea typeface="Calibri"/>
                <a:cs typeface="Calibri"/>
              </a:rPr>
              <a:t>Expleo Maroc — Tanger   ·   Juillet 2026   ·   Année universitaire 2025–2026</a:t>
            </a:r>
            <a:endParaRPr sz="1100"/>
          </a:p>
        </p:txBody>
      </p:sp>
      <p:sp>
        <p:nvSpPr>
          <p:cNvPr id="60" name="Text Jury 1">
            <a:extLst xmlns:a="http://schemas.openxmlformats.org/drawingml/2006/main">
              <a:ext uri="{FF2B5EF4-FFF2-40B4-BE49-F238E27FC236}">
                <a16:creationId xmlns:a16="http://schemas.microsoft.com/office/drawing/2014/main" id="{68A8D485-D42B-472F-ABF7-7751689161B1}"/>
              </a:ext>
            </a:extLst>
          </p:cNvPr>
          <p:cNvSpPr>
            <a:spLocks xmlns:a="http://schemas.openxmlformats.org/drawingml/2006/main" noGrp="1"/>
          </p:cNvSpPr>
          <p:nvPr/>
        </p:nvSpPr>
        <p:spPr>
          <a:xfrm xmlns:a="http://schemas.openxmlformats.org/drawingml/2006/main">
            <a:off x="6903720" y="5010912"/>
            <a:ext cx="3931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41230"/>
                </a:solidFill>
                <a:latin typeface="Calibri"/>
                <a:ea typeface="Calibri"/>
                <a:cs typeface="Calibri"/>
              </a:rPr>
              <a:t>Mme Zohra Filali Halime</a:t>
            </a:r>
            <a:r>
              <a:rPr sz="1050">
                <a:solidFill>
                  <a:srgbClr val="6E6A88"/>
                </a:solidFill>
                <a:latin typeface="Calibri"/>
                <a:ea typeface="Calibri"/>
                <a:cs typeface="Calibri"/>
              </a:rPr>
              <a:t>  —  Encadrante pédagogique</a:t>
            </a:r>
            <a:endParaRPr sz="1050"/>
          </a:p>
        </p:txBody>
      </p:sp>
      <p:sp>
        <p:nvSpPr>
          <p:cNvPr id="61" name="Text Jury 2">
            <a:extLst xmlns:a="http://schemas.openxmlformats.org/drawingml/2006/main">
              <a:ext uri="{FF2B5EF4-FFF2-40B4-BE49-F238E27FC236}">
                <a16:creationId xmlns:a16="http://schemas.microsoft.com/office/drawing/2014/main" id="{33CB80ED-4C11-427C-BC8B-520C40E95624}"/>
              </a:ext>
            </a:extLst>
          </p:cNvPr>
          <p:cNvSpPr>
            <a:spLocks xmlns:a="http://schemas.openxmlformats.org/drawingml/2006/main" noGrp="1"/>
          </p:cNvSpPr>
          <p:nvPr/>
        </p:nvSpPr>
        <p:spPr>
          <a:xfrm xmlns:a="http://schemas.openxmlformats.org/drawingml/2006/main">
            <a:off x="6903720" y="5394960"/>
            <a:ext cx="3931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41230"/>
                </a:solidFill>
                <a:latin typeface="Calibri"/>
                <a:ea typeface="Calibri"/>
                <a:cs typeface="Calibri"/>
              </a:rPr>
              <a:t>Mme Khaoula Salmoun</a:t>
            </a:r>
            <a:r>
              <a:rPr sz="1050">
                <a:solidFill>
                  <a:srgbClr val="6E6A88"/>
                </a:solidFill>
                <a:latin typeface="Calibri"/>
                <a:ea typeface="Calibri"/>
                <a:cs typeface="Calibri"/>
              </a:rPr>
              <a:t>  —  Présidente du jury</a:t>
            </a:r>
            <a:endParaRPr sz="1050"/>
          </a:p>
        </p:txBody>
      </p:sp>
      <p:sp>
        <p:nvSpPr>
          <p:cNvPr id="62" name="Text Jury 3">
            <a:extLst xmlns:a="http://schemas.openxmlformats.org/drawingml/2006/main">
              <a:ext uri="{FF2B5EF4-FFF2-40B4-BE49-F238E27FC236}">
                <a16:creationId xmlns:a16="http://schemas.microsoft.com/office/drawing/2014/main" id="{7E7AEDA3-F769-43C7-9A3A-BA255F8EC362}"/>
              </a:ext>
            </a:extLst>
          </p:cNvPr>
          <p:cNvSpPr>
            <a:spLocks xmlns:a="http://schemas.openxmlformats.org/drawingml/2006/main" noGrp="1"/>
          </p:cNvSpPr>
          <p:nvPr/>
        </p:nvSpPr>
        <p:spPr>
          <a:xfrm xmlns:a="http://schemas.openxmlformats.org/drawingml/2006/main">
            <a:off x="6903720" y="5779008"/>
            <a:ext cx="3931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41230"/>
                </a:solidFill>
                <a:latin typeface="Calibri"/>
                <a:ea typeface="Calibri"/>
                <a:cs typeface="Calibri"/>
              </a:rPr>
              <a:t>Mme Zenab El Menzehi</a:t>
            </a:r>
            <a:r>
              <a:rPr sz="1050">
                <a:solidFill>
                  <a:srgbClr val="6E6A88"/>
                </a:solidFill>
                <a:latin typeface="Calibri"/>
                <a:ea typeface="Calibri"/>
                <a:cs typeface="Calibri"/>
              </a:rPr>
              <a:t>  —  Examinatrice</a:t>
            </a:r>
            <a:endParaRPr sz="1050"/>
          </a:p>
        </p:txBody>
      </p:sp>
    </p:spTree>
    <p:extLst>
      <p:ext uri="{BB962C8B-B14F-4D97-AF65-F5344CB8AC3E}">
        <p14:creationId xmlns:p14="http://schemas.microsoft.com/office/powerpoint/2010/main" val="262508636"/>
      </p:ext>
    </p:extLst>
  </p:cSld>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7.xml><?xml version="1.0" encoding="utf-8"?>
<p:sld xmlns:p="http://schemas.openxmlformats.org/presentationml/2006/main">
  <p:cSld>
    <p:bg>
      <p:bgPr>
        <a:blipFill xmlns:a="http://schemas.openxmlformats.org/drawingml/2006/main" rotWithShape="1">
          <a:blip xmlns:r="http://schemas.openxmlformats.org/officeDocument/2006/relationships" r:embed="R520815e290d8486a">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A4CD727-F4D2-40CD-BED7-07577BC9D135}"/>
              </a:ext>
            </a:extLst>
          </p:cNvPr>
          <p:cNvSpPr>
            <a:spLocks xmlns:a="http://schemas.openxmlformats.org/drawingml/2006/main" noGrp="1"/>
          </p:cNvSpPr>
          <p:nvPr/>
        </p:nvSpPr>
        <p:spPr>
          <a:xfrm xmlns:a="http://schemas.openxmlformats.org/drawingml/2006/main">
            <a:off x="658368" y="1463040"/>
            <a:ext cx="274320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600" b="1">
                <a:solidFill>
                  <a:srgbClr val="D8CEF5"/>
                </a:solidFill>
                <a:latin typeface="Cambria"/>
                <a:ea typeface="Cambria"/>
                <a:cs typeface="Cambria"/>
              </a:rPr>
              <a:t>02</a:t>
            </a:r>
            <a:endParaRPr sz="9600"/>
          </a:p>
        </p:txBody>
      </p:sp>
      <p:sp>
        <p:nvSpPr>
          <p:cNvPr id="3" name="Text 1">
            <a:extLst xmlns:a="http://schemas.openxmlformats.org/drawingml/2006/main">
              <a:ext uri="{FF2B5EF4-FFF2-40B4-BE49-F238E27FC236}">
                <a16:creationId xmlns:a16="http://schemas.microsoft.com/office/drawing/2014/main" id="{62166B91-DC36-4C2D-BD5C-E2FB6CBEA0E5}"/>
              </a:ext>
            </a:extLst>
          </p:cNvPr>
          <p:cNvSpPr>
            <a:spLocks xmlns:a="http://schemas.openxmlformats.org/drawingml/2006/main" noGrp="1"/>
          </p:cNvSpPr>
          <p:nvPr/>
        </p:nvSpPr>
        <p:spPr>
          <a:xfrm xmlns:a="http://schemas.openxmlformats.org/drawingml/2006/main">
            <a:off x="713232" y="3154680"/>
            <a:ext cx="76809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300" b="1">
                <a:solidFill>
                  <a:srgbClr val="141230"/>
                </a:solidFill>
                <a:latin typeface="Cambria"/>
                <a:ea typeface="Cambria"/>
                <a:cs typeface="Cambria"/>
              </a:rPr>
              <a:t>Ma mission et ma démarche financière</a:t>
            </a:r>
            <a:endParaRPr sz="3300"/>
          </a:p>
        </p:txBody>
      </p:sp>
      <p:sp>
        <p:nvSpPr>
          <p:cNvPr id="4" name="Text 2">
            <a:extLst xmlns:a="http://schemas.openxmlformats.org/drawingml/2006/main">
              <a:ext uri="{FF2B5EF4-FFF2-40B4-BE49-F238E27FC236}">
                <a16:creationId xmlns:a16="http://schemas.microsoft.com/office/drawing/2014/main" id="{AEDBA796-BC23-4497-83E9-8C3252A49B37}"/>
              </a:ext>
            </a:extLst>
          </p:cNvPr>
          <p:cNvSpPr>
            <a:spLocks xmlns:a="http://schemas.openxmlformats.org/drawingml/2006/main" noGrp="1"/>
          </p:cNvSpPr>
          <p:nvPr/>
        </p:nvSpPr>
        <p:spPr>
          <a:xfrm xmlns:a="http://schemas.openxmlformats.org/drawingml/2006/main">
            <a:off x="713232" y="3950208"/>
            <a:ext cx="6766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350">
                <a:solidFill>
                  <a:srgbClr val="6E6A88"/>
                </a:solidFill>
                <a:latin typeface="Calibri"/>
                <a:ea typeface="Calibri"/>
                <a:cs typeface="Calibri"/>
              </a:rPr>
              <a:t>Évaluer si un modèle de Machine Learning peut améliorer la prévision du chiffre d’affaires par rapport à une méthode financière simple, robuste et explicable.</a:t>
            </a:r>
            <a:endParaRPr sz="1350"/>
          </a:p>
        </p:txBody>
      </p:sp>
      <p:sp>
        <p:nvSpPr>
          <p:cNvPr id="5" name="Shape 3">
            <a:extLst xmlns:a="http://schemas.openxmlformats.org/drawingml/2006/main">
              <a:ext uri="{FF2B5EF4-FFF2-40B4-BE49-F238E27FC236}">
                <a16:creationId xmlns:a16="http://schemas.microsoft.com/office/drawing/2014/main" id="{915E8FA3-D190-4296-B436-5D56EF3F2122}"/>
              </a:ext>
            </a:extLst>
          </p:cNvPr>
          <p:cNvSpPr>
            <a:spLocks xmlns:a="http://schemas.openxmlformats.org/drawingml/2006/main" noGrp="1"/>
          </p:cNvSpPr>
          <p:nvPr/>
        </p:nvSpPr>
        <p:spPr>
          <a:xfrm xmlns:a="http://schemas.openxmlformats.org/drawingml/2006/main">
            <a:off x="8732520" y="1975104"/>
            <a:ext cx="109728" cy="109728"/>
          </a:xfrm>
          <a:prstGeom xmlns:a="http://schemas.openxmlformats.org/drawingml/2006/main" prst="ellipse">
            <a:avLst/>
          </a:prstGeom>
          <a:solidFill xmlns:a="http://schemas.openxmlformats.org/drawingml/2006/main">
            <a:srgbClr val="6B46C7"/>
          </a:solidFill>
        </p:spPr>
      </p:sp>
      <p:sp>
        <p:nvSpPr>
          <p:cNvPr id="6" name="Text 4">
            <a:extLst xmlns:a="http://schemas.openxmlformats.org/drawingml/2006/main">
              <a:ext uri="{FF2B5EF4-FFF2-40B4-BE49-F238E27FC236}">
                <a16:creationId xmlns:a16="http://schemas.microsoft.com/office/drawing/2014/main" id="{9CB2B23C-99D6-4904-AB93-5A36489C21A0}"/>
              </a:ext>
            </a:extLst>
          </p:cNvPr>
          <p:cNvSpPr>
            <a:spLocks xmlns:a="http://schemas.openxmlformats.org/drawingml/2006/main" noGrp="1"/>
          </p:cNvSpPr>
          <p:nvPr/>
        </p:nvSpPr>
        <p:spPr>
          <a:xfrm xmlns:a="http://schemas.openxmlformats.org/drawingml/2006/main">
            <a:off x="9006840" y="1874520"/>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26233D"/>
                </a:solidFill>
                <a:latin typeface="Calibri"/>
                <a:ea typeface="Calibri"/>
                <a:cs typeface="Calibri"/>
              </a:rPr>
              <a:t>Cadrer le besoin de prévision financière</a:t>
            </a:r>
            <a:endParaRPr sz="1200"/>
          </a:p>
        </p:txBody>
      </p:sp>
      <p:sp>
        <p:nvSpPr>
          <p:cNvPr id="7" name="Shape 5">
            <a:extLst xmlns:a="http://schemas.openxmlformats.org/drawingml/2006/main">
              <a:ext uri="{FF2B5EF4-FFF2-40B4-BE49-F238E27FC236}">
                <a16:creationId xmlns:a16="http://schemas.microsoft.com/office/drawing/2014/main" id="{022F6E1C-5E1C-4BD9-9B98-F9C067D6D887}"/>
              </a:ext>
            </a:extLst>
          </p:cNvPr>
          <p:cNvSpPr>
            <a:spLocks xmlns:a="http://schemas.openxmlformats.org/drawingml/2006/main" noGrp="1"/>
          </p:cNvSpPr>
          <p:nvPr/>
        </p:nvSpPr>
        <p:spPr>
          <a:xfrm xmlns:a="http://schemas.openxmlformats.org/drawingml/2006/main">
            <a:off x="8732520" y="2450592"/>
            <a:ext cx="109728" cy="109728"/>
          </a:xfrm>
          <a:prstGeom xmlns:a="http://schemas.openxmlformats.org/drawingml/2006/main" prst="ellipse">
            <a:avLst/>
          </a:prstGeom>
          <a:solidFill xmlns:a="http://schemas.openxmlformats.org/drawingml/2006/main">
            <a:srgbClr val="6B46C7"/>
          </a:solidFill>
        </p:spPr>
      </p:sp>
      <p:sp>
        <p:nvSpPr>
          <p:cNvPr id="8" name="Text 6">
            <a:extLst xmlns:a="http://schemas.openxmlformats.org/drawingml/2006/main">
              <a:ext uri="{FF2B5EF4-FFF2-40B4-BE49-F238E27FC236}">
                <a16:creationId xmlns:a16="http://schemas.microsoft.com/office/drawing/2014/main" id="{D01F7141-E05E-494A-9B2C-661E12B448B5}"/>
              </a:ext>
            </a:extLst>
          </p:cNvPr>
          <p:cNvSpPr>
            <a:spLocks xmlns:a="http://schemas.openxmlformats.org/drawingml/2006/main" noGrp="1"/>
          </p:cNvSpPr>
          <p:nvPr/>
        </p:nvSpPr>
        <p:spPr>
          <a:xfrm xmlns:a="http://schemas.openxmlformats.org/drawingml/2006/main">
            <a:off x="9006840" y="2350008"/>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26233D"/>
                </a:solidFill>
                <a:latin typeface="Calibri"/>
                <a:ea typeface="Calibri"/>
                <a:cs typeface="Calibri"/>
              </a:rPr>
              <a:t>Construire une baseline de référence</a:t>
            </a:r>
            <a:endParaRPr sz="1200"/>
          </a:p>
        </p:txBody>
      </p:sp>
      <p:sp>
        <p:nvSpPr>
          <p:cNvPr id="9" name="Shape 7">
            <a:extLst xmlns:a="http://schemas.openxmlformats.org/drawingml/2006/main">
              <a:ext uri="{FF2B5EF4-FFF2-40B4-BE49-F238E27FC236}">
                <a16:creationId xmlns:a16="http://schemas.microsoft.com/office/drawing/2014/main" id="{203B18EF-961A-4A0A-BE59-10706AAC8AD3}"/>
              </a:ext>
            </a:extLst>
          </p:cNvPr>
          <p:cNvSpPr>
            <a:spLocks xmlns:a="http://schemas.openxmlformats.org/drawingml/2006/main" noGrp="1"/>
          </p:cNvSpPr>
          <p:nvPr/>
        </p:nvSpPr>
        <p:spPr>
          <a:xfrm xmlns:a="http://schemas.openxmlformats.org/drawingml/2006/main">
            <a:off x="8732520" y="2926080"/>
            <a:ext cx="109728" cy="109728"/>
          </a:xfrm>
          <a:prstGeom xmlns:a="http://schemas.openxmlformats.org/drawingml/2006/main" prst="ellipse">
            <a:avLst/>
          </a:prstGeom>
          <a:solidFill xmlns:a="http://schemas.openxmlformats.org/drawingml/2006/main">
            <a:srgbClr val="6B46C7"/>
          </a:solidFill>
        </p:spPr>
      </p:sp>
      <p:sp>
        <p:nvSpPr>
          <p:cNvPr id="10" name="Text 8">
            <a:extLst xmlns:a="http://schemas.openxmlformats.org/drawingml/2006/main">
              <a:ext uri="{FF2B5EF4-FFF2-40B4-BE49-F238E27FC236}">
                <a16:creationId xmlns:a16="http://schemas.microsoft.com/office/drawing/2014/main" id="{0DF63CB3-1B8A-489A-BB74-E279F9ABA790}"/>
              </a:ext>
            </a:extLst>
          </p:cNvPr>
          <p:cNvSpPr>
            <a:spLocks xmlns:a="http://schemas.openxmlformats.org/drawingml/2006/main" noGrp="1"/>
          </p:cNvSpPr>
          <p:nvPr/>
        </p:nvSpPr>
        <p:spPr>
          <a:xfrm xmlns:a="http://schemas.openxmlformats.org/drawingml/2006/main">
            <a:off x="9006840" y="2825496"/>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26233D"/>
                </a:solidFill>
                <a:latin typeface="Calibri"/>
                <a:ea typeface="Calibri"/>
                <a:cs typeface="Calibri"/>
              </a:rPr>
              <a:t>Contrôler et préparer les données</a:t>
            </a:r>
            <a:endParaRPr sz="1200"/>
          </a:p>
        </p:txBody>
      </p:sp>
      <p:sp>
        <p:nvSpPr>
          <p:cNvPr id="11" name="Shape 9">
            <a:extLst xmlns:a="http://schemas.openxmlformats.org/drawingml/2006/main">
              <a:ext uri="{FF2B5EF4-FFF2-40B4-BE49-F238E27FC236}">
                <a16:creationId xmlns:a16="http://schemas.microsoft.com/office/drawing/2014/main" id="{BAAD689D-DCEA-4805-AE6D-4229FF2302CC}"/>
              </a:ext>
            </a:extLst>
          </p:cNvPr>
          <p:cNvSpPr>
            <a:spLocks xmlns:a="http://schemas.openxmlformats.org/drawingml/2006/main" noGrp="1"/>
          </p:cNvSpPr>
          <p:nvPr/>
        </p:nvSpPr>
        <p:spPr>
          <a:xfrm xmlns:a="http://schemas.openxmlformats.org/drawingml/2006/main">
            <a:off x="8732520" y="3401568"/>
            <a:ext cx="109728" cy="109728"/>
          </a:xfrm>
          <a:prstGeom xmlns:a="http://schemas.openxmlformats.org/drawingml/2006/main" prst="ellipse">
            <a:avLst/>
          </a:prstGeom>
          <a:solidFill xmlns:a="http://schemas.openxmlformats.org/drawingml/2006/main">
            <a:srgbClr val="6B46C7"/>
          </a:solidFill>
        </p:spPr>
      </p:sp>
      <p:sp>
        <p:nvSpPr>
          <p:cNvPr id="12" name="Text 10">
            <a:extLst xmlns:a="http://schemas.openxmlformats.org/drawingml/2006/main">
              <a:ext uri="{FF2B5EF4-FFF2-40B4-BE49-F238E27FC236}">
                <a16:creationId xmlns:a16="http://schemas.microsoft.com/office/drawing/2014/main" id="{205802E0-689C-43CA-A139-A5DDBEBAA5B1}"/>
              </a:ext>
            </a:extLst>
          </p:cNvPr>
          <p:cNvSpPr>
            <a:spLocks xmlns:a="http://schemas.openxmlformats.org/drawingml/2006/main" noGrp="1"/>
          </p:cNvSpPr>
          <p:nvPr/>
        </p:nvSpPr>
        <p:spPr>
          <a:xfrm xmlns:a="http://schemas.openxmlformats.org/drawingml/2006/main">
            <a:off x="9006840" y="3300984"/>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26233D"/>
                </a:solidFill>
                <a:latin typeface="Calibri"/>
                <a:ea typeface="Calibri"/>
                <a:cs typeface="Calibri"/>
              </a:rPr>
              <a:t>Comparer les modèles par backtesting temporel</a:t>
            </a:r>
            <a:endParaRPr sz="1200"/>
          </a:p>
        </p:txBody>
      </p:sp>
      <p:sp>
        <p:nvSpPr>
          <p:cNvPr id="13" name="!!footer_label">
            <a:extLst xmlns:a="http://schemas.openxmlformats.org/drawingml/2006/main">
              <a:ext uri="{FF2B5EF4-FFF2-40B4-BE49-F238E27FC236}">
                <a16:creationId xmlns:a16="http://schemas.microsoft.com/office/drawing/2014/main" id="{29CA0141-8C6C-4EC9-8768-80060A09E749}"/>
              </a:ext>
            </a:extLst>
          </p:cNvPr>
          <p:cNvSpPr>
            <a:spLocks xmlns:a="http://schemas.openxmlformats.org/drawingml/2006/main" noGrp="1"/>
          </p:cNvSpPr>
          <p:nvPr/>
        </p:nvSpPr>
        <p:spPr>
          <a:xfrm xmlns:a="http://schemas.openxmlformats.org/drawingml/2006/main">
            <a:off x="713232" y="6345936"/>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endParaRPr sz="900"/>
          </a:p>
        </p:txBody>
      </p:sp>
      <p:sp>
        <p:nvSpPr>
          <p:cNvPr id="14" name="!!footer_page">
            <a:extLst xmlns:a="http://schemas.openxmlformats.org/drawingml/2006/main">
              <a:ext uri="{FF2B5EF4-FFF2-40B4-BE49-F238E27FC236}">
                <a16:creationId xmlns:a16="http://schemas.microsoft.com/office/drawing/2014/main" id="{0E116D58-82D1-4EE2-A2A7-926B856F72FE}"/>
              </a:ext>
            </a:extLst>
          </p:cNvPr>
          <p:cNvSpPr>
            <a:spLocks xmlns:a="http://schemas.openxmlformats.org/drawingml/2006/main" noGrp="1"/>
          </p:cNvSpPr>
          <p:nvPr/>
        </p:nvSpPr>
        <p:spPr>
          <a:xfrm xmlns:a="http://schemas.openxmlformats.org/drawingml/2006/main">
            <a:off x="10972800" y="6345936"/>
            <a:ext cx="502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b="1">
                <a:solidFill>
                  <a:srgbClr val="6B46C7"/>
                </a:solidFill>
                <a:latin typeface="Calibri"/>
                <a:ea typeface="Calibri"/>
                <a:cs typeface="Calibri"/>
              </a:rPr>
              <a:t>6</a:t>
            </a:r>
            <a:endParaRPr sz="950"/>
          </a:p>
        </p:txBody>
      </p:sp>
      <p:sp>
        <p:nvSpPr>
          <p:cNvPr id="30" name="Shape 11">
            <a:extLst xmlns:a="http://schemas.openxmlformats.org/drawingml/2006/main">
              <a:ext uri="{FF2B5EF4-FFF2-40B4-BE49-F238E27FC236}">
                <a16:creationId xmlns:a16="http://schemas.microsoft.com/office/drawing/2014/main" id="{8859108D-AE63-4B54-984E-6A3A4FEA9B37}"/>
              </a:ext>
            </a:extLst>
          </p:cNvPr>
          <p:cNvSpPr>
            <a:spLocks xmlns:a="http://schemas.openxmlformats.org/drawingml/2006/main" noGrp="1"/>
          </p:cNvSpPr>
          <p:nvPr/>
        </p:nvSpPr>
        <p:spPr>
          <a:xfrm xmlns:a="http://schemas.openxmlformats.org/drawingml/2006/main">
            <a:off x="8732520" y="3877056"/>
            <a:ext cx="109728" cy="109728"/>
          </a:xfrm>
          <a:prstGeom xmlns:a="http://schemas.openxmlformats.org/drawingml/2006/main" prst="ellipse">
            <a:avLst/>
          </a:prstGeom>
          <a:solidFill xmlns:a="http://schemas.openxmlformats.org/drawingml/2006/main">
            <a:srgbClr val="6B46C7"/>
          </a:solidFill>
        </p:spPr>
      </p:sp>
      <p:sp>
        <p:nvSpPr>
          <p:cNvPr id="31" name="Text 12">
            <a:extLst xmlns:a="http://schemas.openxmlformats.org/drawingml/2006/main">
              <a:ext uri="{FF2B5EF4-FFF2-40B4-BE49-F238E27FC236}">
                <a16:creationId xmlns:a16="http://schemas.microsoft.com/office/drawing/2014/main" id="{136E07FF-2911-4674-AD66-BB689D3FD58B}"/>
              </a:ext>
            </a:extLst>
          </p:cNvPr>
          <p:cNvSpPr>
            <a:spLocks xmlns:a="http://schemas.openxmlformats.org/drawingml/2006/main" noGrp="1"/>
          </p:cNvSpPr>
          <p:nvPr/>
        </p:nvSpPr>
        <p:spPr>
          <a:xfrm xmlns:a="http://schemas.openxmlformats.org/drawingml/2006/main">
            <a:off x="9006840" y="3776472"/>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26233D"/>
                </a:solidFill>
                <a:latin typeface="Calibri"/>
                <a:ea typeface="Calibri"/>
                <a:cs typeface="Calibri"/>
              </a:rPr>
              <a:t>Traduire les résultats en recommandation</a:t>
            </a:r>
            <a:endParaRPr sz="1200"/>
          </a:p>
        </p:txBody>
      </p:sp>
      <p:sp>
        <p:nvSpPr>
          <p:cNvPr id="32" name="Text 13">
            <a:extLst xmlns:a="http://schemas.openxmlformats.org/drawingml/2006/main">
              <a:ext uri="{FF2B5EF4-FFF2-40B4-BE49-F238E27FC236}">
                <a16:creationId xmlns:a16="http://schemas.microsoft.com/office/drawing/2014/main" id="{F727A38B-6E9C-4D8B-B8CF-A48F7B56054F}"/>
              </a:ext>
            </a:extLst>
          </p:cNvPr>
          <p:cNvSpPr>
            <a:spLocks xmlns:a="http://schemas.openxmlformats.org/drawingml/2006/main" noGrp="1"/>
          </p:cNvSpPr>
          <p:nvPr/>
        </p:nvSpPr>
        <p:spPr>
          <a:xfrm xmlns:a="http://schemas.openxmlformats.org/drawingml/2006/main">
            <a:off x="9006840" y="1508760"/>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180" b="1">
                <a:solidFill>
                  <a:srgbClr val="6B46C7"/>
                </a:solidFill>
                <a:latin typeface="Calibri"/>
                <a:ea typeface="Calibri"/>
                <a:cs typeface="Calibri"/>
              </a:rPr>
              <a:t>MA DÉMARCHE EN CINQ ÉTAPES</a:t>
            </a:r>
            <a:endParaRPr sz="900"/>
          </a:p>
        </p:txBody>
      </p:sp>
      <p:sp>
        <p:nvSpPr>
          <p:cNvPr id="33" name="Text 14">
            <a:extLst xmlns:a="http://schemas.openxmlformats.org/drawingml/2006/main">
              <a:ext uri="{FF2B5EF4-FFF2-40B4-BE49-F238E27FC236}">
                <a16:creationId xmlns:a16="http://schemas.microsoft.com/office/drawing/2014/main" id="{D0AEDF20-0F28-4AEF-BEF7-740149EC8A66}"/>
              </a:ext>
            </a:extLst>
          </p:cNvPr>
          <p:cNvSpPr>
            <a:spLocks xmlns:a="http://schemas.openxmlformats.org/drawingml/2006/main" noGrp="1"/>
          </p:cNvSpPr>
          <p:nvPr/>
        </p:nvSpPr>
        <p:spPr>
          <a:xfrm xmlns:a="http://schemas.openxmlformats.org/drawingml/2006/main">
            <a:off x="713232" y="4681728"/>
            <a:ext cx="6766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50" b="1">
                <a:solidFill>
                  <a:srgbClr val="4B2FA0"/>
                </a:solidFill>
                <a:latin typeface="Calibri"/>
                <a:ea typeface="Calibri"/>
                <a:cs typeface="Calibri"/>
              </a:rPr>
              <a:t>Privilégier la robustesse décisionnelle à la complexité algorithmique.</a:t>
            </a:r>
            <a:endParaRPr sz="1250"/>
          </a:p>
        </p:txBody>
      </p:sp>
    </p:spTree>
    <p:extLst>
      <p:ext uri="{BB962C8B-B14F-4D97-AF65-F5344CB8AC3E}">
        <p14:creationId xmlns:p14="http://schemas.microsoft.com/office/powerpoint/2010/main" val="1252097111"/>
      </p:ext>
    </p:extLst>
  </p:cSld>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eyebrow">
            <a:extLst xmlns:a="http://schemas.openxmlformats.org/drawingml/2006/main">
              <a:ext uri="{FF2B5EF4-FFF2-40B4-BE49-F238E27FC236}">
                <a16:creationId xmlns:a16="http://schemas.microsoft.com/office/drawing/2014/main" id="{EB7C7080-CAA1-4A06-9E48-9F0C4BA3E447}"/>
              </a:ext>
            </a:extLst>
          </p:cNvPr>
          <p:cNvSpPr>
            <a:spLocks xmlns:a="http://schemas.openxmlformats.org/drawingml/2006/main" noGrp="1"/>
          </p:cNvSpPr>
          <p:nvPr/>
        </p:nvSpPr>
        <p:spPr>
          <a:xfrm xmlns:a="http://schemas.openxmlformats.org/drawingml/2006/main">
            <a:off x="713232" y="384048"/>
            <a:ext cx="10789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220">
                <a:solidFill>
                  <a:srgbClr val="6B46C7"/>
                </a:solidFill>
                <a:latin typeface="Calibri"/>
                <a:ea typeface="Calibri"/>
                <a:cs typeface="Calibri"/>
              </a:rPr>
              <a:t>DÉMARCHE</a:t>
            </a:r>
            <a:endParaRPr sz="1000"/>
          </a:p>
        </p:txBody>
      </p:sp>
      <p:sp>
        <p:nvSpPr>
          <p:cNvPr id="3" name="!!title">
            <a:extLst xmlns:a="http://schemas.openxmlformats.org/drawingml/2006/main">
              <a:ext uri="{FF2B5EF4-FFF2-40B4-BE49-F238E27FC236}">
                <a16:creationId xmlns:a16="http://schemas.microsoft.com/office/drawing/2014/main" id="{C4E950B7-BB4B-475C-A125-B4A3D1ECE5A8}"/>
              </a:ext>
            </a:extLst>
          </p:cNvPr>
          <p:cNvSpPr>
            <a:spLocks xmlns:a="http://schemas.openxmlformats.org/drawingml/2006/main" noGrp="1"/>
          </p:cNvSpPr>
          <p:nvPr/>
        </p:nvSpPr>
        <p:spPr>
          <a:xfrm xmlns:a="http://schemas.openxmlformats.org/drawingml/2006/main">
            <a:off x="713232" y="621792"/>
            <a:ext cx="10515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41230"/>
                </a:solidFill>
                <a:latin typeface="Cambria"/>
                <a:ea typeface="Cambria"/>
                <a:cs typeface="Cambria"/>
              </a:rPr>
              <a:t>De la donnée brute à la décision financière</a:t>
            </a:r>
            <a:endParaRPr sz="2700"/>
          </a:p>
        </p:txBody>
      </p:sp>
      <p:sp>
        <p:nvSpPr>
          <p:cNvPr id="4" name="!!subtitle">
            <a:extLst xmlns:a="http://schemas.openxmlformats.org/drawingml/2006/main">
              <a:ext uri="{FF2B5EF4-FFF2-40B4-BE49-F238E27FC236}">
                <a16:creationId xmlns:a16="http://schemas.microsoft.com/office/drawing/2014/main" id="{115C7016-BB4B-4E87-89DE-65F4CE112FB8}"/>
              </a:ext>
            </a:extLst>
          </p:cNvPr>
          <p:cNvSpPr>
            <a:spLocks xmlns:a="http://schemas.openxmlformats.org/drawingml/2006/main" noGrp="1"/>
          </p:cNvSpPr>
          <p:nvPr/>
        </p:nvSpPr>
        <p:spPr>
          <a:xfrm xmlns:a="http://schemas.openxmlformats.org/drawingml/2006/main">
            <a:off x="713232" y="1188720"/>
            <a:ext cx="96926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300">
                <a:solidFill>
                  <a:srgbClr val="6E6A88"/>
                </a:solidFill>
                <a:latin typeface="Calibri"/>
                <a:ea typeface="Calibri"/>
                <a:cs typeface="Calibri"/>
              </a:rPr>
              <a:t>Chaque maillon produit un livrable vérifiable, et le pipeline est protégé de bout en bout contre la fuite d'information.</a:t>
            </a:r>
            <a:endParaRPr sz="1300"/>
          </a:p>
        </p:txBody>
      </p:sp>
      <p:sp>
        <p:nvSpPr>
          <p:cNvPr id="5" name="Shape 3">
            <a:extLst xmlns:a="http://schemas.openxmlformats.org/drawingml/2006/main">
              <a:ext uri="{FF2B5EF4-FFF2-40B4-BE49-F238E27FC236}">
                <a16:creationId xmlns:a16="http://schemas.microsoft.com/office/drawing/2014/main" id="{1297B97F-F9CF-473F-AA45-868C8964B687}"/>
              </a:ext>
            </a:extLst>
          </p:cNvPr>
          <p:cNvSpPr>
            <a:spLocks xmlns:a="http://schemas.openxmlformats.org/drawingml/2006/main" noGrp="1"/>
          </p:cNvSpPr>
          <p:nvPr/>
        </p:nvSpPr>
        <p:spPr>
          <a:xfrm xmlns:a="http://schemas.openxmlformats.org/drawingml/2006/main">
            <a:off x="713232" y="1783080"/>
            <a:ext cx="1691640" cy="178308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E2DEF0"/>
            </a:solidFill>
            <a:prstDash val="solid"/>
          </a:ln>
          <a:effectLst xmlns:a="http://schemas.openxmlformats.org/drawingml/2006/main">
            <a:outerShdw blurRad="203200" dist="38100" dir="5400000" sx="100000" sy="100000" kx="0" ky="0" algn="bl" rotWithShape="0">
              <a:srgbClr val="3C2E7A">
                <a:alpha val="10000"/>
              </a:srgbClr>
            </a:outerShdw>
          </a:effectLst>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1203022-62F7-475D-9951-9A2ED3C5B6C1}"/>
              </a:ext>
            </a:extLst>
          </p:cNvPr>
          <p:cNvSpPr>
            <a:spLocks xmlns:a="http://schemas.openxmlformats.org/drawingml/2006/main" noGrp="1"/>
          </p:cNvSpPr>
          <p:nvPr/>
        </p:nvSpPr>
        <p:spPr>
          <a:xfrm xmlns:a="http://schemas.openxmlformats.org/drawingml/2006/main">
            <a:off x="914400" y="1947672"/>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20">
                <a:solidFill>
                  <a:srgbClr val="A78BFA"/>
                </a:solidFill>
                <a:latin typeface="Calibri"/>
                <a:ea typeface="Calibri"/>
                <a:cs typeface="Calibri"/>
              </a:rPr>
              <a:t>01</a:t>
            </a:r>
            <a:endParaRPr sz="1000"/>
          </a:p>
        </p:txBody>
      </p:sp>
      <p:sp>
        <p:nvSpPr>
          <p:cNvPr id="7" name="Text 5">
            <a:extLst xmlns:a="http://schemas.openxmlformats.org/drawingml/2006/main">
              <a:ext uri="{FF2B5EF4-FFF2-40B4-BE49-F238E27FC236}">
                <a16:creationId xmlns:a16="http://schemas.microsoft.com/office/drawing/2014/main" id="{92792832-30CB-4819-901A-28B0B7CA876B}"/>
              </a:ext>
            </a:extLst>
          </p:cNvPr>
          <p:cNvSpPr>
            <a:spLocks xmlns:a="http://schemas.openxmlformats.org/drawingml/2006/main" noGrp="1"/>
          </p:cNvSpPr>
          <p:nvPr/>
        </p:nvSpPr>
        <p:spPr>
          <a:xfrm xmlns:a="http://schemas.openxmlformats.org/drawingml/2006/main">
            <a:off x="914400" y="2267712"/>
            <a:ext cx="128930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300" b="1">
                <a:solidFill>
                  <a:srgbClr val="141230"/>
                </a:solidFill>
                <a:latin typeface="Cambria"/>
                <a:ea typeface="Cambria"/>
                <a:cs typeface="Cambria"/>
              </a:rPr>
              <a:t>Données brutes</a:t>
            </a:r>
            <a:endParaRPr sz="1300"/>
          </a:p>
        </p:txBody>
      </p:sp>
      <p:sp>
        <p:nvSpPr>
          <p:cNvPr id="8" name="Text 6">
            <a:extLst xmlns:a="http://schemas.openxmlformats.org/drawingml/2006/main">
              <a:ext uri="{FF2B5EF4-FFF2-40B4-BE49-F238E27FC236}">
                <a16:creationId xmlns:a16="http://schemas.microsoft.com/office/drawing/2014/main" id="{8FA18DE4-8D7F-46C7-BEF2-EE888FA4FE25}"/>
              </a:ext>
            </a:extLst>
          </p:cNvPr>
          <p:cNvSpPr>
            <a:spLocks xmlns:a="http://schemas.openxmlformats.org/drawingml/2006/main" noGrp="1"/>
          </p:cNvSpPr>
          <p:nvPr/>
        </p:nvSpPr>
        <p:spPr>
          <a:xfrm xmlns:a="http://schemas.openxmlformats.org/drawingml/2006/main">
            <a:off x="914400" y="2834640"/>
            <a:ext cx="1289304"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00">
                <a:solidFill>
                  <a:srgbClr val="6E6A88"/>
                </a:solidFill>
                <a:latin typeface="Calibri"/>
                <a:ea typeface="Calibri"/>
                <a:cs typeface="Calibri"/>
              </a:rPr>
              <a:t>Grand livre des ventes</a:t>
            </a:r>
            <a:endParaRPr sz="1000"/>
          </a:p>
        </p:txBody>
      </p:sp>
      <p:sp>
        <p:nvSpPr>
          <p:cNvPr id="9" name="Text 7">
            <a:extLst xmlns:a="http://schemas.openxmlformats.org/drawingml/2006/main">
              <a:ext uri="{FF2B5EF4-FFF2-40B4-BE49-F238E27FC236}">
                <a16:creationId xmlns:a16="http://schemas.microsoft.com/office/drawing/2014/main" id="{2D76C784-097F-4619-B678-24618E96AA2C}"/>
              </a:ext>
            </a:extLst>
          </p:cNvPr>
          <p:cNvSpPr>
            <a:spLocks xmlns:a="http://schemas.openxmlformats.org/drawingml/2006/main" noGrp="1"/>
          </p:cNvSpPr>
          <p:nvPr/>
        </p:nvSpPr>
        <p:spPr>
          <a:xfrm xmlns:a="http://schemas.openxmlformats.org/drawingml/2006/main">
            <a:off x="2404872" y="1783080"/>
            <a:ext cx="128016" cy="1783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A78BFA"/>
                </a:solidFill>
                <a:latin typeface="Calibri"/>
                <a:ea typeface="Calibri"/>
                <a:cs typeface="Calibri"/>
              </a:rPr>
              <a:t>›</a:t>
            </a:r>
            <a:endParaRPr sz="1500"/>
          </a:p>
        </p:txBody>
      </p:sp>
      <p:sp>
        <p:nvSpPr>
          <p:cNvPr id="10" name="Shape 8">
            <a:extLst xmlns:a="http://schemas.openxmlformats.org/drawingml/2006/main">
              <a:ext uri="{FF2B5EF4-FFF2-40B4-BE49-F238E27FC236}">
                <a16:creationId xmlns:a16="http://schemas.microsoft.com/office/drawing/2014/main" id="{2FED7FD2-386D-4CB9-BB40-6F447BA5CAAF}"/>
              </a:ext>
            </a:extLst>
          </p:cNvPr>
          <p:cNvSpPr>
            <a:spLocks xmlns:a="http://schemas.openxmlformats.org/drawingml/2006/main" noGrp="1"/>
          </p:cNvSpPr>
          <p:nvPr/>
        </p:nvSpPr>
        <p:spPr>
          <a:xfrm xmlns:a="http://schemas.openxmlformats.org/drawingml/2006/main">
            <a:off x="2532888" y="1783080"/>
            <a:ext cx="1691640" cy="178308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E2DEF0"/>
            </a:solidFill>
            <a:prstDash val="solid"/>
          </a:ln>
          <a:effectLst xmlns:a="http://schemas.openxmlformats.org/drawingml/2006/main">
            <a:outerShdw blurRad="203200" dist="38100" dir="5400000" sx="100000" sy="100000" kx="0" ky="0" algn="bl" rotWithShape="0">
              <a:srgbClr val="3C2E7A">
                <a:alpha val="10000"/>
              </a:srgbClr>
            </a:outerShdw>
          </a:effectLst>
        </p:spPr>
      </p:sp>
      <p:sp>
        <p:nvSpPr>
          <p:cNvPr id="11" name="Text 9">
            <a:extLst xmlns:a="http://schemas.openxmlformats.org/drawingml/2006/main">
              <a:ext uri="{FF2B5EF4-FFF2-40B4-BE49-F238E27FC236}">
                <a16:creationId xmlns:a16="http://schemas.microsoft.com/office/drawing/2014/main" id="{30D704B2-8078-440C-B8CC-D8CBCB064DF7}"/>
              </a:ext>
            </a:extLst>
          </p:cNvPr>
          <p:cNvSpPr>
            <a:spLocks xmlns:a="http://schemas.openxmlformats.org/drawingml/2006/main" noGrp="1"/>
          </p:cNvSpPr>
          <p:nvPr/>
        </p:nvSpPr>
        <p:spPr>
          <a:xfrm xmlns:a="http://schemas.openxmlformats.org/drawingml/2006/main">
            <a:off x="2734056" y="1947672"/>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20">
                <a:solidFill>
                  <a:srgbClr val="A78BFA"/>
                </a:solidFill>
                <a:latin typeface="Calibri"/>
                <a:ea typeface="Calibri"/>
                <a:cs typeface="Calibri"/>
              </a:rPr>
              <a:t>02</a:t>
            </a:r>
            <a:endParaRPr sz="1000"/>
          </a:p>
        </p:txBody>
      </p:sp>
      <p:sp>
        <p:nvSpPr>
          <p:cNvPr id="12" name="Text 10">
            <a:extLst xmlns:a="http://schemas.openxmlformats.org/drawingml/2006/main">
              <a:ext uri="{FF2B5EF4-FFF2-40B4-BE49-F238E27FC236}">
                <a16:creationId xmlns:a16="http://schemas.microsoft.com/office/drawing/2014/main" id="{B4C51862-E163-4DCE-B1C6-46E1484F717C}"/>
              </a:ext>
            </a:extLst>
          </p:cNvPr>
          <p:cNvSpPr>
            <a:spLocks xmlns:a="http://schemas.openxmlformats.org/drawingml/2006/main" noGrp="1"/>
          </p:cNvSpPr>
          <p:nvPr/>
        </p:nvSpPr>
        <p:spPr>
          <a:xfrm xmlns:a="http://schemas.openxmlformats.org/drawingml/2006/main">
            <a:off x="2734056" y="2267712"/>
            <a:ext cx="128930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300" b="1">
                <a:solidFill>
                  <a:srgbClr val="141230"/>
                </a:solidFill>
                <a:latin typeface="Cambria"/>
                <a:ea typeface="Cambria"/>
                <a:cs typeface="Cambria"/>
              </a:rPr>
              <a:t>Base analytique</a:t>
            </a:r>
            <a:endParaRPr sz="1300"/>
          </a:p>
        </p:txBody>
      </p:sp>
      <p:sp>
        <p:nvSpPr>
          <p:cNvPr id="13" name="Text 11">
            <a:extLst xmlns:a="http://schemas.openxmlformats.org/drawingml/2006/main">
              <a:ext uri="{FF2B5EF4-FFF2-40B4-BE49-F238E27FC236}">
                <a16:creationId xmlns:a16="http://schemas.microsoft.com/office/drawing/2014/main" id="{8617C56C-0DD9-4166-BDC9-89F9FFEC7514}"/>
              </a:ext>
            </a:extLst>
          </p:cNvPr>
          <p:cNvSpPr>
            <a:spLocks xmlns:a="http://schemas.openxmlformats.org/drawingml/2006/main" noGrp="1"/>
          </p:cNvSpPr>
          <p:nvPr/>
        </p:nvSpPr>
        <p:spPr>
          <a:xfrm xmlns:a="http://schemas.openxmlformats.org/drawingml/2006/main">
            <a:off x="2734056" y="2834640"/>
            <a:ext cx="1289304"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00">
                <a:solidFill>
                  <a:srgbClr val="6E6A88"/>
                </a:solidFill>
                <a:latin typeface="Calibri"/>
                <a:ea typeface="Calibri"/>
                <a:cs typeface="Calibri"/>
              </a:rPr>
              <a:t>Six contrôles — 25 sections × 12 mois</a:t>
            </a:r>
            <a:endParaRPr sz="1000"/>
          </a:p>
        </p:txBody>
      </p:sp>
      <p:sp>
        <p:nvSpPr>
          <p:cNvPr id="14" name="Text 12">
            <a:extLst xmlns:a="http://schemas.openxmlformats.org/drawingml/2006/main">
              <a:ext uri="{FF2B5EF4-FFF2-40B4-BE49-F238E27FC236}">
                <a16:creationId xmlns:a16="http://schemas.microsoft.com/office/drawing/2014/main" id="{CE44E7F9-9BB3-455A-BA7C-58810059439C}"/>
              </a:ext>
            </a:extLst>
          </p:cNvPr>
          <p:cNvSpPr>
            <a:spLocks xmlns:a="http://schemas.openxmlformats.org/drawingml/2006/main" noGrp="1"/>
          </p:cNvSpPr>
          <p:nvPr/>
        </p:nvSpPr>
        <p:spPr>
          <a:xfrm xmlns:a="http://schemas.openxmlformats.org/drawingml/2006/main">
            <a:off x="4224528" y="1783080"/>
            <a:ext cx="128016" cy="1783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A78BFA"/>
                </a:solidFill>
                <a:latin typeface="Calibri"/>
                <a:ea typeface="Calibri"/>
                <a:cs typeface="Calibri"/>
              </a:rPr>
              <a:t>›</a:t>
            </a:r>
            <a:endParaRPr sz="1500"/>
          </a:p>
        </p:txBody>
      </p:sp>
      <p:sp>
        <p:nvSpPr>
          <p:cNvPr id="15" name="Shape 13">
            <a:extLst xmlns:a="http://schemas.openxmlformats.org/drawingml/2006/main">
              <a:ext uri="{FF2B5EF4-FFF2-40B4-BE49-F238E27FC236}">
                <a16:creationId xmlns:a16="http://schemas.microsoft.com/office/drawing/2014/main" id="{3C27144B-39B5-4BD6-8E37-D7F4F658D58A}"/>
              </a:ext>
            </a:extLst>
          </p:cNvPr>
          <p:cNvSpPr>
            <a:spLocks xmlns:a="http://schemas.openxmlformats.org/drawingml/2006/main" noGrp="1"/>
          </p:cNvSpPr>
          <p:nvPr/>
        </p:nvSpPr>
        <p:spPr>
          <a:xfrm xmlns:a="http://schemas.openxmlformats.org/drawingml/2006/main">
            <a:off x="4352544" y="1783080"/>
            <a:ext cx="1691640" cy="178308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E2DEF0"/>
            </a:solidFill>
            <a:prstDash val="solid"/>
          </a:ln>
          <a:effectLst xmlns:a="http://schemas.openxmlformats.org/drawingml/2006/main">
            <a:outerShdw blurRad="203200" dist="38100" dir="5400000" sx="100000" sy="100000" kx="0" ky="0" algn="bl" rotWithShape="0">
              <a:srgbClr val="3C2E7A">
                <a:alpha val="10000"/>
              </a:srgbClr>
            </a:outerShdw>
          </a:effectLst>
        </p:spPr>
      </p:sp>
      <p:sp>
        <p:nvSpPr>
          <p:cNvPr id="16" name="Text 14">
            <a:extLst xmlns:a="http://schemas.openxmlformats.org/drawingml/2006/main">
              <a:ext uri="{FF2B5EF4-FFF2-40B4-BE49-F238E27FC236}">
                <a16:creationId xmlns:a16="http://schemas.microsoft.com/office/drawing/2014/main" id="{D1E3DAEF-01F1-42E3-A4C5-7D4D4D18B75E}"/>
              </a:ext>
            </a:extLst>
          </p:cNvPr>
          <p:cNvSpPr>
            <a:spLocks xmlns:a="http://schemas.openxmlformats.org/drawingml/2006/main" noGrp="1"/>
          </p:cNvSpPr>
          <p:nvPr/>
        </p:nvSpPr>
        <p:spPr>
          <a:xfrm xmlns:a="http://schemas.openxmlformats.org/drawingml/2006/main">
            <a:off x="4553712" y="1947672"/>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20">
                <a:solidFill>
                  <a:srgbClr val="A78BFA"/>
                </a:solidFill>
                <a:latin typeface="Calibri"/>
                <a:ea typeface="Calibri"/>
                <a:cs typeface="Calibri"/>
              </a:rPr>
              <a:t>03</a:t>
            </a:r>
            <a:endParaRPr sz="1000"/>
          </a:p>
        </p:txBody>
      </p:sp>
      <p:sp>
        <p:nvSpPr>
          <p:cNvPr id="17" name="Text 15">
            <a:extLst xmlns:a="http://schemas.openxmlformats.org/drawingml/2006/main">
              <a:ext uri="{FF2B5EF4-FFF2-40B4-BE49-F238E27FC236}">
                <a16:creationId xmlns:a16="http://schemas.microsoft.com/office/drawing/2014/main" id="{D4B5B56B-A3AA-4229-A194-F3CF819456C2}"/>
              </a:ext>
            </a:extLst>
          </p:cNvPr>
          <p:cNvSpPr>
            <a:spLocks xmlns:a="http://schemas.openxmlformats.org/drawingml/2006/main" noGrp="1"/>
          </p:cNvSpPr>
          <p:nvPr/>
        </p:nvSpPr>
        <p:spPr>
          <a:xfrm xmlns:a="http://schemas.openxmlformats.org/drawingml/2006/main">
            <a:off x="4553712" y="2267712"/>
            <a:ext cx="128930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300" b="1">
                <a:solidFill>
                  <a:srgbClr val="141230"/>
                </a:solidFill>
                <a:latin typeface="Cambria"/>
                <a:ea typeface="Cambria"/>
                <a:cs typeface="Cambria"/>
              </a:rPr>
              <a:t>Analyse financière</a:t>
            </a:r>
            <a:endParaRPr sz="1300"/>
          </a:p>
        </p:txBody>
      </p:sp>
      <p:sp>
        <p:nvSpPr>
          <p:cNvPr id="18" name="Text 16">
            <a:extLst xmlns:a="http://schemas.openxmlformats.org/drawingml/2006/main">
              <a:ext uri="{FF2B5EF4-FFF2-40B4-BE49-F238E27FC236}">
                <a16:creationId xmlns:a16="http://schemas.microsoft.com/office/drawing/2014/main" id="{A3B2DA6A-F15E-4162-BE59-8845DC925CFC}"/>
              </a:ext>
            </a:extLst>
          </p:cNvPr>
          <p:cNvSpPr>
            <a:spLocks xmlns:a="http://schemas.openxmlformats.org/drawingml/2006/main" noGrp="1"/>
          </p:cNvSpPr>
          <p:nvPr/>
        </p:nvSpPr>
        <p:spPr>
          <a:xfrm xmlns:a="http://schemas.openxmlformats.org/drawingml/2006/main">
            <a:off x="4553712" y="2834640"/>
            <a:ext cx="1289304"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00">
                <a:solidFill>
                  <a:srgbClr val="6E6A88"/>
                </a:solidFill>
                <a:latin typeface="Calibri"/>
                <a:ea typeface="Calibri"/>
                <a:cs typeface="Calibri"/>
              </a:rPr>
              <a:t>Croissance, concentration, volatilité</a:t>
            </a:r>
            <a:endParaRPr sz="1000"/>
          </a:p>
        </p:txBody>
      </p:sp>
      <p:sp>
        <p:nvSpPr>
          <p:cNvPr id="19" name="Text 17">
            <a:extLst xmlns:a="http://schemas.openxmlformats.org/drawingml/2006/main">
              <a:ext uri="{FF2B5EF4-FFF2-40B4-BE49-F238E27FC236}">
                <a16:creationId xmlns:a16="http://schemas.microsoft.com/office/drawing/2014/main" id="{D69638D2-27A8-4834-BFCA-0C2123DF2A29}"/>
              </a:ext>
            </a:extLst>
          </p:cNvPr>
          <p:cNvSpPr>
            <a:spLocks xmlns:a="http://schemas.openxmlformats.org/drawingml/2006/main" noGrp="1"/>
          </p:cNvSpPr>
          <p:nvPr/>
        </p:nvSpPr>
        <p:spPr>
          <a:xfrm xmlns:a="http://schemas.openxmlformats.org/drawingml/2006/main">
            <a:off x="6044184" y="1783080"/>
            <a:ext cx="128016" cy="1783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A78BFA"/>
                </a:solidFill>
                <a:latin typeface="Calibri"/>
                <a:ea typeface="Calibri"/>
                <a:cs typeface="Calibri"/>
              </a:rPr>
              <a:t>›</a:t>
            </a:r>
            <a:endParaRPr sz="1500"/>
          </a:p>
        </p:txBody>
      </p:sp>
      <p:sp>
        <p:nvSpPr>
          <p:cNvPr id="20" name="Shape 18">
            <a:extLst xmlns:a="http://schemas.openxmlformats.org/drawingml/2006/main">
              <a:ext uri="{FF2B5EF4-FFF2-40B4-BE49-F238E27FC236}">
                <a16:creationId xmlns:a16="http://schemas.microsoft.com/office/drawing/2014/main" id="{62B83896-F116-4B15-BF28-1B82780C180A}"/>
              </a:ext>
            </a:extLst>
          </p:cNvPr>
          <p:cNvSpPr>
            <a:spLocks xmlns:a="http://schemas.openxmlformats.org/drawingml/2006/main" noGrp="1"/>
          </p:cNvSpPr>
          <p:nvPr/>
        </p:nvSpPr>
        <p:spPr>
          <a:xfrm xmlns:a="http://schemas.openxmlformats.org/drawingml/2006/main">
            <a:off x="6172200" y="1783080"/>
            <a:ext cx="1691640" cy="178308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E2DEF0"/>
            </a:solidFill>
            <a:prstDash val="solid"/>
          </a:ln>
          <a:effectLst xmlns:a="http://schemas.openxmlformats.org/drawingml/2006/main">
            <a:outerShdw blurRad="203200" dist="38100" dir="5400000" sx="100000" sy="100000" kx="0" ky="0" algn="bl" rotWithShape="0">
              <a:srgbClr val="3C2E7A">
                <a:alpha val="10000"/>
              </a:srgbClr>
            </a:outerShdw>
          </a:effectLst>
        </p:spPr>
      </p:sp>
      <p:sp>
        <p:nvSpPr>
          <p:cNvPr id="21" name="Text 19">
            <a:extLst xmlns:a="http://schemas.openxmlformats.org/drawingml/2006/main">
              <a:ext uri="{FF2B5EF4-FFF2-40B4-BE49-F238E27FC236}">
                <a16:creationId xmlns:a16="http://schemas.microsoft.com/office/drawing/2014/main" id="{4D3682EC-5DB4-4FDF-9D84-59493986877A}"/>
              </a:ext>
            </a:extLst>
          </p:cNvPr>
          <p:cNvSpPr>
            <a:spLocks xmlns:a="http://schemas.openxmlformats.org/drawingml/2006/main" noGrp="1"/>
          </p:cNvSpPr>
          <p:nvPr/>
        </p:nvSpPr>
        <p:spPr>
          <a:xfrm xmlns:a="http://schemas.openxmlformats.org/drawingml/2006/main">
            <a:off x="6373368" y="1947672"/>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20">
                <a:solidFill>
                  <a:srgbClr val="A78BFA"/>
                </a:solidFill>
                <a:latin typeface="Calibri"/>
                <a:ea typeface="Calibri"/>
                <a:cs typeface="Calibri"/>
              </a:rPr>
              <a:t>04</a:t>
            </a:r>
            <a:endParaRPr sz="1000"/>
          </a:p>
        </p:txBody>
      </p:sp>
      <p:sp>
        <p:nvSpPr>
          <p:cNvPr id="22" name="Text 20">
            <a:extLst xmlns:a="http://schemas.openxmlformats.org/drawingml/2006/main">
              <a:ext uri="{FF2B5EF4-FFF2-40B4-BE49-F238E27FC236}">
                <a16:creationId xmlns:a16="http://schemas.microsoft.com/office/drawing/2014/main" id="{D3EE0641-EBCD-455B-BE9B-F1EEF2BE2924}"/>
              </a:ext>
            </a:extLst>
          </p:cNvPr>
          <p:cNvSpPr>
            <a:spLocks xmlns:a="http://schemas.openxmlformats.org/drawingml/2006/main" noGrp="1"/>
          </p:cNvSpPr>
          <p:nvPr/>
        </p:nvSpPr>
        <p:spPr>
          <a:xfrm xmlns:a="http://schemas.openxmlformats.org/drawingml/2006/main">
            <a:off x="6373368" y="2267712"/>
            <a:ext cx="128930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300" b="1">
                <a:solidFill>
                  <a:srgbClr val="141230"/>
                </a:solidFill>
                <a:latin typeface="Cambria"/>
                <a:ea typeface="Cambria"/>
                <a:cs typeface="Cambria"/>
              </a:rPr>
              <a:t>Prévision</a:t>
            </a:r>
            <a:endParaRPr sz="1300"/>
          </a:p>
        </p:txBody>
      </p:sp>
      <p:sp>
        <p:nvSpPr>
          <p:cNvPr id="23" name="Text 21">
            <a:extLst xmlns:a="http://schemas.openxmlformats.org/drawingml/2006/main">
              <a:ext uri="{FF2B5EF4-FFF2-40B4-BE49-F238E27FC236}">
                <a16:creationId xmlns:a16="http://schemas.microsoft.com/office/drawing/2014/main" id="{F123E768-7B16-43E4-B7DF-915785CC3034}"/>
              </a:ext>
            </a:extLst>
          </p:cNvPr>
          <p:cNvSpPr>
            <a:spLocks xmlns:a="http://schemas.openxmlformats.org/drawingml/2006/main" noGrp="1"/>
          </p:cNvSpPr>
          <p:nvPr/>
        </p:nvSpPr>
        <p:spPr>
          <a:xfrm xmlns:a="http://schemas.openxmlformats.org/drawingml/2006/main">
            <a:off x="6373368" y="2834640"/>
            <a:ext cx="1289304"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00">
                <a:solidFill>
                  <a:srgbClr val="6E6A88"/>
                </a:solidFill>
                <a:latin typeface="Calibri"/>
                <a:ea typeface="Calibri"/>
                <a:cs typeface="Calibri"/>
              </a:rPr>
              <a:t>Méthode naïve vs XGBoost</a:t>
            </a:r>
            <a:endParaRPr sz="1000"/>
          </a:p>
        </p:txBody>
      </p:sp>
      <p:sp>
        <p:nvSpPr>
          <p:cNvPr id="24" name="Text 22">
            <a:extLst xmlns:a="http://schemas.openxmlformats.org/drawingml/2006/main">
              <a:ext uri="{FF2B5EF4-FFF2-40B4-BE49-F238E27FC236}">
                <a16:creationId xmlns:a16="http://schemas.microsoft.com/office/drawing/2014/main" id="{E7ACF30E-3810-4B84-A869-5621AA3CFBBD}"/>
              </a:ext>
            </a:extLst>
          </p:cNvPr>
          <p:cNvSpPr>
            <a:spLocks xmlns:a="http://schemas.openxmlformats.org/drawingml/2006/main" noGrp="1"/>
          </p:cNvSpPr>
          <p:nvPr/>
        </p:nvSpPr>
        <p:spPr>
          <a:xfrm xmlns:a="http://schemas.openxmlformats.org/drawingml/2006/main">
            <a:off x="7863840" y="1783080"/>
            <a:ext cx="128016" cy="1783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A78BFA"/>
                </a:solidFill>
                <a:latin typeface="Calibri"/>
                <a:ea typeface="Calibri"/>
                <a:cs typeface="Calibri"/>
              </a:rPr>
              <a:t>›</a:t>
            </a:r>
            <a:endParaRPr sz="1500"/>
          </a:p>
        </p:txBody>
      </p:sp>
      <p:sp>
        <p:nvSpPr>
          <p:cNvPr id="25" name="Shape 23">
            <a:extLst xmlns:a="http://schemas.openxmlformats.org/drawingml/2006/main">
              <a:ext uri="{FF2B5EF4-FFF2-40B4-BE49-F238E27FC236}">
                <a16:creationId xmlns:a16="http://schemas.microsoft.com/office/drawing/2014/main" id="{9839B5D6-F3CA-4BD7-86FA-14EFA6C39D66}"/>
              </a:ext>
            </a:extLst>
          </p:cNvPr>
          <p:cNvSpPr>
            <a:spLocks xmlns:a="http://schemas.openxmlformats.org/drawingml/2006/main" noGrp="1"/>
          </p:cNvSpPr>
          <p:nvPr/>
        </p:nvSpPr>
        <p:spPr>
          <a:xfrm xmlns:a="http://schemas.openxmlformats.org/drawingml/2006/main">
            <a:off x="7991856" y="1783080"/>
            <a:ext cx="1691640" cy="178308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E2DEF0"/>
            </a:solidFill>
            <a:prstDash val="solid"/>
          </a:ln>
          <a:effectLst xmlns:a="http://schemas.openxmlformats.org/drawingml/2006/main">
            <a:outerShdw blurRad="203200" dist="38100" dir="5400000" sx="100000" sy="100000" kx="0" ky="0" algn="bl" rotWithShape="0">
              <a:srgbClr val="3C2E7A">
                <a:alpha val="10000"/>
              </a:srgbClr>
            </a:outerShdw>
          </a:effectLst>
        </p:spPr>
      </p:sp>
      <p:sp>
        <p:nvSpPr>
          <p:cNvPr id="26" name="Text 24">
            <a:extLst xmlns:a="http://schemas.openxmlformats.org/drawingml/2006/main">
              <a:ext uri="{FF2B5EF4-FFF2-40B4-BE49-F238E27FC236}">
                <a16:creationId xmlns:a16="http://schemas.microsoft.com/office/drawing/2014/main" id="{CC56F7C1-D506-4BAB-A154-9FA4FC0778C9}"/>
              </a:ext>
            </a:extLst>
          </p:cNvPr>
          <p:cNvSpPr>
            <a:spLocks xmlns:a="http://schemas.openxmlformats.org/drawingml/2006/main" noGrp="1"/>
          </p:cNvSpPr>
          <p:nvPr/>
        </p:nvSpPr>
        <p:spPr>
          <a:xfrm xmlns:a="http://schemas.openxmlformats.org/drawingml/2006/main">
            <a:off x="8193024" y="1947672"/>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20">
                <a:solidFill>
                  <a:srgbClr val="A78BFA"/>
                </a:solidFill>
                <a:latin typeface="Calibri"/>
                <a:ea typeface="Calibri"/>
                <a:cs typeface="Calibri"/>
              </a:rPr>
              <a:t>05</a:t>
            </a:r>
            <a:endParaRPr sz="1000"/>
          </a:p>
        </p:txBody>
      </p:sp>
      <p:sp>
        <p:nvSpPr>
          <p:cNvPr id="27" name="Text 25">
            <a:extLst xmlns:a="http://schemas.openxmlformats.org/drawingml/2006/main">
              <a:ext uri="{FF2B5EF4-FFF2-40B4-BE49-F238E27FC236}">
                <a16:creationId xmlns:a16="http://schemas.microsoft.com/office/drawing/2014/main" id="{F7C73BD2-4A17-4FE6-988C-B20977F82174}"/>
              </a:ext>
            </a:extLst>
          </p:cNvPr>
          <p:cNvSpPr>
            <a:spLocks xmlns:a="http://schemas.openxmlformats.org/drawingml/2006/main" noGrp="1"/>
          </p:cNvSpPr>
          <p:nvPr/>
        </p:nvSpPr>
        <p:spPr>
          <a:xfrm xmlns:a="http://schemas.openxmlformats.org/drawingml/2006/main">
            <a:off x="8193024" y="2267712"/>
            <a:ext cx="128930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300" b="1">
                <a:solidFill>
                  <a:srgbClr val="141230"/>
                </a:solidFill>
                <a:latin typeface="Cambria"/>
                <a:ea typeface="Cambria"/>
                <a:cs typeface="Cambria"/>
              </a:rPr>
              <a:t>Risque d'erreur</a:t>
            </a:r>
            <a:endParaRPr sz="1300"/>
          </a:p>
        </p:txBody>
      </p:sp>
      <p:sp>
        <p:nvSpPr>
          <p:cNvPr id="28" name="Text 26">
            <a:extLst xmlns:a="http://schemas.openxmlformats.org/drawingml/2006/main">
              <a:ext uri="{FF2B5EF4-FFF2-40B4-BE49-F238E27FC236}">
                <a16:creationId xmlns:a16="http://schemas.microsoft.com/office/drawing/2014/main" id="{10A8F171-C66B-42EB-8D26-497CC5A47F92}"/>
              </a:ext>
            </a:extLst>
          </p:cNvPr>
          <p:cNvSpPr>
            <a:spLocks xmlns:a="http://schemas.openxmlformats.org/drawingml/2006/main" noGrp="1"/>
          </p:cNvSpPr>
          <p:nvPr/>
        </p:nvSpPr>
        <p:spPr>
          <a:xfrm xmlns:a="http://schemas.openxmlformats.org/drawingml/2006/main">
            <a:off x="8193024" y="2834640"/>
            <a:ext cx="1289304"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00">
                <a:solidFill>
                  <a:srgbClr val="6E6A88"/>
                </a:solidFill>
                <a:latin typeface="Calibri"/>
                <a:ea typeface="Calibri"/>
                <a:cs typeface="Calibri"/>
              </a:rPr>
              <a:t>MAE, RMSE, MAPE, biais</a:t>
            </a:r>
            <a:endParaRPr sz="1000"/>
          </a:p>
        </p:txBody>
      </p:sp>
      <p:sp>
        <p:nvSpPr>
          <p:cNvPr id="29" name="Text 27">
            <a:extLst xmlns:a="http://schemas.openxmlformats.org/drawingml/2006/main">
              <a:ext uri="{FF2B5EF4-FFF2-40B4-BE49-F238E27FC236}">
                <a16:creationId xmlns:a16="http://schemas.microsoft.com/office/drawing/2014/main" id="{EC374BA4-9CC7-4B6E-9591-4FEEE6730C75}"/>
              </a:ext>
            </a:extLst>
          </p:cNvPr>
          <p:cNvSpPr>
            <a:spLocks xmlns:a="http://schemas.openxmlformats.org/drawingml/2006/main" noGrp="1"/>
          </p:cNvSpPr>
          <p:nvPr/>
        </p:nvSpPr>
        <p:spPr>
          <a:xfrm xmlns:a="http://schemas.openxmlformats.org/drawingml/2006/main">
            <a:off x="9683496" y="1783080"/>
            <a:ext cx="128016" cy="1783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A78BFA"/>
                </a:solidFill>
                <a:latin typeface="Calibri"/>
                <a:ea typeface="Calibri"/>
                <a:cs typeface="Calibri"/>
              </a:rPr>
              <a:t>›</a:t>
            </a:r>
            <a:endParaRPr sz="1500"/>
          </a:p>
        </p:txBody>
      </p:sp>
      <p:sp>
        <p:nvSpPr>
          <p:cNvPr id="30" name="Shape 28">
            <a:extLst xmlns:a="http://schemas.openxmlformats.org/drawingml/2006/main">
              <a:ext uri="{FF2B5EF4-FFF2-40B4-BE49-F238E27FC236}">
                <a16:creationId xmlns:a16="http://schemas.microsoft.com/office/drawing/2014/main" id="{35AA23C7-35A0-4E14-98B4-3CF57008197A}"/>
              </a:ext>
            </a:extLst>
          </p:cNvPr>
          <p:cNvSpPr>
            <a:spLocks xmlns:a="http://schemas.openxmlformats.org/drawingml/2006/main" noGrp="1"/>
          </p:cNvSpPr>
          <p:nvPr/>
        </p:nvSpPr>
        <p:spPr>
          <a:xfrm xmlns:a="http://schemas.openxmlformats.org/drawingml/2006/main">
            <a:off x="9811512" y="1783080"/>
            <a:ext cx="1691640" cy="1783080"/>
          </a:xfrm>
          <a:prstGeom xmlns:a="http://schemas.openxmlformats.org/drawingml/2006/main" prst="roundRect">
            <a:avLst>
              <a:gd name="adj" fmla="val 5405"/>
            </a:avLst>
          </a:prstGeom>
          <a:solidFill xmlns:a="http://schemas.openxmlformats.org/drawingml/2006/main">
            <a:srgbClr val="6B46C7"/>
          </a:solidFill>
          <a:ln xmlns:a="http://schemas.openxmlformats.org/drawingml/2006/main" w="9525">
            <a:solidFill>
              <a:srgbClr val="6B46C7"/>
            </a:solidFill>
            <a:prstDash val="solid"/>
          </a:ln>
          <a:effectLst xmlns:a="http://schemas.openxmlformats.org/drawingml/2006/main">
            <a:outerShdw blurRad="203200" dist="38100" dir="5400000" sx="100000" sy="100000" kx="0" ky="0" algn="bl" rotWithShape="0">
              <a:srgbClr val="3C2E7A">
                <a:alpha val="10000"/>
              </a:srgbClr>
            </a:outerShdw>
          </a:effectLst>
        </p:spPr>
      </p:sp>
      <p:sp>
        <p:nvSpPr>
          <p:cNvPr id="31" name="Text 29">
            <a:extLst xmlns:a="http://schemas.openxmlformats.org/drawingml/2006/main">
              <a:ext uri="{FF2B5EF4-FFF2-40B4-BE49-F238E27FC236}">
                <a16:creationId xmlns:a16="http://schemas.microsoft.com/office/drawing/2014/main" id="{F74B7038-A7C4-4E1E-8B23-13070347B7FE}"/>
              </a:ext>
            </a:extLst>
          </p:cNvPr>
          <p:cNvSpPr>
            <a:spLocks xmlns:a="http://schemas.openxmlformats.org/drawingml/2006/main" noGrp="1"/>
          </p:cNvSpPr>
          <p:nvPr/>
        </p:nvSpPr>
        <p:spPr>
          <a:xfrm xmlns:a="http://schemas.openxmlformats.org/drawingml/2006/main">
            <a:off x="10012680" y="1947672"/>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20">
                <a:solidFill>
                  <a:srgbClr val="D6C9FF"/>
                </a:solidFill>
                <a:latin typeface="Calibri"/>
                <a:ea typeface="Calibri"/>
                <a:cs typeface="Calibri"/>
              </a:rPr>
              <a:t>06</a:t>
            </a:r>
            <a:endParaRPr sz="1000"/>
          </a:p>
        </p:txBody>
      </p:sp>
      <p:sp>
        <p:nvSpPr>
          <p:cNvPr id="32" name="Text 30">
            <a:extLst xmlns:a="http://schemas.openxmlformats.org/drawingml/2006/main">
              <a:ext uri="{FF2B5EF4-FFF2-40B4-BE49-F238E27FC236}">
                <a16:creationId xmlns:a16="http://schemas.microsoft.com/office/drawing/2014/main" id="{2500CFB8-AD16-4E9F-A2C7-87B03CCAC7FE}"/>
              </a:ext>
            </a:extLst>
          </p:cNvPr>
          <p:cNvSpPr>
            <a:spLocks xmlns:a="http://schemas.openxmlformats.org/drawingml/2006/main" noGrp="1"/>
          </p:cNvSpPr>
          <p:nvPr/>
        </p:nvSpPr>
        <p:spPr>
          <a:xfrm xmlns:a="http://schemas.openxmlformats.org/drawingml/2006/main">
            <a:off x="10012680" y="2267712"/>
            <a:ext cx="128930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300" b="1">
                <a:solidFill>
                  <a:srgbClr val="FFFFFF"/>
                </a:solidFill>
                <a:latin typeface="Cambria"/>
                <a:ea typeface="Cambria"/>
                <a:cs typeface="Cambria"/>
              </a:rPr>
              <a:t>Décision FP&amp;A</a:t>
            </a:r>
            <a:endParaRPr sz="1300"/>
          </a:p>
        </p:txBody>
      </p:sp>
      <p:sp>
        <p:nvSpPr>
          <p:cNvPr id="33" name="Text 31">
            <a:extLst xmlns:a="http://schemas.openxmlformats.org/drawingml/2006/main">
              <a:ext uri="{FF2B5EF4-FFF2-40B4-BE49-F238E27FC236}">
                <a16:creationId xmlns:a16="http://schemas.microsoft.com/office/drawing/2014/main" id="{8ADA6E9B-3CFA-4C9D-A9CD-2D7E6C386FE7}"/>
              </a:ext>
            </a:extLst>
          </p:cNvPr>
          <p:cNvSpPr>
            <a:spLocks xmlns:a="http://schemas.openxmlformats.org/drawingml/2006/main" noGrp="1"/>
          </p:cNvSpPr>
          <p:nvPr/>
        </p:nvSpPr>
        <p:spPr>
          <a:xfrm xmlns:a="http://schemas.openxmlformats.org/drawingml/2006/main">
            <a:off x="10012680" y="2834640"/>
            <a:ext cx="1289304"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00">
                <a:solidFill>
                  <a:srgbClr val="E4DAFF"/>
                </a:solidFill>
                <a:latin typeface="Calibri"/>
                <a:ea typeface="Calibri"/>
                <a:cs typeface="Calibri"/>
              </a:rPr>
              <a:t>Pilotage, budget, arbitrages</a:t>
            </a:r>
            <a:endParaRPr sz="1000"/>
          </a:p>
        </p:txBody>
      </p:sp>
      <p:sp>
        <p:nvSpPr>
          <p:cNvPr id="34" name="Shape 32">
            <a:extLst xmlns:a="http://schemas.openxmlformats.org/drawingml/2006/main">
              <a:ext uri="{FF2B5EF4-FFF2-40B4-BE49-F238E27FC236}">
                <a16:creationId xmlns:a16="http://schemas.microsoft.com/office/drawing/2014/main" id="{CEF97AE8-ADD3-4DC2-ABD0-5CE03A4E4DC7}"/>
              </a:ext>
            </a:extLst>
          </p:cNvPr>
          <p:cNvSpPr>
            <a:spLocks xmlns:a="http://schemas.openxmlformats.org/drawingml/2006/main" noGrp="1"/>
          </p:cNvSpPr>
          <p:nvPr/>
        </p:nvSpPr>
        <p:spPr>
          <a:xfrm xmlns:a="http://schemas.openxmlformats.org/drawingml/2006/main">
            <a:off x="713232" y="3794760"/>
            <a:ext cx="5943600" cy="2103120"/>
          </a:xfrm>
          <a:prstGeom xmlns:a="http://schemas.openxmlformats.org/drawingml/2006/main" prst="roundRect">
            <a:avLst>
              <a:gd name="adj" fmla="val 4348"/>
            </a:avLst>
          </a:prstGeom>
          <a:solidFill xmlns:a="http://schemas.openxmlformats.org/drawingml/2006/main">
            <a:srgbClr val="EFEBFA"/>
          </a:solidFill>
          <a:ln xmlns:a="http://schemas.openxmlformats.org/drawingml/2006/main" w="9525">
            <a:solidFill>
              <a:srgbClr val="D9D2F1"/>
            </a:solidFill>
            <a:prstDash val="solid"/>
          </a:ln>
          <a:effectLst xmlns:a="http://schemas.openxmlformats.org/drawingml/2006/main">
            <a:outerShdw blurRad="203200" dist="38100" dir="5400000" sx="100000" sy="100000" kx="0" ky="0" algn="bl" rotWithShape="0">
              <a:srgbClr val="3C2E7A">
                <a:alpha val="10000"/>
              </a:srgbClr>
            </a:outerShdw>
          </a:effectLst>
        </p:spPr>
      </p:sp>
      <p:sp>
        <p:nvSpPr>
          <p:cNvPr id="35" name="Text 33">
            <a:extLst xmlns:a="http://schemas.openxmlformats.org/drawingml/2006/main">
              <a:ext uri="{FF2B5EF4-FFF2-40B4-BE49-F238E27FC236}">
                <a16:creationId xmlns:a16="http://schemas.microsoft.com/office/drawing/2014/main" id="{989BA303-8E73-4488-BDAC-5C094A935C96}"/>
              </a:ext>
            </a:extLst>
          </p:cNvPr>
          <p:cNvSpPr>
            <a:spLocks xmlns:a="http://schemas.openxmlformats.org/drawingml/2006/main" noGrp="1"/>
          </p:cNvSpPr>
          <p:nvPr/>
        </p:nvSpPr>
        <p:spPr>
          <a:xfrm xmlns:a="http://schemas.openxmlformats.org/drawingml/2006/main">
            <a:off x="1005840" y="4005072"/>
            <a:ext cx="53949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50">
                <a:solidFill>
                  <a:srgbClr val="6B46C7"/>
                </a:solidFill>
                <a:latin typeface="Calibri"/>
                <a:ea typeface="Calibri"/>
                <a:cs typeface="Calibri"/>
              </a:rPr>
              <a:t>PRÉVENTION DE LA FUITE D'INFORMATION</a:t>
            </a:r>
            <a:endParaRPr sz="950"/>
          </a:p>
        </p:txBody>
      </p:sp>
      <p:sp>
        <p:nvSpPr>
          <p:cNvPr id="36" name="Shape 34">
            <a:extLst xmlns:a="http://schemas.openxmlformats.org/drawingml/2006/main">
              <a:ext uri="{FF2B5EF4-FFF2-40B4-BE49-F238E27FC236}">
                <a16:creationId xmlns:a16="http://schemas.microsoft.com/office/drawing/2014/main" id="{7F9E9147-3F29-4CA5-B2D3-75D8601FBFEA}"/>
              </a:ext>
            </a:extLst>
          </p:cNvPr>
          <p:cNvSpPr>
            <a:spLocks xmlns:a="http://schemas.openxmlformats.org/drawingml/2006/main" noGrp="1"/>
          </p:cNvSpPr>
          <p:nvPr/>
        </p:nvSpPr>
        <p:spPr>
          <a:xfrm xmlns:a="http://schemas.openxmlformats.org/drawingml/2006/main">
            <a:off x="1024128" y="4407408"/>
            <a:ext cx="91440" cy="91440"/>
          </a:xfrm>
          <a:prstGeom xmlns:a="http://schemas.openxmlformats.org/drawingml/2006/main" prst="ellipse">
            <a:avLst/>
          </a:prstGeom>
          <a:solidFill xmlns:a="http://schemas.openxmlformats.org/drawingml/2006/main">
            <a:srgbClr val="6B46C7"/>
          </a:solidFill>
        </p:spPr>
      </p:sp>
      <p:sp>
        <p:nvSpPr>
          <p:cNvPr id="37" name="Text 35">
            <a:extLst xmlns:a="http://schemas.openxmlformats.org/drawingml/2006/main">
              <a:ext uri="{FF2B5EF4-FFF2-40B4-BE49-F238E27FC236}">
                <a16:creationId xmlns:a16="http://schemas.microsoft.com/office/drawing/2014/main" id="{EEC38266-3BAA-4A7A-8B0B-D2AD704AC2BF}"/>
              </a:ext>
            </a:extLst>
          </p:cNvPr>
          <p:cNvSpPr>
            <a:spLocks xmlns:a="http://schemas.openxmlformats.org/drawingml/2006/main" noGrp="1"/>
          </p:cNvSpPr>
          <p:nvPr/>
        </p:nvSpPr>
        <p:spPr>
          <a:xfrm xmlns:a="http://schemas.openxmlformats.org/drawingml/2006/main">
            <a:off x="1261872" y="4315968"/>
            <a:ext cx="51206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6233D"/>
                </a:solidFill>
                <a:latin typeface="Calibri"/>
                <a:ea typeface="Calibri"/>
                <a:cs typeface="Calibri"/>
              </a:rPr>
              <a:t>Découpage entraînement / test exclusivement chronologique</a:t>
            </a:r>
            <a:endParaRPr sz="1100"/>
          </a:p>
        </p:txBody>
      </p:sp>
      <p:sp>
        <p:nvSpPr>
          <p:cNvPr id="38" name="Shape 36">
            <a:extLst xmlns:a="http://schemas.openxmlformats.org/drawingml/2006/main">
              <a:ext uri="{FF2B5EF4-FFF2-40B4-BE49-F238E27FC236}">
                <a16:creationId xmlns:a16="http://schemas.microsoft.com/office/drawing/2014/main" id="{EF51F362-7BA9-4D68-B28F-1C80A21B82F8}"/>
              </a:ext>
            </a:extLst>
          </p:cNvPr>
          <p:cNvSpPr>
            <a:spLocks xmlns:a="http://schemas.openxmlformats.org/drawingml/2006/main" noGrp="1"/>
          </p:cNvSpPr>
          <p:nvPr/>
        </p:nvSpPr>
        <p:spPr>
          <a:xfrm xmlns:a="http://schemas.openxmlformats.org/drawingml/2006/main">
            <a:off x="1024128" y="4764024"/>
            <a:ext cx="91440" cy="91440"/>
          </a:xfrm>
          <a:prstGeom xmlns:a="http://schemas.openxmlformats.org/drawingml/2006/main" prst="ellipse">
            <a:avLst/>
          </a:prstGeom>
          <a:solidFill xmlns:a="http://schemas.openxmlformats.org/drawingml/2006/main">
            <a:srgbClr val="6B46C7"/>
          </a:solidFill>
        </p:spPr>
      </p:sp>
      <p:sp>
        <p:nvSpPr>
          <p:cNvPr id="39" name="Text 37">
            <a:extLst xmlns:a="http://schemas.openxmlformats.org/drawingml/2006/main">
              <a:ext uri="{FF2B5EF4-FFF2-40B4-BE49-F238E27FC236}">
                <a16:creationId xmlns:a16="http://schemas.microsoft.com/office/drawing/2014/main" id="{FFEA96EA-60CD-41F1-86A9-B44D885E42A5}"/>
              </a:ext>
            </a:extLst>
          </p:cNvPr>
          <p:cNvSpPr>
            <a:spLocks xmlns:a="http://schemas.openxmlformats.org/drawingml/2006/main" noGrp="1"/>
          </p:cNvSpPr>
          <p:nvPr/>
        </p:nvSpPr>
        <p:spPr>
          <a:xfrm xmlns:a="http://schemas.openxmlformats.org/drawingml/2006/main">
            <a:off x="1261872" y="4672584"/>
            <a:ext cx="51206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6233D"/>
                </a:solidFill>
                <a:latin typeface="Calibri"/>
                <a:ea typeface="Calibri"/>
                <a:cs typeface="Calibri"/>
              </a:rPr>
              <a:t>Variables historiques et ratios systématiquement décalés</a:t>
            </a:r>
            <a:endParaRPr sz="1100"/>
          </a:p>
        </p:txBody>
      </p:sp>
      <p:sp>
        <p:nvSpPr>
          <p:cNvPr id="40" name="Shape 38">
            <a:extLst xmlns:a="http://schemas.openxmlformats.org/drawingml/2006/main">
              <a:ext uri="{FF2B5EF4-FFF2-40B4-BE49-F238E27FC236}">
                <a16:creationId xmlns:a16="http://schemas.microsoft.com/office/drawing/2014/main" id="{8E637864-1C90-4716-AF1C-9B094F8F29A3}"/>
              </a:ext>
            </a:extLst>
          </p:cNvPr>
          <p:cNvSpPr>
            <a:spLocks xmlns:a="http://schemas.openxmlformats.org/drawingml/2006/main" noGrp="1"/>
          </p:cNvSpPr>
          <p:nvPr/>
        </p:nvSpPr>
        <p:spPr>
          <a:xfrm xmlns:a="http://schemas.openxmlformats.org/drawingml/2006/main">
            <a:off x="1024128" y="5120640"/>
            <a:ext cx="91440" cy="91440"/>
          </a:xfrm>
          <a:prstGeom xmlns:a="http://schemas.openxmlformats.org/drawingml/2006/main" prst="ellipse">
            <a:avLst/>
          </a:prstGeom>
          <a:solidFill xmlns:a="http://schemas.openxmlformats.org/drawingml/2006/main">
            <a:srgbClr val="6B46C7"/>
          </a:solidFill>
        </p:spPr>
      </p:sp>
      <p:sp>
        <p:nvSpPr>
          <p:cNvPr id="41" name="Text 39">
            <a:extLst xmlns:a="http://schemas.openxmlformats.org/drawingml/2006/main">
              <a:ext uri="{FF2B5EF4-FFF2-40B4-BE49-F238E27FC236}">
                <a16:creationId xmlns:a16="http://schemas.microsoft.com/office/drawing/2014/main" id="{10F06EED-C163-4318-9BB9-BBD61E952332}"/>
              </a:ext>
            </a:extLst>
          </p:cNvPr>
          <p:cNvSpPr>
            <a:spLocks xmlns:a="http://schemas.openxmlformats.org/drawingml/2006/main" noGrp="1"/>
          </p:cNvSpPr>
          <p:nvPr/>
        </p:nvSpPr>
        <p:spPr>
          <a:xfrm xmlns:a="http://schemas.openxmlformats.org/drawingml/2006/main">
            <a:off x="1261872" y="5029200"/>
            <a:ext cx="51206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6233D"/>
                </a:solidFill>
                <a:latin typeface="Calibri"/>
                <a:ea typeface="Calibri"/>
                <a:cs typeface="Calibri"/>
              </a:rPr>
              <a:t>Moyennes mobiles calculées sur les seules périodes passées</a:t>
            </a:r>
            <a:endParaRPr sz="1100"/>
          </a:p>
        </p:txBody>
      </p:sp>
      <p:sp>
        <p:nvSpPr>
          <p:cNvPr id="42" name="Shape 40">
            <a:extLst xmlns:a="http://schemas.openxmlformats.org/drawingml/2006/main">
              <a:ext uri="{FF2B5EF4-FFF2-40B4-BE49-F238E27FC236}">
                <a16:creationId xmlns:a16="http://schemas.microsoft.com/office/drawing/2014/main" id="{7B848D46-BB00-4CFF-B9BF-8F37E665297E}"/>
              </a:ext>
            </a:extLst>
          </p:cNvPr>
          <p:cNvSpPr>
            <a:spLocks xmlns:a="http://schemas.openxmlformats.org/drawingml/2006/main" noGrp="1"/>
          </p:cNvSpPr>
          <p:nvPr/>
        </p:nvSpPr>
        <p:spPr>
          <a:xfrm xmlns:a="http://schemas.openxmlformats.org/drawingml/2006/main">
            <a:off x="1024128" y="5477256"/>
            <a:ext cx="91440" cy="91440"/>
          </a:xfrm>
          <a:prstGeom xmlns:a="http://schemas.openxmlformats.org/drawingml/2006/main" prst="ellipse">
            <a:avLst/>
          </a:prstGeom>
          <a:solidFill xmlns:a="http://schemas.openxmlformats.org/drawingml/2006/main">
            <a:srgbClr val="6B46C7"/>
          </a:solidFill>
        </p:spPr>
      </p:sp>
      <p:sp>
        <p:nvSpPr>
          <p:cNvPr id="43" name="Text 41">
            <a:extLst xmlns:a="http://schemas.openxmlformats.org/drawingml/2006/main">
              <a:ext uri="{FF2B5EF4-FFF2-40B4-BE49-F238E27FC236}">
                <a16:creationId xmlns:a16="http://schemas.microsoft.com/office/drawing/2014/main" id="{862B8A3B-589F-4620-BA1A-9D6354AD3598}"/>
              </a:ext>
            </a:extLst>
          </p:cNvPr>
          <p:cNvSpPr>
            <a:spLocks xmlns:a="http://schemas.openxmlformats.org/drawingml/2006/main" noGrp="1"/>
          </p:cNvSpPr>
          <p:nvPr/>
        </p:nvSpPr>
        <p:spPr>
          <a:xfrm xmlns:a="http://schemas.openxmlformats.org/drawingml/2006/main">
            <a:off x="1261872" y="5385816"/>
            <a:ext cx="51206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26233D"/>
                </a:solidFill>
                <a:latin typeface="Calibri"/>
                <a:ea typeface="Calibri"/>
                <a:cs typeface="Calibri"/>
              </a:rPr>
              <a:t>Tests automatisés vérifiant la conformité des décalages</a:t>
            </a:r>
            <a:endParaRPr sz="1100"/>
          </a:p>
        </p:txBody>
      </p:sp>
      <p:sp>
        <p:nvSpPr>
          <p:cNvPr id="44" name="Shape 42">
            <a:extLst xmlns:a="http://schemas.openxmlformats.org/drawingml/2006/main">
              <a:ext uri="{FF2B5EF4-FFF2-40B4-BE49-F238E27FC236}">
                <a16:creationId xmlns:a16="http://schemas.microsoft.com/office/drawing/2014/main" id="{37DEFD7B-C14F-4797-B55D-FC5CBD583B73}"/>
              </a:ext>
            </a:extLst>
          </p:cNvPr>
          <p:cNvSpPr>
            <a:spLocks xmlns:a="http://schemas.openxmlformats.org/drawingml/2006/main" noGrp="1"/>
          </p:cNvSpPr>
          <p:nvPr/>
        </p:nvSpPr>
        <p:spPr>
          <a:xfrm xmlns:a="http://schemas.openxmlformats.org/drawingml/2006/main">
            <a:off x="6949440" y="3794760"/>
            <a:ext cx="4526280" cy="2103120"/>
          </a:xfrm>
          <a:prstGeom xmlns:a="http://schemas.openxmlformats.org/drawingml/2006/main" prst="roundRect">
            <a:avLst>
              <a:gd name="adj" fmla="val 4348"/>
            </a:avLst>
          </a:prstGeom>
          <a:solidFill xmlns:a="http://schemas.openxmlformats.org/drawingml/2006/main">
            <a:srgbClr val="F6F5FB"/>
          </a:solidFill>
          <a:ln xmlns:a="http://schemas.openxmlformats.org/drawingml/2006/main" w="9525">
            <a:solidFill>
              <a:srgbClr val="E2DEF0"/>
            </a:solidFill>
            <a:prstDash val="solid"/>
          </a:ln>
          <a:effectLst xmlns:a="http://schemas.openxmlformats.org/drawingml/2006/main">
            <a:outerShdw blurRad="203200" dist="38100" dir="5400000" sx="100000" sy="100000" kx="0" ky="0" algn="bl" rotWithShape="0">
              <a:srgbClr val="3C2E7A">
                <a:alpha val="10000"/>
              </a:srgbClr>
            </a:outerShdw>
          </a:effectLst>
        </p:spPr>
      </p:sp>
      <p:sp>
        <p:nvSpPr>
          <p:cNvPr id="45" name="Text 43">
            <a:extLst xmlns:a="http://schemas.openxmlformats.org/drawingml/2006/main">
              <a:ext uri="{FF2B5EF4-FFF2-40B4-BE49-F238E27FC236}">
                <a16:creationId xmlns:a16="http://schemas.microsoft.com/office/drawing/2014/main" id="{4BA0C329-0128-4DA3-85AA-CCB0287EDB9A}"/>
              </a:ext>
            </a:extLst>
          </p:cNvPr>
          <p:cNvSpPr>
            <a:spLocks xmlns:a="http://schemas.openxmlformats.org/drawingml/2006/main" noGrp="1"/>
          </p:cNvSpPr>
          <p:nvPr/>
        </p:nvSpPr>
        <p:spPr>
          <a:xfrm xmlns:a="http://schemas.openxmlformats.org/drawingml/2006/main">
            <a:off x="7242048" y="4041648"/>
            <a:ext cx="3931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4B2FA0"/>
                </a:solidFill>
                <a:latin typeface="Cambria"/>
                <a:ea typeface="Cambria"/>
                <a:cs typeface="Cambria"/>
              </a:rPr>
              <a:t>Contrôle de robustesse</a:t>
            </a:r>
            <a:endParaRPr sz="1400"/>
          </a:p>
        </p:txBody>
      </p:sp>
      <p:sp>
        <p:nvSpPr>
          <p:cNvPr id="46" name="Text 44">
            <a:extLst xmlns:a="http://schemas.openxmlformats.org/drawingml/2006/main">
              <a:ext uri="{FF2B5EF4-FFF2-40B4-BE49-F238E27FC236}">
                <a16:creationId xmlns:a16="http://schemas.microsoft.com/office/drawing/2014/main" id="{D59184E9-3C21-4835-85C4-E2FF179FAFFE}"/>
              </a:ext>
            </a:extLst>
          </p:cNvPr>
          <p:cNvSpPr>
            <a:spLocks xmlns:a="http://schemas.openxmlformats.org/drawingml/2006/main" noGrp="1"/>
          </p:cNvSpPr>
          <p:nvPr/>
        </p:nvSpPr>
        <p:spPr>
          <a:xfrm xmlns:a="http://schemas.openxmlformats.org/drawingml/2006/main">
            <a:off x="7242048" y="4334256"/>
            <a:ext cx="3931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50">
                <a:solidFill>
                  <a:srgbClr val="6E6A88"/>
                </a:solidFill>
                <a:latin typeface="Calibri"/>
                <a:ea typeface="Calibri"/>
                <a:cs typeface="Calibri"/>
              </a:rPr>
              <a:t>Prévisions traçables et résultats comparables à chaque cycle.</a:t>
            </a:r>
            <a:endParaRPr sz="1050"/>
          </a:p>
        </p:txBody>
      </p:sp>
      <p:sp>
        <p:nvSpPr>
          <p:cNvPr id="47" name="Text 45">
            <a:extLst xmlns:a="http://schemas.openxmlformats.org/drawingml/2006/main">
              <a:ext uri="{FF2B5EF4-FFF2-40B4-BE49-F238E27FC236}">
                <a16:creationId xmlns:a16="http://schemas.microsoft.com/office/drawing/2014/main" id="{7F7F50E6-CB9E-41A0-B783-7A0427624668}"/>
              </a:ext>
            </a:extLst>
          </p:cNvPr>
          <p:cNvSpPr>
            <a:spLocks xmlns:a="http://schemas.openxmlformats.org/drawingml/2006/main" noGrp="1"/>
          </p:cNvSpPr>
          <p:nvPr/>
        </p:nvSpPr>
        <p:spPr>
          <a:xfrm xmlns:a="http://schemas.openxmlformats.org/drawingml/2006/main">
            <a:off x="7242048" y="4974336"/>
            <a:ext cx="3931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4B2FA0"/>
                </a:solidFill>
                <a:latin typeface="Cambria"/>
                <a:ea typeface="Cambria"/>
                <a:cs typeface="Cambria"/>
              </a:rPr>
              <a:t>Arbitrage financier</a:t>
            </a:r>
            <a:endParaRPr sz="1400"/>
          </a:p>
        </p:txBody>
      </p:sp>
      <p:sp>
        <p:nvSpPr>
          <p:cNvPr id="48" name="Text 46">
            <a:extLst xmlns:a="http://schemas.openxmlformats.org/drawingml/2006/main">
              <a:ext uri="{FF2B5EF4-FFF2-40B4-BE49-F238E27FC236}">
                <a16:creationId xmlns:a16="http://schemas.microsoft.com/office/drawing/2014/main" id="{E6186115-7070-4333-B999-100A82953816}"/>
              </a:ext>
            </a:extLst>
          </p:cNvPr>
          <p:cNvSpPr>
            <a:spLocks xmlns:a="http://schemas.openxmlformats.org/drawingml/2006/main" noGrp="1"/>
          </p:cNvSpPr>
          <p:nvPr/>
        </p:nvSpPr>
        <p:spPr>
          <a:xfrm xmlns:a="http://schemas.openxmlformats.org/drawingml/2006/main">
            <a:off x="7242048" y="5266944"/>
            <a:ext cx="3931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50">
                <a:solidFill>
                  <a:srgbClr val="6E6A88"/>
                </a:solidFill>
                <a:latin typeface="Calibri"/>
                <a:ea typeface="Calibri"/>
                <a:cs typeface="Calibri"/>
              </a:rPr>
              <a:t>Un modèle n’est retenu que si son gain sur la baseline est stable, significatif et économiquement utile.</a:t>
            </a:r>
            <a:endParaRPr sz="1050"/>
          </a:p>
        </p:txBody>
      </p:sp>
      <p:sp>
        <p:nvSpPr>
          <p:cNvPr id="49" name="!!footer_label">
            <a:extLst xmlns:a="http://schemas.openxmlformats.org/drawingml/2006/main">
              <a:ext uri="{FF2B5EF4-FFF2-40B4-BE49-F238E27FC236}">
                <a16:creationId xmlns:a16="http://schemas.microsoft.com/office/drawing/2014/main" id="{D871C506-A89F-4BA9-8B6D-2EF825176887}"/>
              </a:ext>
            </a:extLst>
          </p:cNvPr>
          <p:cNvSpPr>
            <a:spLocks xmlns:a="http://schemas.openxmlformats.org/drawingml/2006/main" noGrp="1"/>
          </p:cNvSpPr>
          <p:nvPr/>
        </p:nvSpPr>
        <p:spPr>
          <a:xfrm xmlns:a="http://schemas.openxmlformats.org/drawingml/2006/main">
            <a:off x="713232" y="6345936"/>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60">
                <a:solidFill>
                  <a:srgbClr val="A5A1B8"/>
                </a:solidFill>
                <a:latin typeface="Calibri"/>
                <a:ea typeface="Calibri"/>
                <a:cs typeface="Calibri"/>
              </a:rPr>
              <a:t>02 · Démarche &amp; contrôle financier</a:t>
            </a:r>
            <a:endParaRPr sz="900"/>
          </a:p>
        </p:txBody>
      </p:sp>
      <p:sp>
        <p:nvSpPr>
          <p:cNvPr id="50" name="!!footer_page">
            <a:extLst xmlns:a="http://schemas.openxmlformats.org/drawingml/2006/main">
              <a:ext uri="{FF2B5EF4-FFF2-40B4-BE49-F238E27FC236}">
                <a16:creationId xmlns:a16="http://schemas.microsoft.com/office/drawing/2014/main" id="{CE54B66A-3C0C-4D33-AD6F-2A48E3E391DE}"/>
              </a:ext>
            </a:extLst>
          </p:cNvPr>
          <p:cNvSpPr>
            <a:spLocks xmlns:a="http://schemas.openxmlformats.org/drawingml/2006/main" noGrp="1"/>
          </p:cNvSpPr>
          <p:nvPr/>
        </p:nvSpPr>
        <p:spPr>
          <a:xfrm xmlns:a="http://schemas.openxmlformats.org/drawingml/2006/main">
            <a:off x="10972800" y="6345936"/>
            <a:ext cx="502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b="1">
                <a:solidFill>
                  <a:srgbClr val="6B46C7"/>
                </a:solidFill>
                <a:latin typeface="Calibri"/>
                <a:ea typeface="Calibri"/>
                <a:cs typeface="Calibri"/>
              </a:rPr>
              <a:t>7</a:t>
            </a:r>
            <a:endParaRPr sz="950"/>
          </a:p>
        </p:txBody>
      </p:sp>
    </p:spTree>
    <p:extLst>
      <p:ext uri="{BB962C8B-B14F-4D97-AF65-F5344CB8AC3E}">
        <p14:creationId xmlns:p14="http://schemas.microsoft.com/office/powerpoint/2010/main" val="1060813041"/>
      </p:ext>
    </p:extLst>
  </p:cSld>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eyebrow">
            <a:extLst xmlns:a="http://schemas.openxmlformats.org/drawingml/2006/main">
              <a:ext uri="{FF2B5EF4-FFF2-40B4-BE49-F238E27FC236}">
                <a16:creationId xmlns:a16="http://schemas.microsoft.com/office/drawing/2014/main" id="{4E4E85BE-EBB9-4D8F-A5BD-3F0BEA24F5E5}"/>
              </a:ext>
            </a:extLst>
          </p:cNvPr>
          <p:cNvSpPr>
            <a:spLocks xmlns:a="http://schemas.openxmlformats.org/drawingml/2006/main" noGrp="1"/>
          </p:cNvSpPr>
          <p:nvPr/>
        </p:nvSpPr>
        <p:spPr>
          <a:xfrm xmlns:a="http://schemas.openxmlformats.org/drawingml/2006/main">
            <a:off x="713232" y="384048"/>
            <a:ext cx="10789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220">
                <a:solidFill>
                  <a:srgbClr val="6B46C7"/>
                </a:solidFill>
                <a:latin typeface="Calibri"/>
                <a:ea typeface="Calibri"/>
                <a:cs typeface="Calibri"/>
              </a:rPr>
              <a:t>CONTRÔLE DU FORECAST</a:t>
            </a:r>
            <a:endParaRPr sz="1000"/>
          </a:p>
        </p:txBody>
      </p:sp>
      <p:sp>
        <p:nvSpPr>
          <p:cNvPr id="3" name="!!title">
            <a:extLst xmlns:a="http://schemas.openxmlformats.org/drawingml/2006/main">
              <a:ext uri="{FF2B5EF4-FFF2-40B4-BE49-F238E27FC236}">
                <a16:creationId xmlns:a16="http://schemas.microsoft.com/office/drawing/2014/main" id="{14E4A436-D4E0-480A-8214-86EBAB5D6466}"/>
              </a:ext>
            </a:extLst>
          </p:cNvPr>
          <p:cNvSpPr>
            <a:spLocks xmlns:a="http://schemas.openxmlformats.org/drawingml/2006/main" noGrp="1"/>
          </p:cNvSpPr>
          <p:nvPr/>
        </p:nvSpPr>
        <p:spPr>
          <a:xfrm xmlns:a="http://schemas.openxmlformats.org/drawingml/2006/main">
            <a:off x="713232" y="621792"/>
            <a:ext cx="10515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41230"/>
                </a:solidFill>
                <a:latin typeface="Cambria"/>
                <a:ea typeface="Cambria"/>
                <a:cs typeface="Cambria"/>
              </a:rPr>
              <a:t>Contrôle de robustesse des forecasts</a:t>
            </a:r>
            <a:endParaRPr sz="2700"/>
          </a:p>
        </p:txBody>
      </p:sp>
      <p:sp>
        <p:nvSpPr>
          <p:cNvPr id="4" name="!!subtitle">
            <a:extLst xmlns:a="http://schemas.openxmlformats.org/drawingml/2006/main">
              <a:ext uri="{FF2B5EF4-FFF2-40B4-BE49-F238E27FC236}">
                <a16:creationId xmlns:a16="http://schemas.microsoft.com/office/drawing/2014/main" id="{81C8D603-FC06-4C3B-B559-56ACA1CA114A}"/>
              </a:ext>
            </a:extLst>
          </p:cNvPr>
          <p:cNvSpPr>
            <a:spLocks xmlns:a="http://schemas.openxmlformats.org/drawingml/2006/main" noGrp="1"/>
          </p:cNvSpPr>
          <p:nvPr/>
        </p:nvSpPr>
        <p:spPr>
          <a:xfrm xmlns:a="http://schemas.openxmlformats.org/drawingml/2006/main">
            <a:off x="713232" y="1188720"/>
            <a:ext cx="96926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300">
                <a:solidFill>
                  <a:srgbClr val="6E6A88"/>
                </a:solidFill>
                <a:latin typeface="Calibri"/>
                <a:ea typeface="Calibri"/>
                <a:cs typeface="Calibri"/>
              </a:rPr>
              <a:t>Trois exercices de prévision reproduisent le rolling forecast et vérifient que la conclusion ne dépend pas d’un mois favorable.</a:t>
            </a:r>
            <a:endParaRPr sz="1300"/>
          </a:p>
        </p:txBody>
      </p:sp>
      <p:sp>
        <p:nvSpPr>
          <p:cNvPr id="5" name="Shape 3">
            <a:extLst xmlns:a="http://schemas.openxmlformats.org/drawingml/2006/main">
              <a:ext uri="{FF2B5EF4-FFF2-40B4-BE49-F238E27FC236}">
                <a16:creationId xmlns:a16="http://schemas.microsoft.com/office/drawing/2014/main" id="{5593E383-2B4C-4E95-BF0A-7EFE93EC8B06}"/>
              </a:ext>
            </a:extLst>
          </p:cNvPr>
          <p:cNvSpPr>
            <a:spLocks xmlns:a="http://schemas.openxmlformats.org/drawingml/2006/main" noGrp="1"/>
          </p:cNvSpPr>
          <p:nvPr/>
        </p:nvSpPr>
        <p:spPr>
          <a:xfrm xmlns:a="http://schemas.openxmlformats.org/drawingml/2006/main">
            <a:off x="713232" y="1965960"/>
            <a:ext cx="6903720" cy="96012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E2DEF0"/>
            </a:solidFill>
            <a:prstDash val="solid"/>
          </a:ln>
          <a:effectLst xmlns:a="http://schemas.openxmlformats.org/drawingml/2006/main">
            <a:outerShdw blurRad="203200" dist="38100" dir="5400000" sx="100000" sy="100000" kx="0" ky="0" algn="bl" rotWithShape="0">
              <a:srgbClr val="3C2E7A">
                <a:alpha val="10000"/>
              </a:srgbClr>
            </a:outerShdw>
          </a:effectLst>
        </p:spPr>
      </p:sp>
      <p:sp>
        <p:nvSpPr>
          <p:cNvPr id="6" name="Shape 4">
            <a:extLst xmlns:a="http://schemas.openxmlformats.org/drawingml/2006/main">
              <a:ext uri="{FF2B5EF4-FFF2-40B4-BE49-F238E27FC236}">
                <a16:creationId xmlns:a16="http://schemas.microsoft.com/office/drawing/2014/main" id="{6E0AB43C-7B82-4721-AA27-46EA94C4B552}"/>
              </a:ext>
            </a:extLst>
          </p:cNvPr>
          <p:cNvSpPr>
            <a:spLocks xmlns:a="http://schemas.openxmlformats.org/drawingml/2006/main" noGrp="1"/>
          </p:cNvSpPr>
          <p:nvPr/>
        </p:nvSpPr>
        <p:spPr>
          <a:xfrm xmlns:a="http://schemas.openxmlformats.org/drawingml/2006/main">
            <a:off x="1005840" y="2276856"/>
            <a:ext cx="347472" cy="347472"/>
          </a:xfrm>
          <a:prstGeom xmlns:a="http://schemas.openxmlformats.org/drawingml/2006/main" prst="roundRect">
            <a:avLst>
              <a:gd name="adj" fmla="val 18421"/>
            </a:avLst>
          </a:prstGeom>
          <a:solidFill xmlns:a="http://schemas.openxmlformats.org/drawingml/2006/main">
            <a:srgbClr val="6B46C7"/>
          </a:solidFill>
        </p:spPr>
      </p:sp>
      <p:sp>
        <p:nvSpPr>
          <p:cNvPr id="7" name="Text 5">
            <a:extLst xmlns:a="http://schemas.openxmlformats.org/drawingml/2006/main">
              <a:ext uri="{FF2B5EF4-FFF2-40B4-BE49-F238E27FC236}">
                <a16:creationId xmlns:a16="http://schemas.microsoft.com/office/drawing/2014/main" id="{86995E75-F1B1-4859-8224-6F833F93950F}"/>
              </a:ext>
            </a:extLst>
          </p:cNvPr>
          <p:cNvSpPr>
            <a:spLocks xmlns:a="http://schemas.openxmlformats.org/drawingml/2006/main" noGrp="1"/>
          </p:cNvSpPr>
          <p:nvPr/>
        </p:nvSpPr>
        <p:spPr>
          <a:xfrm xmlns:a="http://schemas.openxmlformats.org/drawingml/2006/main">
            <a:off x="1005840" y="227685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1</a:t>
            </a:r>
            <a:endParaRPr sz="1200"/>
          </a:p>
        </p:txBody>
      </p:sp>
      <p:sp>
        <p:nvSpPr>
          <p:cNvPr id="8" name="Text 6">
            <a:extLst xmlns:a="http://schemas.openxmlformats.org/drawingml/2006/main">
              <a:ext uri="{FF2B5EF4-FFF2-40B4-BE49-F238E27FC236}">
                <a16:creationId xmlns:a16="http://schemas.microsoft.com/office/drawing/2014/main" id="{3723A5E1-C422-4247-A498-920DFBAA3444}"/>
              </a:ext>
            </a:extLst>
          </p:cNvPr>
          <p:cNvSpPr>
            <a:spLocks xmlns:a="http://schemas.openxmlformats.org/drawingml/2006/main" noGrp="1"/>
          </p:cNvSpPr>
          <p:nvPr/>
        </p:nvSpPr>
        <p:spPr>
          <a:xfrm xmlns:a="http://schemas.openxmlformats.org/drawingml/2006/main">
            <a:off x="1517904" y="2130552"/>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40">
                <a:solidFill>
                  <a:srgbClr val="6B46C7"/>
                </a:solidFill>
                <a:latin typeface="Calibri"/>
                <a:ea typeface="Calibri"/>
                <a:cs typeface="Calibri"/>
              </a:rPr>
              <a:t>Origine 1</a:t>
            </a:r>
            <a:endParaRPr sz="950"/>
          </a:p>
        </p:txBody>
      </p:sp>
      <p:sp>
        <p:nvSpPr>
          <p:cNvPr id="9" name="Text 7">
            <a:extLst xmlns:a="http://schemas.openxmlformats.org/drawingml/2006/main">
              <a:ext uri="{FF2B5EF4-FFF2-40B4-BE49-F238E27FC236}">
                <a16:creationId xmlns:a16="http://schemas.microsoft.com/office/drawing/2014/main" id="{A4066334-CA43-462A-A706-EB326140C9B3}"/>
              </a:ext>
            </a:extLst>
          </p:cNvPr>
          <p:cNvSpPr>
            <a:spLocks xmlns:a="http://schemas.openxmlformats.org/drawingml/2006/main" noGrp="1"/>
          </p:cNvSpPr>
          <p:nvPr/>
        </p:nvSpPr>
        <p:spPr>
          <a:xfrm xmlns:a="http://schemas.openxmlformats.org/drawingml/2006/main">
            <a:off x="1517904" y="2404872"/>
            <a:ext cx="2926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6233D"/>
                </a:solidFill>
                <a:latin typeface="Calibri"/>
                <a:ea typeface="Calibri"/>
                <a:cs typeface="Calibri"/>
              </a:rPr>
              <a:t>Entraînement janv. → sept.</a:t>
            </a:r>
            <a:endParaRPr sz="1250"/>
          </a:p>
        </p:txBody>
      </p:sp>
      <p:sp>
        <p:nvSpPr>
          <p:cNvPr id="10" name="Text 8">
            <a:extLst xmlns:a="http://schemas.openxmlformats.org/drawingml/2006/main">
              <a:ext uri="{FF2B5EF4-FFF2-40B4-BE49-F238E27FC236}">
                <a16:creationId xmlns:a16="http://schemas.microsoft.com/office/drawing/2014/main" id="{CFF27167-D03F-4E9D-9B36-1130C03A6A03}"/>
              </a:ext>
            </a:extLst>
          </p:cNvPr>
          <p:cNvSpPr>
            <a:spLocks xmlns:a="http://schemas.openxmlformats.org/drawingml/2006/main" noGrp="1"/>
          </p:cNvSpPr>
          <p:nvPr/>
        </p:nvSpPr>
        <p:spPr>
          <a:xfrm xmlns:a="http://schemas.openxmlformats.org/drawingml/2006/main">
            <a:off x="4434840" y="2404872"/>
            <a:ext cx="9144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E6A88"/>
                </a:solidFill>
                <a:latin typeface="Calibri"/>
                <a:ea typeface="Calibri"/>
                <a:cs typeface="Calibri"/>
              </a:rPr>
              <a:t>225 obs.</a:t>
            </a:r>
            <a:endParaRPr sz="1100"/>
          </a:p>
        </p:txBody>
      </p:sp>
      <p:sp>
        <p:nvSpPr>
          <p:cNvPr id="11" name="Text 9">
            <a:extLst xmlns:a="http://schemas.openxmlformats.org/drawingml/2006/main">
              <a:ext uri="{FF2B5EF4-FFF2-40B4-BE49-F238E27FC236}">
                <a16:creationId xmlns:a16="http://schemas.microsoft.com/office/drawing/2014/main" id="{A905A0B0-85FB-4702-89A0-E7D45F05DDC2}"/>
              </a:ext>
            </a:extLst>
          </p:cNvPr>
          <p:cNvSpPr>
            <a:spLocks xmlns:a="http://schemas.openxmlformats.org/drawingml/2006/main" noGrp="1"/>
          </p:cNvSpPr>
          <p:nvPr/>
        </p:nvSpPr>
        <p:spPr>
          <a:xfrm xmlns:a="http://schemas.openxmlformats.org/drawingml/2006/main">
            <a:off x="5349240" y="2368296"/>
            <a:ext cx="320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A78BFA"/>
                </a:solidFill>
                <a:latin typeface="Calibri"/>
                <a:ea typeface="Calibri"/>
                <a:cs typeface="Calibri"/>
              </a:rPr>
              <a:t>→</a:t>
            </a:r>
            <a:endParaRPr sz="1400"/>
          </a:p>
        </p:txBody>
      </p:sp>
      <p:sp>
        <p:nvSpPr>
          <p:cNvPr id="12" name="Text 10">
            <a:extLst xmlns:a="http://schemas.openxmlformats.org/drawingml/2006/main">
              <a:ext uri="{FF2B5EF4-FFF2-40B4-BE49-F238E27FC236}">
                <a16:creationId xmlns:a16="http://schemas.microsoft.com/office/drawing/2014/main" id="{E1FEEA37-0505-4BF2-88AC-9E035308A130}"/>
              </a:ext>
            </a:extLst>
          </p:cNvPr>
          <p:cNvSpPr>
            <a:spLocks xmlns:a="http://schemas.openxmlformats.org/drawingml/2006/main" noGrp="1"/>
          </p:cNvSpPr>
          <p:nvPr/>
        </p:nvSpPr>
        <p:spPr>
          <a:xfrm xmlns:a="http://schemas.openxmlformats.org/drawingml/2006/main">
            <a:off x="5669280" y="2404872"/>
            <a:ext cx="19202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4B2FA0"/>
                </a:solidFill>
                <a:latin typeface="Calibri"/>
                <a:ea typeface="Calibri"/>
                <a:cs typeface="Calibri"/>
              </a:rPr>
              <a:t>Prévision : octobre 2025</a:t>
            </a:r>
            <a:endParaRPr sz="1150"/>
          </a:p>
        </p:txBody>
      </p:sp>
      <p:sp>
        <p:nvSpPr>
          <p:cNvPr id="13" name="Shape 11">
            <a:extLst xmlns:a="http://schemas.openxmlformats.org/drawingml/2006/main">
              <a:ext uri="{FF2B5EF4-FFF2-40B4-BE49-F238E27FC236}">
                <a16:creationId xmlns:a16="http://schemas.microsoft.com/office/drawing/2014/main" id="{ACECA120-6841-4339-A2AA-9CCFE6256323}"/>
              </a:ext>
            </a:extLst>
          </p:cNvPr>
          <p:cNvSpPr>
            <a:spLocks xmlns:a="http://schemas.openxmlformats.org/drawingml/2006/main" noGrp="1"/>
          </p:cNvSpPr>
          <p:nvPr/>
        </p:nvSpPr>
        <p:spPr>
          <a:xfrm xmlns:a="http://schemas.openxmlformats.org/drawingml/2006/main">
            <a:off x="713232" y="3081528"/>
            <a:ext cx="6903720" cy="96012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E2DEF0"/>
            </a:solidFill>
            <a:prstDash val="solid"/>
          </a:ln>
          <a:effectLst xmlns:a="http://schemas.openxmlformats.org/drawingml/2006/main">
            <a:outerShdw blurRad="203200" dist="38100" dir="5400000" sx="100000" sy="100000" kx="0" ky="0" algn="bl" rotWithShape="0">
              <a:srgbClr val="3C2E7A">
                <a:alpha val="10000"/>
              </a:srgbClr>
            </a:outerShdw>
          </a:effectLst>
        </p:spPr>
      </p:sp>
      <p:sp>
        <p:nvSpPr>
          <p:cNvPr id="14" name="Shape 12">
            <a:extLst xmlns:a="http://schemas.openxmlformats.org/drawingml/2006/main">
              <a:ext uri="{FF2B5EF4-FFF2-40B4-BE49-F238E27FC236}">
                <a16:creationId xmlns:a16="http://schemas.microsoft.com/office/drawing/2014/main" id="{63B5FA6D-3A84-411D-A3A5-5CBB5E1FA1D2}"/>
              </a:ext>
            </a:extLst>
          </p:cNvPr>
          <p:cNvSpPr>
            <a:spLocks xmlns:a="http://schemas.openxmlformats.org/drawingml/2006/main" noGrp="1"/>
          </p:cNvSpPr>
          <p:nvPr/>
        </p:nvSpPr>
        <p:spPr>
          <a:xfrm xmlns:a="http://schemas.openxmlformats.org/drawingml/2006/main">
            <a:off x="1005840" y="3392424"/>
            <a:ext cx="347472" cy="347472"/>
          </a:xfrm>
          <a:prstGeom xmlns:a="http://schemas.openxmlformats.org/drawingml/2006/main" prst="roundRect">
            <a:avLst>
              <a:gd name="adj" fmla="val 18421"/>
            </a:avLst>
          </a:prstGeom>
          <a:solidFill xmlns:a="http://schemas.openxmlformats.org/drawingml/2006/main">
            <a:srgbClr val="6B46C7"/>
          </a:solidFill>
        </p:spPr>
      </p:sp>
      <p:sp>
        <p:nvSpPr>
          <p:cNvPr id="15" name="Text 13">
            <a:extLst xmlns:a="http://schemas.openxmlformats.org/drawingml/2006/main">
              <a:ext uri="{FF2B5EF4-FFF2-40B4-BE49-F238E27FC236}">
                <a16:creationId xmlns:a16="http://schemas.microsoft.com/office/drawing/2014/main" id="{D4E2FC29-AD22-457A-A139-87C7E2742789}"/>
              </a:ext>
            </a:extLst>
          </p:cNvPr>
          <p:cNvSpPr>
            <a:spLocks xmlns:a="http://schemas.openxmlformats.org/drawingml/2006/main" noGrp="1"/>
          </p:cNvSpPr>
          <p:nvPr/>
        </p:nvSpPr>
        <p:spPr>
          <a:xfrm xmlns:a="http://schemas.openxmlformats.org/drawingml/2006/main">
            <a:off x="1005840" y="339242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2</a:t>
            </a:r>
            <a:endParaRPr sz="1200"/>
          </a:p>
        </p:txBody>
      </p:sp>
      <p:sp>
        <p:nvSpPr>
          <p:cNvPr id="16" name="Text 14">
            <a:extLst xmlns:a="http://schemas.openxmlformats.org/drawingml/2006/main">
              <a:ext uri="{FF2B5EF4-FFF2-40B4-BE49-F238E27FC236}">
                <a16:creationId xmlns:a16="http://schemas.microsoft.com/office/drawing/2014/main" id="{205C8868-4EB2-41FF-BCE9-9D5706FE0F7C}"/>
              </a:ext>
            </a:extLst>
          </p:cNvPr>
          <p:cNvSpPr>
            <a:spLocks xmlns:a="http://schemas.openxmlformats.org/drawingml/2006/main" noGrp="1"/>
          </p:cNvSpPr>
          <p:nvPr/>
        </p:nvSpPr>
        <p:spPr>
          <a:xfrm xmlns:a="http://schemas.openxmlformats.org/drawingml/2006/main">
            <a:off x="1517904" y="3246120"/>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40">
                <a:solidFill>
                  <a:srgbClr val="6B46C7"/>
                </a:solidFill>
                <a:latin typeface="Calibri"/>
                <a:ea typeface="Calibri"/>
                <a:cs typeface="Calibri"/>
              </a:rPr>
              <a:t>Origine 2</a:t>
            </a:r>
            <a:endParaRPr sz="950"/>
          </a:p>
        </p:txBody>
      </p:sp>
      <p:sp>
        <p:nvSpPr>
          <p:cNvPr id="17" name="Text 15">
            <a:extLst xmlns:a="http://schemas.openxmlformats.org/drawingml/2006/main">
              <a:ext uri="{FF2B5EF4-FFF2-40B4-BE49-F238E27FC236}">
                <a16:creationId xmlns:a16="http://schemas.microsoft.com/office/drawing/2014/main" id="{28DCCC44-F14A-4B9C-BCAD-09E64E1CB300}"/>
              </a:ext>
            </a:extLst>
          </p:cNvPr>
          <p:cNvSpPr>
            <a:spLocks xmlns:a="http://schemas.openxmlformats.org/drawingml/2006/main" noGrp="1"/>
          </p:cNvSpPr>
          <p:nvPr/>
        </p:nvSpPr>
        <p:spPr>
          <a:xfrm xmlns:a="http://schemas.openxmlformats.org/drawingml/2006/main">
            <a:off x="1517904" y="3520440"/>
            <a:ext cx="2926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6233D"/>
                </a:solidFill>
                <a:latin typeface="Calibri"/>
                <a:ea typeface="Calibri"/>
                <a:cs typeface="Calibri"/>
              </a:rPr>
              <a:t>Entraînement janv. → oct.</a:t>
            </a:r>
            <a:endParaRPr sz="1250"/>
          </a:p>
        </p:txBody>
      </p:sp>
      <p:sp>
        <p:nvSpPr>
          <p:cNvPr id="18" name="Text 16">
            <a:extLst xmlns:a="http://schemas.openxmlformats.org/drawingml/2006/main">
              <a:ext uri="{FF2B5EF4-FFF2-40B4-BE49-F238E27FC236}">
                <a16:creationId xmlns:a16="http://schemas.microsoft.com/office/drawing/2014/main" id="{A00C34D6-3F67-41DE-9828-CEECE00E50A9}"/>
              </a:ext>
            </a:extLst>
          </p:cNvPr>
          <p:cNvSpPr>
            <a:spLocks xmlns:a="http://schemas.openxmlformats.org/drawingml/2006/main" noGrp="1"/>
          </p:cNvSpPr>
          <p:nvPr/>
        </p:nvSpPr>
        <p:spPr>
          <a:xfrm xmlns:a="http://schemas.openxmlformats.org/drawingml/2006/main">
            <a:off x="4434840" y="3520440"/>
            <a:ext cx="9144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E6A88"/>
                </a:solidFill>
                <a:latin typeface="Calibri"/>
                <a:ea typeface="Calibri"/>
                <a:cs typeface="Calibri"/>
              </a:rPr>
              <a:t>250 obs.</a:t>
            </a:r>
            <a:endParaRPr sz="1100"/>
          </a:p>
        </p:txBody>
      </p:sp>
      <p:sp>
        <p:nvSpPr>
          <p:cNvPr id="19" name="Text 17">
            <a:extLst xmlns:a="http://schemas.openxmlformats.org/drawingml/2006/main">
              <a:ext uri="{FF2B5EF4-FFF2-40B4-BE49-F238E27FC236}">
                <a16:creationId xmlns:a16="http://schemas.microsoft.com/office/drawing/2014/main" id="{4CDE9E1E-ACBA-4A28-8098-0BB1024DF173}"/>
              </a:ext>
            </a:extLst>
          </p:cNvPr>
          <p:cNvSpPr>
            <a:spLocks xmlns:a="http://schemas.openxmlformats.org/drawingml/2006/main" noGrp="1"/>
          </p:cNvSpPr>
          <p:nvPr/>
        </p:nvSpPr>
        <p:spPr>
          <a:xfrm xmlns:a="http://schemas.openxmlformats.org/drawingml/2006/main">
            <a:off x="5349240" y="3483864"/>
            <a:ext cx="320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A78BFA"/>
                </a:solidFill>
                <a:latin typeface="Calibri"/>
                <a:ea typeface="Calibri"/>
                <a:cs typeface="Calibri"/>
              </a:rPr>
              <a:t>→</a:t>
            </a:r>
            <a:endParaRPr sz="1400"/>
          </a:p>
        </p:txBody>
      </p:sp>
      <p:sp>
        <p:nvSpPr>
          <p:cNvPr id="20" name="Text 18">
            <a:extLst xmlns:a="http://schemas.openxmlformats.org/drawingml/2006/main">
              <a:ext uri="{FF2B5EF4-FFF2-40B4-BE49-F238E27FC236}">
                <a16:creationId xmlns:a16="http://schemas.microsoft.com/office/drawing/2014/main" id="{430F25BE-B139-4A04-A42A-3D68B6C8F750}"/>
              </a:ext>
            </a:extLst>
          </p:cNvPr>
          <p:cNvSpPr>
            <a:spLocks xmlns:a="http://schemas.openxmlformats.org/drawingml/2006/main" noGrp="1"/>
          </p:cNvSpPr>
          <p:nvPr/>
        </p:nvSpPr>
        <p:spPr>
          <a:xfrm xmlns:a="http://schemas.openxmlformats.org/drawingml/2006/main">
            <a:off x="5669280" y="3520440"/>
            <a:ext cx="19202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4B2FA0"/>
                </a:solidFill>
                <a:latin typeface="Calibri"/>
                <a:ea typeface="Calibri"/>
                <a:cs typeface="Calibri"/>
              </a:rPr>
              <a:t>Prévision : novembre 2025</a:t>
            </a:r>
            <a:endParaRPr sz="1150"/>
          </a:p>
        </p:txBody>
      </p:sp>
      <p:sp>
        <p:nvSpPr>
          <p:cNvPr id="21" name="Shape 19">
            <a:extLst xmlns:a="http://schemas.openxmlformats.org/drawingml/2006/main">
              <a:ext uri="{FF2B5EF4-FFF2-40B4-BE49-F238E27FC236}">
                <a16:creationId xmlns:a16="http://schemas.microsoft.com/office/drawing/2014/main" id="{E692D24A-95D6-4071-9F86-9E7E5C87F625}"/>
              </a:ext>
            </a:extLst>
          </p:cNvPr>
          <p:cNvSpPr>
            <a:spLocks xmlns:a="http://schemas.openxmlformats.org/drawingml/2006/main" noGrp="1"/>
          </p:cNvSpPr>
          <p:nvPr/>
        </p:nvSpPr>
        <p:spPr>
          <a:xfrm xmlns:a="http://schemas.openxmlformats.org/drawingml/2006/main">
            <a:off x="713232" y="4197096"/>
            <a:ext cx="6903720" cy="96012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E2DEF0"/>
            </a:solidFill>
            <a:prstDash val="solid"/>
          </a:ln>
          <a:effectLst xmlns:a="http://schemas.openxmlformats.org/drawingml/2006/main">
            <a:outerShdw blurRad="203200" dist="38100" dir="5400000" sx="100000" sy="100000" kx="0" ky="0" algn="bl" rotWithShape="0">
              <a:srgbClr val="3C2E7A">
                <a:alpha val="10000"/>
              </a:srgbClr>
            </a:outerShdw>
          </a:effectLst>
        </p:spPr>
      </p:sp>
      <p:sp>
        <p:nvSpPr>
          <p:cNvPr id="22" name="Shape 20">
            <a:extLst xmlns:a="http://schemas.openxmlformats.org/drawingml/2006/main">
              <a:ext uri="{FF2B5EF4-FFF2-40B4-BE49-F238E27FC236}">
                <a16:creationId xmlns:a16="http://schemas.microsoft.com/office/drawing/2014/main" id="{8CE0C8CD-E13F-428F-82CD-0693546B16C4}"/>
              </a:ext>
            </a:extLst>
          </p:cNvPr>
          <p:cNvSpPr>
            <a:spLocks xmlns:a="http://schemas.openxmlformats.org/drawingml/2006/main" noGrp="1"/>
          </p:cNvSpPr>
          <p:nvPr/>
        </p:nvSpPr>
        <p:spPr>
          <a:xfrm xmlns:a="http://schemas.openxmlformats.org/drawingml/2006/main">
            <a:off x="1005840" y="4507992"/>
            <a:ext cx="347472" cy="347472"/>
          </a:xfrm>
          <a:prstGeom xmlns:a="http://schemas.openxmlformats.org/drawingml/2006/main" prst="roundRect">
            <a:avLst>
              <a:gd name="adj" fmla="val 18421"/>
            </a:avLst>
          </a:prstGeom>
          <a:solidFill xmlns:a="http://schemas.openxmlformats.org/drawingml/2006/main">
            <a:srgbClr val="6B46C7"/>
          </a:solidFill>
        </p:spPr>
      </p:sp>
      <p:sp>
        <p:nvSpPr>
          <p:cNvPr id="23" name="Text 21">
            <a:extLst xmlns:a="http://schemas.openxmlformats.org/drawingml/2006/main">
              <a:ext uri="{FF2B5EF4-FFF2-40B4-BE49-F238E27FC236}">
                <a16:creationId xmlns:a16="http://schemas.microsoft.com/office/drawing/2014/main" id="{070BF4FB-EDF7-4F3F-9E07-27FF7B5392D8}"/>
              </a:ext>
            </a:extLst>
          </p:cNvPr>
          <p:cNvSpPr>
            <a:spLocks xmlns:a="http://schemas.openxmlformats.org/drawingml/2006/main" noGrp="1"/>
          </p:cNvSpPr>
          <p:nvPr/>
        </p:nvSpPr>
        <p:spPr>
          <a:xfrm xmlns:a="http://schemas.openxmlformats.org/drawingml/2006/main">
            <a:off x="1005840" y="450799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3</a:t>
            </a:r>
            <a:endParaRPr sz="1200"/>
          </a:p>
        </p:txBody>
      </p:sp>
      <p:sp>
        <p:nvSpPr>
          <p:cNvPr id="24" name="Text 22">
            <a:extLst xmlns:a="http://schemas.openxmlformats.org/drawingml/2006/main">
              <a:ext uri="{FF2B5EF4-FFF2-40B4-BE49-F238E27FC236}">
                <a16:creationId xmlns:a16="http://schemas.microsoft.com/office/drawing/2014/main" id="{A659BC9B-B53F-43DA-9773-F486879D650B}"/>
              </a:ext>
            </a:extLst>
          </p:cNvPr>
          <p:cNvSpPr>
            <a:spLocks xmlns:a="http://schemas.openxmlformats.org/drawingml/2006/main" noGrp="1"/>
          </p:cNvSpPr>
          <p:nvPr/>
        </p:nvSpPr>
        <p:spPr>
          <a:xfrm xmlns:a="http://schemas.openxmlformats.org/drawingml/2006/main">
            <a:off x="1517904" y="4361688"/>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40">
                <a:solidFill>
                  <a:srgbClr val="6B46C7"/>
                </a:solidFill>
                <a:latin typeface="Calibri"/>
                <a:ea typeface="Calibri"/>
                <a:cs typeface="Calibri"/>
              </a:rPr>
              <a:t>Origine 3</a:t>
            </a:r>
            <a:endParaRPr sz="950"/>
          </a:p>
        </p:txBody>
      </p:sp>
      <p:sp>
        <p:nvSpPr>
          <p:cNvPr id="25" name="Text 23">
            <a:extLst xmlns:a="http://schemas.openxmlformats.org/drawingml/2006/main">
              <a:ext uri="{FF2B5EF4-FFF2-40B4-BE49-F238E27FC236}">
                <a16:creationId xmlns:a16="http://schemas.microsoft.com/office/drawing/2014/main" id="{2B210BC7-8715-4F78-928A-D9DBEDAE928F}"/>
              </a:ext>
            </a:extLst>
          </p:cNvPr>
          <p:cNvSpPr>
            <a:spLocks xmlns:a="http://schemas.openxmlformats.org/drawingml/2006/main" noGrp="1"/>
          </p:cNvSpPr>
          <p:nvPr/>
        </p:nvSpPr>
        <p:spPr>
          <a:xfrm xmlns:a="http://schemas.openxmlformats.org/drawingml/2006/main">
            <a:off x="1517904" y="4636008"/>
            <a:ext cx="2926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6233D"/>
                </a:solidFill>
                <a:latin typeface="Calibri"/>
                <a:ea typeface="Calibri"/>
                <a:cs typeface="Calibri"/>
              </a:rPr>
              <a:t>Entraînement janv. → nov.</a:t>
            </a:r>
            <a:endParaRPr sz="1250"/>
          </a:p>
        </p:txBody>
      </p:sp>
      <p:sp>
        <p:nvSpPr>
          <p:cNvPr id="26" name="Text 24">
            <a:extLst xmlns:a="http://schemas.openxmlformats.org/drawingml/2006/main">
              <a:ext uri="{FF2B5EF4-FFF2-40B4-BE49-F238E27FC236}">
                <a16:creationId xmlns:a16="http://schemas.microsoft.com/office/drawing/2014/main" id="{581909E5-CE01-4419-896A-046AABAB5FBB}"/>
              </a:ext>
            </a:extLst>
          </p:cNvPr>
          <p:cNvSpPr>
            <a:spLocks xmlns:a="http://schemas.openxmlformats.org/drawingml/2006/main" noGrp="1"/>
          </p:cNvSpPr>
          <p:nvPr/>
        </p:nvSpPr>
        <p:spPr>
          <a:xfrm xmlns:a="http://schemas.openxmlformats.org/drawingml/2006/main">
            <a:off x="4434840" y="4636008"/>
            <a:ext cx="9144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E6A88"/>
                </a:solidFill>
                <a:latin typeface="Calibri"/>
                <a:ea typeface="Calibri"/>
                <a:cs typeface="Calibri"/>
              </a:rPr>
              <a:t>275 obs.</a:t>
            </a:r>
            <a:endParaRPr sz="1100"/>
          </a:p>
        </p:txBody>
      </p:sp>
      <p:sp>
        <p:nvSpPr>
          <p:cNvPr id="27" name="Text 25">
            <a:extLst xmlns:a="http://schemas.openxmlformats.org/drawingml/2006/main">
              <a:ext uri="{FF2B5EF4-FFF2-40B4-BE49-F238E27FC236}">
                <a16:creationId xmlns:a16="http://schemas.microsoft.com/office/drawing/2014/main" id="{0739E3E6-D6F7-49A1-BDB6-121651C4C58E}"/>
              </a:ext>
            </a:extLst>
          </p:cNvPr>
          <p:cNvSpPr>
            <a:spLocks xmlns:a="http://schemas.openxmlformats.org/drawingml/2006/main" noGrp="1"/>
          </p:cNvSpPr>
          <p:nvPr/>
        </p:nvSpPr>
        <p:spPr>
          <a:xfrm xmlns:a="http://schemas.openxmlformats.org/drawingml/2006/main">
            <a:off x="5349240" y="4599432"/>
            <a:ext cx="320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A78BFA"/>
                </a:solidFill>
                <a:latin typeface="Calibri"/>
                <a:ea typeface="Calibri"/>
                <a:cs typeface="Calibri"/>
              </a:rPr>
              <a:t>→</a:t>
            </a:r>
            <a:endParaRPr sz="1400"/>
          </a:p>
        </p:txBody>
      </p:sp>
      <p:sp>
        <p:nvSpPr>
          <p:cNvPr id="28" name="Text 26">
            <a:extLst xmlns:a="http://schemas.openxmlformats.org/drawingml/2006/main">
              <a:ext uri="{FF2B5EF4-FFF2-40B4-BE49-F238E27FC236}">
                <a16:creationId xmlns:a16="http://schemas.microsoft.com/office/drawing/2014/main" id="{B9589BE0-080A-4E16-B520-DCABC689BD7A}"/>
              </a:ext>
            </a:extLst>
          </p:cNvPr>
          <p:cNvSpPr>
            <a:spLocks xmlns:a="http://schemas.openxmlformats.org/drawingml/2006/main" noGrp="1"/>
          </p:cNvSpPr>
          <p:nvPr/>
        </p:nvSpPr>
        <p:spPr>
          <a:xfrm xmlns:a="http://schemas.openxmlformats.org/drawingml/2006/main">
            <a:off x="5669280" y="4636008"/>
            <a:ext cx="19202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4B2FA0"/>
                </a:solidFill>
                <a:latin typeface="Calibri"/>
                <a:ea typeface="Calibri"/>
                <a:cs typeface="Calibri"/>
              </a:rPr>
              <a:t>Prévision : décembre 2025</a:t>
            </a:r>
            <a:endParaRPr sz="1150"/>
          </a:p>
        </p:txBody>
      </p:sp>
      <p:sp>
        <p:nvSpPr>
          <p:cNvPr id="29" name="Shape 27">
            <a:extLst xmlns:a="http://schemas.openxmlformats.org/drawingml/2006/main">
              <a:ext uri="{FF2B5EF4-FFF2-40B4-BE49-F238E27FC236}">
                <a16:creationId xmlns:a16="http://schemas.microsoft.com/office/drawing/2014/main" id="{17D0128D-B36F-4E08-A35B-BC085CB71B5F}"/>
              </a:ext>
            </a:extLst>
          </p:cNvPr>
          <p:cNvSpPr>
            <a:spLocks xmlns:a="http://schemas.openxmlformats.org/drawingml/2006/main" noGrp="1"/>
          </p:cNvSpPr>
          <p:nvPr/>
        </p:nvSpPr>
        <p:spPr>
          <a:xfrm xmlns:a="http://schemas.openxmlformats.org/drawingml/2006/main">
            <a:off x="7882128" y="1965960"/>
            <a:ext cx="3593592" cy="3840480"/>
          </a:xfrm>
          <a:prstGeom xmlns:a="http://schemas.openxmlformats.org/drawingml/2006/main" prst="roundRect">
            <a:avLst>
              <a:gd name="adj" fmla="val 2545"/>
            </a:avLst>
          </a:prstGeom>
          <a:solidFill xmlns:a="http://schemas.openxmlformats.org/drawingml/2006/main">
            <a:srgbClr val="F6F5FB"/>
          </a:solidFill>
          <a:ln xmlns:a="http://schemas.openxmlformats.org/drawingml/2006/main" w="9525">
            <a:solidFill>
              <a:srgbClr val="E2DEF0"/>
            </a:solidFill>
            <a:prstDash val="solid"/>
          </a:ln>
          <a:effectLst xmlns:a="http://schemas.openxmlformats.org/drawingml/2006/main">
            <a:outerShdw blurRad="203200" dist="38100" dir="5400000" sx="100000" sy="100000" kx="0" ky="0" algn="bl" rotWithShape="0">
              <a:srgbClr val="3C2E7A">
                <a:alpha val="10000"/>
              </a:srgbClr>
            </a:outerShdw>
          </a:effectLst>
        </p:spPr>
      </p:sp>
      <p:sp>
        <p:nvSpPr>
          <p:cNvPr id="30" name="Text 28">
            <a:extLst xmlns:a="http://schemas.openxmlformats.org/drawingml/2006/main">
              <a:ext uri="{FF2B5EF4-FFF2-40B4-BE49-F238E27FC236}">
                <a16:creationId xmlns:a16="http://schemas.microsoft.com/office/drawing/2014/main" id="{0112E624-19FD-4F67-A74C-F4A524CC3304}"/>
              </a:ext>
            </a:extLst>
          </p:cNvPr>
          <p:cNvSpPr>
            <a:spLocks xmlns:a="http://schemas.openxmlformats.org/drawingml/2006/main" noGrp="1"/>
          </p:cNvSpPr>
          <p:nvPr/>
        </p:nvSpPr>
        <p:spPr>
          <a:xfrm xmlns:a="http://schemas.openxmlformats.org/drawingml/2006/main">
            <a:off x="8174736" y="2176272"/>
            <a:ext cx="3017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B2FA0"/>
                </a:solidFill>
                <a:latin typeface="Cambria"/>
                <a:ea typeface="Cambria"/>
                <a:cs typeface="Cambria"/>
              </a:rPr>
              <a:t>Fidèle au terrain</a:t>
            </a:r>
            <a:endParaRPr sz="1350"/>
          </a:p>
        </p:txBody>
      </p:sp>
      <p:sp>
        <p:nvSpPr>
          <p:cNvPr id="31" name="Text 29">
            <a:extLst xmlns:a="http://schemas.openxmlformats.org/drawingml/2006/main">
              <a:ext uri="{FF2B5EF4-FFF2-40B4-BE49-F238E27FC236}">
                <a16:creationId xmlns:a16="http://schemas.microsoft.com/office/drawing/2014/main" id="{2406C3B9-CB00-4A50-ADFE-B6146AE53AD4}"/>
              </a:ext>
            </a:extLst>
          </p:cNvPr>
          <p:cNvSpPr>
            <a:spLocks xmlns:a="http://schemas.openxmlformats.org/drawingml/2006/main" noGrp="1"/>
          </p:cNvSpPr>
          <p:nvPr/>
        </p:nvSpPr>
        <p:spPr>
          <a:xfrm xmlns:a="http://schemas.openxmlformats.org/drawingml/2006/main">
            <a:off x="8174736" y="24688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050">
                <a:solidFill>
                  <a:srgbClr val="6E6A88"/>
                </a:solidFill>
                <a:latin typeface="Calibri"/>
                <a:ea typeface="Calibri"/>
                <a:cs typeface="Calibri"/>
              </a:rPr>
              <a:t>Chaque mois est prévu dans les conditions exactes d'une prévision produite en fin de mois précédent — c'est le fonctionnement réel d'un rolling forecast.</a:t>
            </a:r>
            <a:endParaRPr sz="1050"/>
          </a:p>
        </p:txBody>
      </p:sp>
      <p:sp>
        <p:nvSpPr>
          <p:cNvPr id="32" name="Text 30">
            <a:extLst xmlns:a="http://schemas.openxmlformats.org/drawingml/2006/main">
              <a:ext uri="{FF2B5EF4-FFF2-40B4-BE49-F238E27FC236}">
                <a16:creationId xmlns:a16="http://schemas.microsoft.com/office/drawing/2014/main" id="{115FDB7B-3438-4180-820D-53B0938824B8}"/>
              </a:ext>
            </a:extLst>
          </p:cNvPr>
          <p:cNvSpPr>
            <a:spLocks xmlns:a="http://schemas.openxmlformats.org/drawingml/2006/main" noGrp="1"/>
          </p:cNvSpPr>
          <p:nvPr/>
        </p:nvSpPr>
        <p:spPr>
          <a:xfrm xmlns:a="http://schemas.openxmlformats.org/drawingml/2006/main">
            <a:off x="8174736" y="3346704"/>
            <a:ext cx="3017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B2FA0"/>
                </a:solidFill>
                <a:latin typeface="Cambria"/>
                <a:ea typeface="Cambria"/>
                <a:cs typeface="Cambria"/>
              </a:rPr>
              <a:t>Trois évaluations</a:t>
            </a:r>
            <a:endParaRPr sz="1350"/>
          </a:p>
        </p:txBody>
      </p:sp>
      <p:sp>
        <p:nvSpPr>
          <p:cNvPr id="33" name="Text 31">
            <a:extLst xmlns:a="http://schemas.openxmlformats.org/drawingml/2006/main">
              <a:ext uri="{FF2B5EF4-FFF2-40B4-BE49-F238E27FC236}">
                <a16:creationId xmlns:a16="http://schemas.microsoft.com/office/drawing/2014/main" id="{3C9754ED-CE5F-476F-971D-F968FB11C062}"/>
              </a:ext>
            </a:extLst>
          </p:cNvPr>
          <p:cNvSpPr>
            <a:spLocks xmlns:a="http://schemas.openxmlformats.org/drawingml/2006/main" noGrp="1"/>
          </p:cNvSpPr>
          <p:nvPr/>
        </p:nvSpPr>
        <p:spPr>
          <a:xfrm xmlns:a="http://schemas.openxmlformats.org/drawingml/2006/main">
            <a:off x="8174736" y="3639312"/>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050">
                <a:solidFill>
                  <a:srgbClr val="6E6A88"/>
                </a:solidFill>
                <a:latin typeface="Calibri"/>
                <a:ea typeface="Calibri"/>
                <a:cs typeface="Calibri"/>
              </a:rPr>
              <a:t>Au lieu d'une seule : on vérifie si la conclusion se maintient sur chaque origine ou si elle dépend d'une période particulière.</a:t>
            </a:r>
            <a:endParaRPr sz="1050"/>
          </a:p>
        </p:txBody>
      </p:sp>
      <p:sp>
        <p:nvSpPr>
          <p:cNvPr id="34" name="Text 32">
            <a:extLst xmlns:a="http://schemas.openxmlformats.org/drawingml/2006/main">
              <a:ext uri="{FF2B5EF4-FFF2-40B4-BE49-F238E27FC236}">
                <a16:creationId xmlns:a16="http://schemas.microsoft.com/office/drawing/2014/main" id="{B4C826D4-DBCB-400B-90A2-8035F3DEE526}"/>
              </a:ext>
            </a:extLst>
          </p:cNvPr>
          <p:cNvSpPr>
            <a:spLocks xmlns:a="http://schemas.openxmlformats.org/drawingml/2006/main" noGrp="1"/>
          </p:cNvSpPr>
          <p:nvPr/>
        </p:nvSpPr>
        <p:spPr>
          <a:xfrm xmlns:a="http://schemas.openxmlformats.org/drawingml/2006/main">
            <a:off x="8174736" y="4517136"/>
            <a:ext cx="3017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B2FA0"/>
                </a:solidFill>
                <a:latin typeface="Cambria"/>
                <a:ea typeface="Cambria"/>
                <a:cs typeface="Cambria"/>
              </a:rPr>
              <a:t>Réglage sans fuite</a:t>
            </a:r>
            <a:endParaRPr sz="1350"/>
          </a:p>
        </p:txBody>
      </p:sp>
      <p:sp>
        <p:nvSpPr>
          <p:cNvPr id="35" name="Text 33">
            <a:extLst xmlns:a="http://schemas.openxmlformats.org/drawingml/2006/main">
              <a:ext uri="{FF2B5EF4-FFF2-40B4-BE49-F238E27FC236}">
                <a16:creationId xmlns:a16="http://schemas.microsoft.com/office/drawing/2014/main" id="{C2AEFB9A-9776-41D8-B70B-69508B7854D1}"/>
              </a:ext>
            </a:extLst>
          </p:cNvPr>
          <p:cNvSpPr>
            <a:spLocks xmlns:a="http://schemas.openxmlformats.org/drawingml/2006/main" noGrp="1"/>
          </p:cNvSpPr>
          <p:nvPr/>
        </p:nvSpPr>
        <p:spPr>
          <a:xfrm xmlns:a="http://schemas.openxmlformats.org/drawingml/2006/main">
            <a:off x="8174736" y="4809744"/>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050">
                <a:solidFill>
                  <a:srgbClr val="6E6A88"/>
                </a:solidFill>
                <a:latin typeface="Calibri"/>
                <a:ea typeface="Calibri"/>
                <a:cs typeface="Calibri"/>
              </a:rPr>
              <a:t>Cherchés à l'intérieur de chaque origine, sur les seuls mois antérieurs. Les configurations retenues varient fortement d'une origine à l'autre : signature d'un échantillon insuffisant.</a:t>
            </a:r>
            <a:endParaRPr sz="1050"/>
          </a:p>
        </p:txBody>
      </p:sp>
      <p:sp>
        <p:nvSpPr>
          <p:cNvPr id="36" name="!!footer_label">
            <a:extLst xmlns:a="http://schemas.openxmlformats.org/drawingml/2006/main">
              <a:ext uri="{FF2B5EF4-FFF2-40B4-BE49-F238E27FC236}">
                <a16:creationId xmlns:a16="http://schemas.microsoft.com/office/drawing/2014/main" id="{79541513-F2E2-4DCC-87BC-017723DFD092}"/>
              </a:ext>
            </a:extLst>
          </p:cNvPr>
          <p:cNvSpPr>
            <a:spLocks xmlns:a="http://schemas.openxmlformats.org/drawingml/2006/main" noGrp="1"/>
          </p:cNvSpPr>
          <p:nvPr/>
        </p:nvSpPr>
        <p:spPr>
          <a:xfrm xmlns:a="http://schemas.openxmlformats.org/drawingml/2006/main">
            <a:off x="713232" y="6345936"/>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60">
                <a:solidFill>
                  <a:srgbClr val="A5A1B8"/>
                </a:solidFill>
                <a:latin typeface="Calibri"/>
                <a:ea typeface="Calibri"/>
                <a:cs typeface="Calibri"/>
              </a:rPr>
              <a:t>02 · Démarche &amp; contrôle financier</a:t>
            </a:r>
            <a:endParaRPr sz="900"/>
          </a:p>
        </p:txBody>
      </p:sp>
      <p:sp>
        <p:nvSpPr>
          <p:cNvPr id="37" name="!!footer_page">
            <a:extLst xmlns:a="http://schemas.openxmlformats.org/drawingml/2006/main">
              <a:ext uri="{FF2B5EF4-FFF2-40B4-BE49-F238E27FC236}">
                <a16:creationId xmlns:a16="http://schemas.microsoft.com/office/drawing/2014/main" id="{44281057-7A7F-4BB3-95F9-7BF4151C7047}"/>
              </a:ext>
            </a:extLst>
          </p:cNvPr>
          <p:cNvSpPr>
            <a:spLocks xmlns:a="http://schemas.openxmlformats.org/drawingml/2006/main" noGrp="1"/>
          </p:cNvSpPr>
          <p:nvPr/>
        </p:nvSpPr>
        <p:spPr>
          <a:xfrm xmlns:a="http://schemas.openxmlformats.org/drawingml/2006/main">
            <a:off x="10972800" y="6345936"/>
            <a:ext cx="502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b="1">
                <a:solidFill>
                  <a:srgbClr val="6B46C7"/>
                </a:solidFill>
                <a:latin typeface="Calibri"/>
                <a:ea typeface="Calibri"/>
                <a:cs typeface="Calibri"/>
              </a:rPr>
              <a:t>8</a:t>
            </a:r>
            <a:endParaRPr sz="950"/>
          </a:p>
        </p:txBody>
      </p:sp>
    </p:spTree>
    <p:extLst>
      <p:ext uri="{BB962C8B-B14F-4D97-AF65-F5344CB8AC3E}">
        <p14:creationId xmlns:p14="http://schemas.microsoft.com/office/powerpoint/2010/main" val="915089786"/>
      </p:ext>
    </p:extLst>
  </p:cSld>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eyebrow">
            <a:extLst xmlns:a="http://schemas.openxmlformats.org/drawingml/2006/main">
              <a:ext uri="{FF2B5EF4-FFF2-40B4-BE49-F238E27FC236}">
                <a16:creationId xmlns:a16="http://schemas.microsoft.com/office/drawing/2014/main" id="{239B8D34-BA70-4900-A8F0-A338D52108FC}"/>
              </a:ext>
            </a:extLst>
          </p:cNvPr>
          <p:cNvSpPr>
            <a:spLocks xmlns:a="http://schemas.openxmlformats.org/drawingml/2006/main" noGrp="1"/>
          </p:cNvSpPr>
          <p:nvPr/>
        </p:nvSpPr>
        <p:spPr>
          <a:xfrm xmlns:a="http://schemas.openxmlformats.org/drawingml/2006/main">
            <a:off x="713232" y="384048"/>
            <a:ext cx="10789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220">
                <a:solidFill>
                  <a:srgbClr val="6B46C7"/>
                </a:solidFill>
                <a:latin typeface="Calibri"/>
                <a:ea typeface="Calibri"/>
                <a:cs typeface="Calibri"/>
              </a:rPr>
              <a:t>RÉFÉRENTIEL</a:t>
            </a:r>
            <a:endParaRPr sz="1000"/>
          </a:p>
        </p:txBody>
      </p:sp>
      <p:sp>
        <p:nvSpPr>
          <p:cNvPr id="3" name="!!title">
            <a:extLst xmlns:a="http://schemas.openxmlformats.org/drawingml/2006/main">
              <a:ext uri="{FF2B5EF4-FFF2-40B4-BE49-F238E27FC236}">
                <a16:creationId xmlns:a16="http://schemas.microsoft.com/office/drawing/2014/main" id="{18FA9B21-EA77-4D3A-87E8-CBEBFD9D72E1}"/>
              </a:ext>
            </a:extLst>
          </p:cNvPr>
          <p:cNvSpPr>
            <a:spLocks xmlns:a="http://schemas.openxmlformats.org/drawingml/2006/main" noGrp="1"/>
          </p:cNvSpPr>
          <p:nvPr/>
        </p:nvSpPr>
        <p:spPr>
          <a:xfrm xmlns:a="http://schemas.openxmlformats.org/drawingml/2006/main">
            <a:off x="713232" y="621792"/>
            <a:ext cx="10515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41230"/>
                </a:solidFill>
                <a:latin typeface="Cambria"/>
                <a:ea typeface="Cambria"/>
                <a:cs typeface="Cambria"/>
              </a:rPr>
              <a:t>Référentiel de prévision et facteurs explicatifs</a:t>
            </a:r>
            <a:endParaRPr sz="2700"/>
          </a:p>
        </p:txBody>
      </p:sp>
      <p:sp>
        <p:nvSpPr>
          <p:cNvPr id="4" name="!!subtitle">
            <a:extLst xmlns:a="http://schemas.openxmlformats.org/drawingml/2006/main">
              <a:ext uri="{FF2B5EF4-FFF2-40B4-BE49-F238E27FC236}">
                <a16:creationId xmlns:a16="http://schemas.microsoft.com/office/drawing/2014/main" id="{39954DC6-50C2-4F38-A181-35A9B0342073}"/>
              </a:ext>
            </a:extLst>
          </p:cNvPr>
          <p:cNvSpPr>
            <a:spLocks xmlns:a="http://schemas.openxmlformats.org/drawingml/2006/main" noGrp="1"/>
          </p:cNvSpPr>
          <p:nvPr/>
        </p:nvSpPr>
        <p:spPr>
          <a:xfrm xmlns:a="http://schemas.openxmlformats.org/drawingml/2006/main">
            <a:off x="713232" y="1188720"/>
            <a:ext cx="96926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300">
                <a:solidFill>
                  <a:srgbClr val="6E6A88"/>
                </a:solidFill>
                <a:latin typeface="Calibri"/>
                <a:ea typeface="Calibri"/>
                <a:cs typeface="Calibri"/>
              </a:rPr>
              <a:t>Le modèle avancé n'est jugé pertinent que s'il apporte une amélioration mesurable par rapport à une règle simple.</a:t>
            </a:r>
            <a:endParaRPr sz="1300"/>
          </a:p>
        </p:txBody>
      </p:sp>
      <p:sp>
        <p:nvSpPr>
          <p:cNvPr id="5" name="Shape 3">
            <a:extLst xmlns:a="http://schemas.openxmlformats.org/drawingml/2006/main">
              <a:ext uri="{FF2B5EF4-FFF2-40B4-BE49-F238E27FC236}">
                <a16:creationId xmlns:a16="http://schemas.microsoft.com/office/drawing/2014/main" id="{35244314-EDB6-41CA-924F-7A4CA49C4E29}"/>
              </a:ext>
            </a:extLst>
          </p:cNvPr>
          <p:cNvSpPr>
            <a:spLocks xmlns:a="http://schemas.openxmlformats.org/drawingml/2006/main" noGrp="1"/>
          </p:cNvSpPr>
          <p:nvPr/>
        </p:nvSpPr>
        <p:spPr>
          <a:xfrm xmlns:a="http://schemas.openxmlformats.org/drawingml/2006/main">
            <a:off x="713232" y="1783080"/>
            <a:ext cx="6675120" cy="3794760"/>
          </a:xfrm>
          <a:prstGeom xmlns:a="http://schemas.openxmlformats.org/drawingml/2006/main" prst="roundRect">
            <a:avLst>
              <a:gd name="adj" fmla="val 2410"/>
            </a:avLst>
          </a:prstGeom>
          <a:solidFill xmlns:a="http://schemas.openxmlformats.org/drawingml/2006/main">
            <a:srgbClr val="FFFFFF"/>
          </a:solidFill>
          <a:ln xmlns:a="http://schemas.openxmlformats.org/drawingml/2006/main" w="9525">
            <a:solidFill>
              <a:srgbClr val="E2DEF0"/>
            </a:solidFill>
            <a:prstDash val="solid"/>
          </a:ln>
          <a:effectLst xmlns:a="http://schemas.openxmlformats.org/drawingml/2006/main">
            <a:outerShdw blurRad="203200" dist="38100" dir="5400000" sx="100000" sy="100000" kx="0" ky="0" algn="bl" rotWithShape="0">
              <a:srgbClr val="3C2E7A">
                <a:alpha val="10000"/>
              </a:srgbClr>
            </a:outerShdw>
          </a:effectLst>
        </p:spPr>
      </p:sp>
      <p:sp>
        <p:nvSpPr>
          <p:cNvPr id="6" name="Text 4">
            <a:extLst xmlns:a="http://schemas.openxmlformats.org/drawingml/2006/main">
              <a:ext uri="{FF2B5EF4-FFF2-40B4-BE49-F238E27FC236}">
                <a16:creationId xmlns:a16="http://schemas.microsoft.com/office/drawing/2014/main" id="{53B447BC-668C-41C2-B01D-C572D6895C35}"/>
              </a:ext>
            </a:extLst>
          </p:cNvPr>
          <p:cNvSpPr>
            <a:spLocks xmlns:a="http://schemas.openxmlformats.org/drawingml/2006/main" noGrp="1"/>
          </p:cNvSpPr>
          <p:nvPr/>
        </p:nvSpPr>
        <p:spPr>
          <a:xfrm xmlns:a="http://schemas.openxmlformats.org/drawingml/2006/main">
            <a:off x="1005840" y="2011680"/>
            <a:ext cx="60350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60">
                <a:solidFill>
                  <a:srgbClr val="6B46C7"/>
                </a:solidFill>
                <a:latin typeface="Calibri"/>
                <a:ea typeface="Calibri"/>
                <a:cs typeface="Calibri"/>
              </a:rPr>
              <a:t>LES 10 VARIABLES DU VOLET RÉEL</a:t>
            </a:r>
            <a:endParaRPr sz="950"/>
          </a:p>
        </p:txBody>
      </p:sp>
      <p:sp>
        <p:nvSpPr>
          <p:cNvPr id="7" name="Text 5">
            <a:extLst xmlns:a="http://schemas.openxmlformats.org/drawingml/2006/main">
              <a:ext uri="{FF2B5EF4-FFF2-40B4-BE49-F238E27FC236}">
                <a16:creationId xmlns:a16="http://schemas.microsoft.com/office/drawing/2014/main" id="{1D9AFF83-8A96-4087-96D5-AD673A24DAE4}"/>
              </a:ext>
            </a:extLst>
          </p:cNvPr>
          <p:cNvSpPr>
            <a:spLocks xmlns:a="http://schemas.openxmlformats.org/drawingml/2006/main" noGrp="1"/>
          </p:cNvSpPr>
          <p:nvPr/>
        </p:nvSpPr>
        <p:spPr>
          <a:xfrm xmlns:a="http://schemas.openxmlformats.org/drawingml/2006/main">
            <a:off x="1005840" y="237744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41230"/>
                </a:solidFill>
                <a:latin typeface="Cambria"/>
                <a:ea typeface="Cambria"/>
                <a:cs typeface="Cambria"/>
              </a:rPr>
              <a:t>Calendaires (4)</a:t>
            </a:r>
            <a:endParaRPr sz="1300"/>
          </a:p>
        </p:txBody>
      </p:sp>
      <p:sp>
        <p:nvSpPr>
          <p:cNvPr id="8" name="Text 6">
            <a:extLst xmlns:a="http://schemas.openxmlformats.org/drawingml/2006/main">
              <a:ext uri="{FF2B5EF4-FFF2-40B4-BE49-F238E27FC236}">
                <a16:creationId xmlns:a16="http://schemas.microsoft.com/office/drawing/2014/main" id="{FCF0C607-D8ED-42BC-AE7A-6C687A9B8280}"/>
              </a:ext>
            </a:extLst>
          </p:cNvPr>
          <p:cNvSpPr>
            <a:spLocks xmlns:a="http://schemas.openxmlformats.org/drawingml/2006/main" noGrp="1"/>
          </p:cNvSpPr>
          <p:nvPr/>
        </p:nvSpPr>
        <p:spPr>
          <a:xfrm xmlns:a="http://schemas.openxmlformats.org/drawingml/2006/main">
            <a:off x="2880360" y="2377440"/>
            <a:ext cx="4206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B2FA0"/>
                </a:solidFill>
                <a:latin typeface="Courier New"/>
                <a:ea typeface="Courier New"/>
                <a:cs typeface="Courier New"/>
              </a:rPr>
              <a:t>month, quarter, month_sin, month_cos</a:t>
            </a:r>
            <a:endParaRPr sz="1050"/>
          </a:p>
        </p:txBody>
      </p:sp>
      <p:sp>
        <p:nvSpPr>
          <p:cNvPr id="9" name="Text 7">
            <a:extLst xmlns:a="http://schemas.openxmlformats.org/drawingml/2006/main">
              <a:ext uri="{FF2B5EF4-FFF2-40B4-BE49-F238E27FC236}">
                <a16:creationId xmlns:a16="http://schemas.microsoft.com/office/drawing/2014/main" id="{D142332D-2387-44C8-B7CE-328242ADDBF9}"/>
              </a:ext>
            </a:extLst>
          </p:cNvPr>
          <p:cNvSpPr>
            <a:spLocks xmlns:a="http://schemas.openxmlformats.org/drawingml/2006/main" noGrp="1"/>
          </p:cNvSpPr>
          <p:nvPr/>
        </p:nvSpPr>
        <p:spPr>
          <a:xfrm xmlns:a="http://schemas.openxmlformats.org/drawingml/2006/main">
            <a:off x="2880360" y="2651760"/>
            <a:ext cx="42062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E6A88"/>
                </a:solidFill>
                <a:latin typeface="Calibri"/>
                <a:ea typeface="Calibri"/>
                <a:cs typeface="Calibri"/>
              </a:rPr>
              <a:t>Position de l'observation et encodage cyclique du mois</a:t>
            </a:r>
            <a:endParaRPr sz="1050"/>
          </a:p>
        </p:txBody>
      </p:sp>
      <p:sp>
        <p:nvSpPr>
          <p:cNvPr id="10" name="Text 8">
            <a:extLst xmlns:a="http://schemas.openxmlformats.org/drawingml/2006/main">
              <a:ext uri="{FF2B5EF4-FFF2-40B4-BE49-F238E27FC236}">
                <a16:creationId xmlns:a16="http://schemas.microsoft.com/office/drawing/2014/main" id="{E5B0B894-016D-4543-ABD0-83EB11C4352A}"/>
              </a:ext>
            </a:extLst>
          </p:cNvPr>
          <p:cNvSpPr>
            <a:spLocks xmlns:a="http://schemas.openxmlformats.org/drawingml/2006/main" noGrp="1"/>
          </p:cNvSpPr>
          <p:nvPr/>
        </p:nvSpPr>
        <p:spPr>
          <a:xfrm xmlns:a="http://schemas.openxmlformats.org/drawingml/2006/main">
            <a:off x="1005840" y="3163824"/>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41230"/>
                </a:solidFill>
                <a:latin typeface="Cambria"/>
                <a:ea typeface="Cambria"/>
                <a:cs typeface="Cambria"/>
              </a:rPr>
              <a:t>Catégorielle (1)</a:t>
            </a:r>
            <a:endParaRPr sz="1300"/>
          </a:p>
        </p:txBody>
      </p:sp>
      <p:sp>
        <p:nvSpPr>
          <p:cNvPr id="11" name="Text 9">
            <a:extLst xmlns:a="http://schemas.openxmlformats.org/drawingml/2006/main">
              <a:ext uri="{FF2B5EF4-FFF2-40B4-BE49-F238E27FC236}">
                <a16:creationId xmlns:a16="http://schemas.microsoft.com/office/drawing/2014/main" id="{E197C896-8AA4-49E5-ABBD-6089AE125FEA}"/>
              </a:ext>
            </a:extLst>
          </p:cNvPr>
          <p:cNvSpPr>
            <a:spLocks xmlns:a="http://schemas.openxmlformats.org/drawingml/2006/main" noGrp="1"/>
          </p:cNvSpPr>
          <p:nvPr/>
        </p:nvSpPr>
        <p:spPr>
          <a:xfrm xmlns:a="http://schemas.openxmlformats.org/drawingml/2006/main">
            <a:off x="2880360" y="3163824"/>
            <a:ext cx="4206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B2FA0"/>
                </a:solidFill>
                <a:latin typeface="Courier New"/>
                <a:ea typeface="Courier New"/>
                <a:cs typeface="Courier New"/>
              </a:rPr>
              <a:t>section_code</a:t>
            </a:r>
            <a:endParaRPr sz="1050"/>
          </a:p>
        </p:txBody>
      </p:sp>
      <p:sp>
        <p:nvSpPr>
          <p:cNvPr id="12" name="Text 10">
            <a:extLst xmlns:a="http://schemas.openxmlformats.org/drawingml/2006/main">
              <a:ext uri="{FF2B5EF4-FFF2-40B4-BE49-F238E27FC236}">
                <a16:creationId xmlns:a16="http://schemas.microsoft.com/office/drawing/2014/main" id="{9DA141EF-74AE-4345-90A3-F90BAA013ACE}"/>
              </a:ext>
            </a:extLst>
          </p:cNvPr>
          <p:cNvSpPr>
            <a:spLocks xmlns:a="http://schemas.openxmlformats.org/drawingml/2006/main" noGrp="1"/>
          </p:cNvSpPr>
          <p:nvPr/>
        </p:nvSpPr>
        <p:spPr>
          <a:xfrm xmlns:a="http://schemas.openxmlformats.org/drawingml/2006/main">
            <a:off x="2880360" y="3438144"/>
            <a:ext cx="42062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E6A88"/>
                </a:solidFill>
                <a:latin typeface="Calibri"/>
                <a:ea typeface="Calibri"/>
                <a:cs typeface="Calibri"/>
              </a:rPr>
              <a:t>Section analytique encodée en identifiant numérique ordinal (label encoding) — une seule colonne pour les 25 sections</a:t>
            </a:r>
            <a:endParaRPr sz="1050"/>
          </a:p>
        </p:txBody>
      </p:sp>
      <p:sp>
        <p:nvSpPr>
          <p:cNvPr id="13" name="Text 11">
            <a:extLst xmlns:a="http://schemas.openxmlformats.org/drawingml/2006/main">
              <a:ext uri="{FF2B5EF4-FFF2-40B4-BE49-F238E27FC236}">
                <a16:creationId xmlns:a16="http://schemas.microsoft.com/office/drawing/2014/main" id="{3D27788C-567A-449A-8344-69690C941E00}"/>
              </a:ext>
            </a:extLst>
          </p:cNvPr>
          <p:cNvSpPr>
            <a:spLocks xmlns:a="http://schemas.openxmlformats.org/drawingml/2006/main" noGrp="1"/>
          </p:cNvSpPr>
          <p:nvPr/>
        </p:nvSpPr>
        <p:spPr>
          <a:xfrm xmlns:a="http://schemas.openxmlformats.org/drawingml/2006/main">
            <a:off x="1005840" y="3950208"/>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41230"/>
                </a:solidFill>
                <a:latin typeface="Cambria"/>
                <a:ea typeface="Cambria"/>
                <a:cs typeface="Cambria"/>
              </a:rPr>
              <a:t>Historique cible (5)</a:t>
            </a:r>
            <a:endParaRPr sz="1300"/>
          </a:p>
        </p:txBody>
      </p:sp>
      <p:sp>
        <p:nvSpPr>
          <p:cNvPr id="14" name="Text 12">
            <a:extLst xmlns:a="http://schemas.openxmlformats.org/drawingml/2006/main">
              <a:ext uri="{FF2B5EF4-FFF2-40B4-BE49-F238E27FC236}">
                <a16:creationId xmlns:a16="http://schemas.microsoft.com/office/drawing/2014/main" id="{CA3FAB6D-05DD-49E6-976C-74BC18A03CB6}"/>
              </a:ext>
            </a:extLst>
          </p:cNvPr>
          <p:cNvSpPr>
            <a:spLocks xmlns:a="http://schemas.openxmlformats.org/drawingml/2006/main" noGrp="1"/>
          </p:cNvSpPr>
          <p:nvPr/>
        </p:nvSpPr>
        <p:spPr>
          <a:xfrm xmlns:a="http://schemas.openxmlformats.org/drawingml/2006/main">
            <a:off x="2880360" y="3950208"/>
            <a:ext cx="4206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B2FA0"/>
                </a:solidFill>
                <a:latin typeface="Courier New"/>
                <a:ea typeface="Courier New"/>
                <a:cs typeface="Courier New"/>
              </a:rPr>
              <a:t>lag_1, lag_2, lag_3, rollmean_2, rollmean_3</a:t>
            </a:r>
            <a:endParaRPr sz="1050"/>
          </a:p>
        </p:txBody>
      </p:sp>
      <p:sp>
        <p:nvSpPr>
          <p:cNvPr id="15" name="Text 13">
            <a:extLst xmlns:a="http://schemas.openxmlformats.org/drawingml/2006/main">
              <a:ext uri="{FF2B5EF4-FFF2-40B4-BE49-F238E27FC236}">
                <a16:creationId xmlns:a16="http://schemas.microsoft.com/office/drawing/2014/main" id="{A3404882-5680-436D-ADA9-08504284EE63}"/>
              </a:ext>
            </a:extLst>
          </p:cNvPr>
          <p:cNvSpPr>
            <a:spLocks xmlns:a="http://schemas.openxmlformats.org/drawingml/2006/main" noGrp="1"/>
          </p:cNvSpPr>
          <p:nvPr/>
        </p:nvSpPr>
        <p:spPr>
          <a:xfrm xmlns:a="http://schemas.openxmlformats.org/drawingml/2006/main">
            <a:off x="2880360" y="4224528"/>
            <a:ext cx="42062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E6A88"/>
                </a:solidFill>
                <a:latin typeface="Calibri"/>
                <a:ea typeface="Calibri"/>
                <a:cs typeface="Calibri"/>
              </a:rPr>
              <a:t>Mémoire récente de chaque série, strictement décalée</a:t>
            </a:r>
            <a:endParaRPr sz="1050"/>
          </a:p>
        </p:txBody>
      </p:sp>
      <p:sp>
        <p:nvSpPr>
          <p:cNvPr id="16" name="Text 14">
            <a:extLst xmlns:a="http://schemas.openxmlformats.org/drawingml/2006/main">
              <a:ext uri="{FF2B5EF4-FFF2-40B4-BE49-F238E27FC236}">
                <a16:creationId xmlns:a16="http://schemas.microsoft.com/office/drawing/2014/main" id="{46207246-A655-4566-B542-F68722A5328C}"/>
              </a:ext>
            </a:extLst>
          </p:cNvPr>
          <p:cNvSpPr>
            <a:spLocks xmlns:a="http://schemas.openxmlformats.org/drawingml/2006/main" noGrp="1"/>
          </p:cNvSpPr>
          <p:nvPr/>
        </p:nvSpPr>
        <p:spPr>
          <a:xfrm xmlns:a="http://schemas.openxmlformats.org/drawingml/2006/main">
            <a:off x="1005840" y="4754880"/>
            <a:ext cx="6035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100">
                <a:solidFill>
                  <a:srgbClr val="6E6A88"/>
                </a:solidFill>
                <a:latin typeface="Calibri"/>
                <a:ea typeface="Calibri"/>
                <a:cs typeface="Calibri"/>
              </a:rPr>
              <a:t>Sur le volet synthétique, 23 variables sont disponibles — dont le budget, le carnet de commandes, les effectifs et un décalage annuel. La profondeur de douze mois interdit ici tout lag_12 : l'effet de saisonnalité annuelle reste inaccessible au modèle.</a:t>
            </a:r>
            <a:endParaRPr sz="1100"/>
          </a:p>
        </p:txBody>
      </p:sp>
      <p:sp>
        <p:nvSpPr>
          <p:cNvPr id="17" name="Shape 15">
            <a:extLst xmlns:a="http://schemas.openxmlformats.org/drawingml/2006/main">
              <a:ext uri="{FF2B5EF4-FFF2-40B4-BE49-F238E27FC236}">
                <a16:creationId xmlns:a16="http://schemas.microsoft.com/office/drawing/2014/main" id="{9980C309-172F-4C3F-87B2-6F7E453B38C3}"/>
              </a:ext>
            </a:extLst>
          </p:cNvPr>
          <p:cNvSpPr>
            <a:spLocks xmlns:a="http://schemas.openxmlformats.org/drawingml/2006/main" noGrp="1"/>
          </p:cNvSpPr>
          <p:nvPr/>
        </p:nvSpPr>
        <p:spPr>
          <a:xfrm xmlns:a="http://schemas.openxmlformats.org/drawingml/2006/main">
            <a:off x="7882128" y="1783080"/>
            <a:ext cx="3593592" cy="3794760"/>
          </a:xfrm>
          <a:prstGeom xmlns:a="http://schemas.openxmlformats.org/drawingml/2006/main" prst="roundRect">
            <a:avLst>
              <a:gd name="adj" fmla="val 2545"/>
            </a:avLst>
          </a:prstGeom>
          <a:solidFill xmlns:a="http://schemas.openxmlformats.org/drawingml/2006/main">
            <a:srgbClr val="EFEBFA"/>
          </a:solidFill>
          <a:ln xmlns:a="http://schemas.openxmlformats.org/drawingml/2006/main" w="9525">
            <a:solidFill>
              <a:srgbClr val="D9D2F1"/>
            </a:solidFill>
            <a:prstDash val="solid"/>
          </a:ln>
          <a:effectLst xmlns:a="http://schemas.openxmlformats.org/drawingml/2006/main">
            <a:outerShdw blurRad="203200" dist="38100" dir="5400000" sx="100000" sy="100000" kx="0" ky="0" algn="bl" rotWithShape="0">
              <a:srgbClr val="3C2E7A">
                <a:alpha val="10000"/>
              </a:srgbClr>
            </a:outerShdw>
          </a:effectLst>
        </p:spPr>
      </p:sp>
      <p:sp>
        <p:nvSpPr>
          <p:cNvPr id="18" name="Text 16">
            <a:extLst xmlns:a="http://schemas.openxmlformats.org/drawingml/2006/main">
              <a:ext uri="{FF2B5EF4-FFF2-40B4-BE49-F238E27FC236}">
                <a16:creationId xmlns:a16="http://schemas.microsoft.com/office/drawing/2014/main" id="{05A87609-DDAE-4919-A19D-75F872B03D0D}"/>
              </a:ext>
            </a:extLst>
          </p:cNvPr>
          <p:cNvSpPr>
            <a:spLocks xmlns:a="http://schemas.openxmlformats.org/drawingml/2006/main" noGrp="1"/>
          </p:cNvSpPr>
          <p:nvPr/>
        </p:nvSpPr>
        <p:spPr>
          <a:xfrm xmlns:a="http://schemas.openxmlformats.org/drawingml/2006/main">
            <a:off x="8174736" y="2029968"/>
            <a:ext cx="30175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60">
                <a:solidFill>
                  <a:srgbClr val="6B46C7"/>
                </a:solidFill>
                <a:latin typeface="Calibri"/>
                <a:ea typeface="Calibri"/>
                <a:cs typeface="Calibri"/>
              </a:rPr>
              <a:t>BASELINE NAÏVE</a:t>
            </a:r>
            <a:endParaRPr sz="950"/>
          </a:p>
        </p:txBody>
      </p:sp>
      <p:sp>
        <p:nvSpPr>
          <p:cNvPr id="19" name="Text 17">
            <a:extLst xmlns:a="http://schemas.openxmlformats.org/drawingml/2006/main">
              <a:ext uri="{FF2B5EF4-FFF2-40B4-BE49-F238E27FC236}">
                <a16:creationId xmlns:a16="http://schemas.microsoft.com/office/drawing/2014/main" id="{E61BFE26-BA2E-4475-9071-3D866729FB46}"/>
              </a:ext>
            </a:extLst>
          </p:cNvPr>
          <p:cNvSpPr>
            <a:spLocks xmlns:a="http://schemas.openxmlformats.org/drawingml/2006/main" noGrp="1"/>
          </p:cNvSpPr>
          <p:nvPr/>
        </p:nvSpPr>
        <p:spPr>
          <a:xfrm xmlns:a="http://schemas.openxmlformats.org/drawingml/2006/main">
            <a:off x="8174736" y="2304288"/>
            <a:ext cx="30175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41230"/>
                </a:solidFill>
                <a:latin typeface="Cambria"/>
                <a:ea typeface="Cambria"/>
                <a:cs typeface="Cambria"/>
              </a:rPr>
              <a:t>La règle de persistance</a:t>
            </a:r>
            <a:endParaRPr sz="1700"/>
          </a:p>
        </p:txBody>
      </p:sp>
      <p:sp>
        <p:nvSpPr>
          <p:cNvPr id="20" name="Shape 18">
            <a:extLst xmlns:a="http://schemas.openxmlformats.org/drawingml/2006/main">
              <a:ext uri="{FF2B5EF4-FFF2-40B4-BE49-F238E27FC236}">
                <a16:creationId xmlns:a16="http://schemas.microsoft.com/office/drawing/2014/main" id="{5DEC7817-5962-4F4E-9224-A10DDC7676E4}"/>
              </a:ext>
            </a:extLst>
          </p:cNvPr>
          <p:cNvSpPr>
            <a:spLocks xmlns:a="http://schemas.openxmlformats.org/drawingml/2006/main" noGrp="1"/>
          </p:cNvSpPr>
          <p:nvPr/>
        </p:nvSpPr>
        <p:spPr>
          <a:xfrm xmlns:a="http://schemas.openxmlformats.org/drawingml/2006/main">
            <a:off x="8174736" y="2788920"/>
            <a:ext cx="3017520" cy="777240"/>
          </a:xfrm>
          <a:prstGeom xmlns:a="http://schemas.openxmlformats.org/drawingml/2006/main" prst="roundRect">
            <a:avLst>
              <a:gd name="adj" fmla="val 11765"/>
            </a:avLst>
          </a:prstGeom>
          <a:solidFill xmlns:a="http://schemas.openxmlformats.org/drawingml/2006/main">
            <a:srgbClr val="6B46C7"/>
          </a:solidFill>
        </p:spPr>
      </p:sp>
      <p:sp>
        <p:nvSpPr>
          <p:cNvPr id="21" name="Text 19">
            <a:extLst xmlns:a="http://schemas.openxmlformats.org/drawingml/2006/main">
              <a:ext uri="{FF2B5EF4-FFF2-40B4-BE49-F238E27FC236}">
                <a16:creationId xmlns:a16="http://schemas.microsoft.com/office/drawing/2014/main" id="{C33E4872-FC89-4B24-BC43-9EBB1C07DB45}"/>
              </a:ext>
            </a:extLst>
          </p:cNvPr>
          <p:cNvSpPr>
            <a:spLocks xmlns:a="http://schemas.openxmlformats.org/drawingml/2006/main" noGrp="1"/>
          </p:cNvSpPr>
          <p:nvPr/>
        </p:nvSpPr>
        <p:spPr>
          <a:xfrm xmlns:a="http://schemas.openxmlformats.org/drawingml/2006/main">
            <a:off x="8174736" y="2788920"/>
            <a:ext cx="30175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i="1">
                <a:solidFill>
                  <a:srgbClr val="FFFFFF"/>
                </a:solidFill>
                <a:latin typeface="Cambria"/>
                <a:ea typeface="Cambria"/>
                <a:cs typeface="Cambria"/>
              </a:rPr>
              <a:t>CA(t)  =  CA(t – 1)</a:t>
            </a:r>
            <a:endParaRPr sz="1900"/>
          </a:p>
        </p:txBody>
      </p:sp>
      <p:sp>
        <p:nvSpPr>
          <p:cNvPr id="22" name="Text 20">
            <a:extLst xmlns:a="http://schemas.openxmlformats.org/drawingml/2006/main">
              <a:ext uri="{FF2B5EF4-FFF2-40B4-BE49-F238E27FC236}">
                <a16:creationId xmlns:a16="http://schemas.microsoft.com/office/drawing/2014/main" id="{A4C07222-93B4-4577-AFA5-05B534CF7932}"/>
              </a:ext>
            </a:extLst>
          </p:cNvPr>
          <p:cNvSpPr>
            <a:spLocks xmlns:a="http://schemas.openxmlformats.org/drawingml/2006/main" noGrp="1"/>
          </p:cNvSpPr>
          <p:nvPr/>
        </p:nvSpPr>
        <p:spPr>
          <a:xfrm xmlns:a="http://schemas.openxmlformats.org/drawingml/2006/main">
            <a:off x="8174736" y="3730752"/>
            <a:ext cx="30175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100">
                <a:solidFill>
                  <a:srgbClr val="26233D"/>
                </a:solidFill>
                <a:latin typeface="Calibri"/>
                <a:ea typeface="Calibri"/>
                <a:cs typeface="Calibri"/>
              </a:rPr>
              <a:t>Le chiffre d'affaires prévu pour un mois est celui observé le mois précédent. Peu de données, aucun paramètre, coût de mise en œuvre nul — et une robustesse réelle quand l'historique est court.</a:t>
            </a:r>
            <a:endParaRPr sz="1100"/>
          </a:p>
        </p:txBody>
      </p:sp>
      <p:sp>
        <p:nvSpPr>
          <p:cNvPr id="23" name="Text 21">
            <a:extLst xmlns:a="http://schemas.openxmlformats.org/drawingml/2006/main">
              <a:ext uri="{FF2B5EF4-FFF2-40B4-BE49-F238E27FC236}">
                <a16:creationId xmlns:a16="http://schemas.microsoft.com/office/drawing/2014/main" id="{76DA5CC4-5133-4FB9-B72A-D74DC407495C}"/>
              </a:ext>
            </a:extLst>
          </p:cNvPr>
          <p:cNvSpPr>
            <a:spLocks xmlns:a="http://schemas.openxmlformats.org/drawingml/2006/main" noGrp="1"/>
          </p:cNvSpPr>
          <p:nvPr/>
        </p:nvSpPr>
        <p:spPr>
          <a:xfrm xmlns:a="http://schemas.openxmlformats.org/drawingml/2006/main">
            <a:off x="8174736" y="4800600"/>
            <a:ext cx="301752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050" i="1">
                <a:solidFill>
                  <a:srgbClr val="4B2FA0"/>
                </a:solidFill>
                <a:latin typeface="Calibri"/>
                <a:ea typeface="Calibri"/>
                <a:cs typeface="Calibri"/>
              </a:rPr>
              <a:t>Elle est évaluée sur les mêmes découpages et les mêmes métriques que XGBoost : elle fixe le niveau minimal de performance à dépasser.</a:t>
            </a:r>
            <a:endParaRPr sz="1050"/>
          </a:p>
        </p:txBody>
      </p:sp>
      <p:sp>
        <p:nvSpPr>
          <p:cNvPr id="24" name="!!footer_label">
            <a:extLst xmlns:a="http://schemas.openxmlformats.org/drawingml/2006/main">
              <a:ext uri="{FF2B5EF4-FFF2-40B4-BE49-F238E27FC236}">
                <a16:creationId xmlns:a16="http://schemas.microsoft.com/office/drawing/2014/main" id="{CFB3D656-85D4-46BC-9F82-641421A097CD}"/>
              </a:ext>
            </a:extLst>
          </p:cNvPr>
          <p:cNvSpPr>
            <a:spLocks xmlns:a="http://schemas.openxmlformats.org/drawingml/2006/main" noGrp="1"/>
          </p:cNvSpPr>
          <p:nvPr/>
        </p:nvSpPr>
        <p:spPr>
          <a:xfrm xmlns:a="http://schemas.openxmlformats.org/drawingml/2006/main">
            <a:off x="713232" y="6345936"/>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60">
                <a:solidFill>
                  <a:srgbClr val="A5A1B8"/>
                </a:solidFill>
                <a:latin typeface="Calibri"/>
                <a:ea typeface="Calibri"/>
                <a:cs typeface="Calibri"/>
              </a:rPr>
              <a:t>02 · Démarche &amp; contrôle financier</a:t>
            </a:r>
            <a:endParaRPr sz="900"/>
          </a:p>
        </p:txBody>
      </p:sp>
      <p:sp>
        <p:nvSpPr>
          <p:cNvPr id="25" name="!!footer_page">
            <a:extLst xmlns:a="http://schemas.openxmlformats.org/drawingml/2006/main">
              <a:ext uri="{FF2B5EF4-FFF2-40B4-BE49-F238E27FC236}">
                <a16:creationId xmlns:a16="http://schemas.microsoft.com/office/drawing/2014/main" id="{EAACC3D7-06CC-4F61-8796-90CBE8A75F94}"/>
              </a:ext>
            </a:extLst>
          </p:cNvPr>
          <p:cNvSpPr>
            <a:spLocks xmlns:a="http://schemas.openxmlformats.org/drawingml/2006/main" noGrp="1"/>
          </p:cNvSpPr>
          <p:nvPr/>
        </p:nvSpPr>
        <p:spPr>
          <a:xfrm xmlns:a="http://schemas.openxmlformats.org/drawingml/2006/main">
            <a:off x="10972800" y="6345936"/>
            <a:ext cx="502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b="1">
                <a:solidFill>
                  <a:srgbClr val="6B46C7"/>
                </a:solidFill>
                <a:latin typeface="Calibri"/>
                <a:ea typeface="Calibri"/>
                <a:cs typeface="Calibri"/>
              </a:rPr>
              <a:t>9</a:t>
            </a:r>
            <a:endParaRPr sz="950"/>
          </a:p>
        </p:txBody>
      </p:sp>
    </p:spTree>
    <p:extLst>
      <p:ext uri="{BB962C8B-B14F-4D97-AF65-F5344CB8AC3E}">
        <p14:creationId xmlns:p14="http://schemas.microsoft.com/office/powerpoint/2010/main" val="279771941"/>
      </p:ext>
    </p:extLst>
  </p:cSld>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eyebrow">
            <a:extLst xmlns:a="http://schemas.openxmlformats.org/drawingml/2006/main">
              <a:ext uri="{FF2B5EF4-FFF2-40B4-BE49-F238E27FC236}">
                <a16:creationId xmlns:a16="http://schemas.microsoft.com/office/drawing/2014/main" id="{69BD6457-8195-46FA-9148-12841C9EDACE}"/>
              </a:ext>
            </a:extLst>
          </p:cNvPr>
          <p:cNvSpPr>
            <a:spLocks xmlns:a="http://schemas.openxmlformats.org/drawingml/2006/main" noGrp="1"/>
          </p:cNvSpPr>
          <p:nvPr/>
        </p:nvSpPr>
        <p:spPr>
          <a:xfrm xmlns:a="http://schemas.openxmlformats.org/drawingml/2006/main">
            <a:off x="713232" y="384048"/>
            <a:ext cx="10789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220">
                <a:solidFill>
                  <a:srgbClr val="6B46C7"/>
                </a:solidFill>
                <a:latin typeface="Calibri"/>
                <a:ea typeface="Calibri"/>
                <a:cs typeface="Calibri"/>
              </a:rPr>
              <a:t>RECOMMANDATION</a:t>
            </a:r>
            <a:endParaRPr sz="1000"/>
          </a:p>
        </p:txBody>
      </p:sp>
      <p:sp>
        <p:nvSpPr>
          <p:cNvPr id="3" name="!!title">
            <a:extLst xmlns:a="http://schemas.openxmlformats.org/drawingml/2006/main">
              <a:ext uri="{FF2B5EF4-FFF2-40B4-BE49-F238E27FC236}">
                <a16:creationId xmlns:a16="http://schemas.microsoft.com/office/drawing/2014/main" id="{471B1641-D828-4858-9514-E09243ED4519}"/>
              </a:ext>
            </a:extLst>
          </p:cNvPr>
          <p:cNvSpPr>
            <a:spLocks xmlns:a="http://schemas.openxmlformats.org/drawingml/2006/main" noGrp="1"/>
          </p:cNvSpPr>
          <p:nvPr/>
        </p:nvSpPr>
        <p:spPr>
          <a:xfrm xmlns:a="http://schemas.openxmlformats.org/drawingml/2006/main">
            <a:off x="713232" y="621792"/>
            <a:ext cx="10515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41230"/>
                </a:solidFill>
                <a:latin typeface="Cambria"/>
                <a:ea typeface="Cambria"/>
                <a:cs typeface="Cambria"/>
              </a:rPr>
              <a:t>Décision recommandée : sécuriser avant d’industrialiser</a:t>
            </a:r>
            <a:endParaRPr sz="2700"/>
          </a:p>
        </p:txBody>
      </p:sp>
      <p:sp>
        <p:nvSpPr>
          <p:cNvPr id="4" name="!!subtitle">
            <a:extLst xmlns:a="http://schemas.openxmlformats.org/drawingml/2006/main">
              <a:ext uri="{FF2B5EF4-FFF2-40B4-BE49-F238E27FC236}">
                <a16:creationId xmlns:a16="http://schemas.microsoft.com/office/drawing/2014/main" id="{C3D82906-4D15-4527-B648-7265F4820A8A}"/>
              </a:ext>
            </a:extLst>
          </p:cNvPr>
          <p:cNvSpPr>
            <a:spLocks xmlns:a="http://schemas.openxmlformats.org/drawingml/2006/main" noGrp="1"/>
          </p:cNvSpPr>
          <p:nvPr/>
        </p:nvSpPr>
        <p:spPr>
          <a:xfrm xmlns:a="http://schemas.openxmlformats.org/drawingml/2006/main">
            <a:off x="713232" y="1188720"/>
            <a:ext cx="96926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300">
                <a:solidFill>
                  <a:srgbClr val="6E6A88"/>
                </a:solidFill>
                <a:latin typeface="Calibri"/>
                <a:ea typeface="Calibri"/>
                <a:cs typeface="Calibri"/>
              </a:rPr>
              <a:t>La feuille de route n’ouvre chaque étape qu’après validation sur données réelles.</a:t>
            </a:r>
            <a:endParaRPr sz="1300"/>
          </a:p>
        </p:txBody>
      </p:sp>
      <p:sp>
        <p:nvSpPr>
          <p:cNvPr id="5" name="Shape 3">
            <a:extLst xmlns:a="http://schemas.openxmlformats.org/drawingml/2006/main">
              <a:ext uri="{FF2B5EF4-FFF2-40B4-BE49-F238E27FC236}">
                <a16:creationId xmlns:a16="http://schemas.microsoft.com/office/drawing/2014/main" id="{5B18C48C-1144-48EB-AC34-E3426B8A5299}"/>
              </a:ext>
            </a:extLst>
          </p:cNvPr>
          <p:cNvSpPr>
            <a:spLocks xmlns:a="http://schemas.openxmlformats.org/drawingml/2006/main" noGrp="1"/>
          </p:cNvSpPr>
          <p:nvPr/>
        </p:nvSpPr>
        <p:spPr>
          <a:xfrm xmlns:a="http://schemas.openxmlformats.org/drawingml/2006/main">
            <a:off x="713232" y="1783080"/>
            <a:ext cx="3383280" cy="3886200"/>
          </a:xfrm>
          <a:prstGeom xmlns:a="http://schemas.openxmlformats.org/drawingml/2006/main" prst="roundRect">
            <a:avLst>
              <a:gd name="adj" fmla="val 2703"/>
            </a:avLst>
          </a:prstGeom>
          <a:solidFill xmlns:a="http://schemas.openxmlformats.org/drawingml/2006/main">
            <a:srgbClr val="EFEBFA"/>
          </a:solidFill>
          <a:ln xmlns:a="http://schemas.openxmlformats.org/drawingml/2006/main" w="9525">
            <a:solidFill>
              <a:srgbClr val="D9D2F1"/>
            </a:solidFill>
            <a:prstDash val="solid"/>
          </a:ln>
          <a:effectLst xmlns:a="http://schemas.openxmlformats.org/drawingml/2006/main">
            <a:outerShdw blurRad="203200" dist="38100" dir="5400000" sx="100000" sy="100000" kx="0" ky="0" algn="bl" rotWithShape="0">
              <a:srgbClr val="3C2E7A">
                <a:alpha val="10000"/>
              </a:srgbClr>
            </a:outerShdw>
          </a:effectLst>
        </p:spPr>
      </p:sp>
      <p:sp>
        <p:nvSpPr>
          <p:cNvPr id="6" name="Text 4">
            <a:extLst xmlns:a="http://schemas.openxmlformats.org/drawingml/2006/main">
              <a:ext uri="{FF2B5EF4-FFF2-40B4-BE49-F238E27FC236}">
                <a16:creationId xmlns:a16="http://schemas.microsoft.com/office/drawing/2014/main" id="{6BEAE89E-E507-4221-9739-6D240C43C281}"/>
              </a:ext>
            </a:extLst>
          </p:cNvPr>
          <p:cNvSpPr>
            <a:spLocks xmlns:a="http://schemas.openxmlformats.org/drawingml/2006/main" noGrp="1"/>
          </p:cNvSpPr>
          <p:nvPr/>
        </p:nvSpPr>
        <p:spPr>
          <a:xfrm xmlns:a="http://schemas.openxmlformats.org/drawingml/2006/main">
            <a:off x="1005840" y="2011680"/>
            <a:ext cx="28346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50">
                <a:solidFill>
                  <a:srgbClr val="6B46C7"/>
                </a:solidFill>
                <a:latin typeface="Calibri"/>
                <a:ea typeface="Calibri"/>
                <a:cs typeface="Calibri"/>
              </a:rPr>
              <a:t>DIFFICULTÉS &amp; LIMITES</a:t>
            </a:r>
            <a:endParaRPr sz="950"/>
          </a:p>
        </p:txBody>
      </p:sp>
      <p:sp>
        <p:nvSpPr>
          <p:cNvPr id="7" name="Text 5">
            <a:extLst xmlns:a="http://schemas.openxmlformats.org/drawingml/2006/main">
              <a:ext uri="{FF2B5EF4-FFF2-40B4-BE49-F238E27FC236}">
                <a16:creationId xmlns:a16="http://schemas.microsoft.com/office/drawing/2014/main" id="{B3652B40-EE54-4EC1-B8E0-A1FCEB02D088}"/>
              </a:ext>
            </a:extLst>
          </p:cNvPr>
          <p:cNvSpPr>
            <a:spLocks xmlns:a="http://schemas.openxmlformats.org/drawingml/2006/main" noGrp="1"/>
          </p:cNvSpPr>
          <p:nvPr/>
        </p:nvSpPr>
        <p:spPr>
          <a:xfrm xmlns:a="http://schemas.openxmlformats.org/drawingml/2006/main">
            <a:off x="1005840" y="2331720"/>
            <a:ext cx="28346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41230"/>
                </a:solidFill>
                <a:latin typeface="Cambria"/>
                <a:ea typeface="Cambria"/>
                <a:cs typeface="Cambria"/>
              </a:rPr>
              <a:t>Historique réel de douze mois</a:t>
            </a:r>
            <a:endParaRPr sz="1300"/>
          </a:p>
        </p:txBody>
      </p:sp>
      <p:sp>
        <p:nvSpPr>
          <p:cNvPr id="8" name="Text 6">
            <a:extLst xmlns:a="http://schemas.openxmlformats.org/drawingml/2006/main">
              <a:ext uri="{FF2B5EF4-FFF2-40B4-BE49-F238E27FC236}">
                <a16:creationId xmlns:a16="http://schemas.microsoft.com/office/drawing/2014/main" id="{1DD89D99-9FA4-461B-ABD4-E6FD82F58F73}"/>
              </a:ext>
            </a:extLst>
          </p:cNvPr>
          <p:cNvSpPr>
            <a:spLocks xmlns:a="http://schemas.openxmlformats.org/drawingml/2006/main" noGrp="1"/>
          </p:cNvSpPr>
          <p:nvPr/>
        </p:nvSpPr>
        <p:spPr>
          <a:xfrm xmlns:a="http://schemas.openxmlformats.org/drawingml/2006/main">
            <a:off x="1005840" y="2606040"/>
            <a:ext cx="2834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50">
                <a:solidFill>
                  <a:srgbClr val="6E6A88"/>
                </a:solidFill>
                <a:latin typeface="Calibri"/>
                <a:ea typeface="Calibri"/>
                <a:cs typeface="Calibri"/>
              </a:rPr>
              <a:t>Saisonnalité non identifiable ; aucun décalage annuel exploitable.</a:t>
            </a:r>
            <a:endParaRPr sz="1050"/>
          </a:p>
        </p:txBody>
      </p:sp>
      <p:sp>
        <p:nvSpPr>
          <p:cNvPr id="9" name="Text 7">
            <a:extLst xmlns:a="http://schemas.openxmlformats.org/drawingml/2006/main">
              <a:ext uri="{FF2B5EF4-FFF2-40B4-BE49-F238E27FC236}">
                <a16:creationId xmlns:a16="http://schemas.microsoft.com/office/drawing/2014/main" id="{52A1D269-6A7B-4500-BE21-B7B4BCF2FDC9}"/>
              </a:ext>
            </a:extLst>
          </p:cNvPr>
          <p:cNvSpPr>
            <a:spLocks xmlns:a="http://schemas.openxmlformats.org/drawingml/2006/main" noGrp="1"/>
          </p:cNvSpPr>
          <p:nvPr/>
        </p:nvSpPr>
        <p:spPr>
          <a:xfrm xmlns:a="http://schemas.openxmlformats.org/drawingml/2006/main">
            <a:off x="1005840" y="3136392"/>
            <a:ext cx="28346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41230"/>
                </a:solidFill>
                <a:latin typeface="Cambria"/>
                <a:ea typeface="Cambria"/>
                <a:cs typeface="Cambria"/>
              </a:rPr>
              <a:t>Recours aux données synthétiques</a:t>
            </a:r>
            <a:endParaRPr sz="1300"/>
          </a:p>
        </p:txBody>
      </p:sp>
      <p:sp>
        <p:nvSpPr>
          <p:cNvPr id="10" name="Text 8">
            <a:extLst xmlns:a="http://schemas.openxmlformats.org/drawingml/2006/main">
              <a:ext uri="{FF2B5EF4-FFF2-40B4-BE49-F238E27FC236}">
                <a16:creationId xmlns:a16="http://schemas.microsoft.com/office/drawing/2014/main" id="{57D3C692-17C1-403A-80F1-7613AE322E67}"/>
              </a:ext>
            </a:extLst>
          </p:cNvPr>
          <p:cNvSpPr>
            <a:spLocks xmlns:a="http://schemas.openxmlformats.org/drawingml/2006/main" noGrp="1"/>
          </p:cNvSpPr>
          <p:nvPr/>
        </p:nvSpPr>
        <p:spPr>
          <a:xfrm xmlns:a="http://schemas.openxmlformats.org/drawingml/2006/main">
            <a:off x="1005840" y="3410712"/>
            <a:ext cx="2834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50">
                <a:solidFill>
                  <a:srgbClr val="6E6A88"/>
                </a:solidFill>
                <a:latin typeface="Calibri"/>
                <a:ea typeface="Calibri"/>
                <a:cs typeface="Calibri"/>
              </a:rPr>
              <a:t>Valide la mécanique du dispositif, non sa performance opérationnelle.</a:t>
            </a:r>
            <a:endParaRPr sz="1050"/>
          </a:p>
        </p:txBody>
      </p:sp>
      <p:sp>
        <p:nvSpPr>
          <p:cNvPr id="11" name="Text 9">
            <a:extLst xmlns:a="http://schemas.openxmlformats.org/drawingml/2006/main">
              <a:ext uri="{FF2B5EF4-FFF2-40B4-BE49-F238E27FC236}">
                <a16:creationId xmlns:a16="http://schemas.microsoft.com/office/drawing/2014/main" id="{2B5EB66F-07A2-419C-8937-461EA0B1B545}"/>
              </a:ext>
            </a:extLst>
          </p:cNvPr>
          <p:cNvSpPr>
            <a:spLocks xmlns:a="http://schemas.openxmlformats.org/drawingml/2006/main" noGrp="1"/>
          </p:cNvSpPr>
          <p:nvPr/>
        </p:nvSpPr>
        <p:spPr>
          <a:xfrm xmlns:a="http://schemas.openxmlformats.org/drawingml/2006/main">
            <a:off x="1005840" y="3941064"/>
            <a:ext cx="28346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41230"/>
                </a:solidFill>
                <a:latin typeface="Cambria"/>
                <a:ea typeface="Cambria"/>
                <a:cs typeface="Cambria"/>
              </a:rPr>
              <a:t>Variables exogènes incomplètes</a:t>
            </a:r>
            <a:endParaRPr sz="1300"/>
          </a:p>
        </p:txBody>
      </p:sp>
      <p:sp>
        <p:nvSpPr>
          <p:cNvPr id="12" name="Text 10">
            <a:extLst xmlns:a="http://schemas.openxmlformats.org/drawingml/2006/main">
              <a:ext uri="{FF2B5EF4-FFF2-40B4-BE49-F238E27FC236}">
                <a16:creationId xmlns:a16="http://schemas.microsoft.com/office/drawing/2014/main" id="{65A8CE19-5188-4173-8B83-EE48E22CBB64}"/>
              </a:ext>
            </a:extLst>
          </p:cNvPr>
          <p:cNvSpPr>
            <a:spLocks xmlns:a="http://schemas.openxmlformats.org/drawingml/2006/main" noGrp="1"/>
          </p:cNvSpPr>
          <p:nvPr/>
        </p:nvSpPr>
        <p:spPr>
          <a:xfrm xmlns:a="http://schemas.openxmlformats.org/drawingml/2006/main">
            <a:off x="1005840" y="4215384"/>
            <a:ext cx="2834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50">
                <a:solidFill>
                  <a:srgbClr val="6E6A88"/>
                </a:solidFill>
                <a:latin typeface="Calibri"/>
                <a:ea typeface="Calibri"/>
                <a:cs typeface="Calibri"/>
              </a:rPr>
              <a:t>Budget, carnet de commandes et effectifs absents à la maille section.</a:t>
            </a:r>
            <a:endParaRPr sz="1050"/>
          </a:p>
        </p:txBody>
      </p:sp>
      <p:sp>
        <p:nvSpPr>
          <p:cNvPr id="13" name="Text 11">
            <a:extLst xmlns:a="http://schemas.openxmlformats.org/drawingml/2006/main">
              <a:ext uri="{FF2B5EF4-FFF2-40B4-BE49-F238E27FC236}">
                <a16:creationId xmlns:a16="http://schemas.microsoft.com/office/drawing/2014/main" id="{BC1A2B42-886B-4B6D-94AF-4EC6634CD261}"/>
              </a:ext>
            </a:extLst>
          </p:cNvPr>
          <p:cNvSpPr>
            <a:spLocks xmlns:a="http://schemas.openxmlformats.org/drawingml/2006/main" noGrp="1"/>
          </p:cNvSpPr>
          <p:nvPr/>
        </p:nvSpPr>
        <p:spPr>
          <a:xfrm xmlns:a="http://schemas.openxmlformats.org/drawingml/2006/main">
            <a:off x="1005840" y="4745736"/>
            <a:ext cx="28346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41230"/>
                </a:solidFill>
                <a:latin typeface="Cambria"/>
                <a:ea typeface="Cambria"/>
                <a:cs typeface="Cambria"/>
              </a:rPr>
              <a:t>Prévision ponctuelle</a:t>
            </a:r>
            <a:endParaRPr sz="1300"/>
          </a:p>
        </p:txBody>
      </p:sp>
      <p:sp>
        <p:nvSpPr>
          <p:cNvPr id="14" name="Text 12">
            <a:extLst xmlns:a="http://schemas.openxmlformats.org/drawingml/2006/main">
              <a:ext uri="{FF2B5EF4-FFF2-40B4-BE49-F238E27FC236}">
                <a16:creationId xmlns:a16="http://schemas.microsoft.com/office/drawing/2014/main" id="{F3A0DB6E-EC4B-498E-8805-1DFB45593653}"/>
              </a:ext>
            </a:extLst>
          </p:cNvPr>
          <p:cNvSpPr>
            <a:spLocks xmlns:a="http://schemas.openxmlformats.org/drawingml/2006/main" noGrp="1"/>
          </p:cNvSpPr>
          <p:nvPr/>
        </p:nvSpPr>
        <p:spPr>
          <a:xfrm xmlns:a="http://schemas.openxmlformats.org/drawingml/2006/main">
            <a:off x="1005840" y="5020056"/>
            <a:ext cx="2834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50">
                <a:solidFill>
                  <a:srgbClr val="6E6A88"/>
                </a:solidFill>
                <a:latin typeface="Calibri"/>
                <a:ea typeface="Calibri"/>
                <a:cs typeface="Calibri"/>
              </a:rPr>
              <a:t>Ne renseigne pas sur le degré d'incertitude associé.</a:t>
            </a:r>
            <a:endParaRPr sz="1050"/>
          </a:p>
        </p:txBody>
      </p:sp>
      <p:sp>
        <p:nvSpPr>
          <p:cNvPr id="15" name="Shape 13">
            <a:extLst xmlns:a="http://schemas.openxmlformats.org/drawingml/2006/main">
              <a:ext uri="{FF2B5EF4-FFF2-40B4-BE49-F238E27FC236}">
                <a16:creationId xmlns:a16="http://schemas.microsoft.com/office/drawing/2014/main" id="{5FFC08E5-B04F-4CFD-AF47-487DB0C4CA2E}"/>
              </a:ext>
            </a:extLst>
          </p:cNvPr>
          <p:cNvSpPr>
            <a:spLocks xmlns:a="http://schemas.openxmlformats.org/drawingml/2006/main" noGrp="1"/>
          </p:cNvSpPr>
          <p:nvPr/>
        </p:nvSpPr>
        <p:spPr>
          <a:xfrm xmlns:a="http://schemas.openxmlformats.org/drawingml/2006/main">
            <a:off x="4315968" y="1783080"/>
            <a:ext cx="2304288" cy="3886200"/>
          </a:xfrm>
          <a:prstGeom xmlns:a="http://schemas.openxmlformats.org/drawingml/2006/main" prst="roundRect">
            <a:avLst>
              <a:gd name="adj" fmla="val 3968"/>
            </a:avLst>
          </a:prstGeom>
          <a:solidFill xmlns:a="http://schemas.openxmlformats.org/drawingml/2006/main">
            <a:srgbClr val="F6F5FB"/>
          </a:solidFill>
          <a:ln xmlns:a="http://schemas.openxmlformats.org/drawingml/2006/main" w="9525">
            <a:solidFill>
              <a:srgbClr val="E2DEF0"/>
            </a:solidFill>
            <a:prstDash val="solid"/>
          </a:ln>
          <a:effectLst xmlns:a="http://schemas.openxmlformats.org/drawingml/2006/main">
            <a:outerShdw blurRad="203200" dist="38100" dir="5400000" sx="100000" sy="100000" kx="0" ky="0" algn="bl" rotWithShape="0">
              <a:srgbClr val="3C2E7A">
                <a:alpha val="10000"/>
              </a:srgbClr>
            </a:outerShdw>
          </a:effectLst>
        </p:spPr>
      </p:sp>
      <p:sp>
        <p:nvSpPr>
          <p:cNvPr id="16" name="Text 14">
            <a:extLst xmlns:a="http://schemas.openxmlformats.org/drawingml/2006/main">
              <a:ext uri="{FF2B5EF4-FFF2-40B4-BE49-F238E27FC236}">
                <a16:creationId xmlns:a16="http://schemas.microsoft.com/office/drawing/2014/main" id="{2FFADF85-69B3-4F17-8906-7CE09967E54C}"/>
              </a:ext>
            </a:extLst>
          </p:cNvPr>
          <p:cNvSpPr>
            <a:spLocks xmlns:a="http://schemas.openxmlformats.org/drawingml/2006/main" noGrp="1"/>
          </p:cNvSpPr>
          <p:nvPr/>
        </p:nvSpPr>
        <p:spPr>
          <a:xfrm xmlns:a="http://schemas.openxmlformats.org/drawingml/2006/main">
            <a:off x="4572000" y="2029968"/>
            <a:ext cx="1828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130">
                <a:solidFill>
                  <a:srgbClr val="6B46C7"/>
                </a:solidFill>
                <a:latin typeface="Calibri"/>
                <a:ea typeface="Calibri"/>
                <a:cs typeface="Calibri"/>
              </a:rPr>
              <a:t>COURT TERME</a:t>
            </a:r>
            <a:endParaRPr sz="900"/>
          </a:p>
        </p:txBody>
      </p:sp>
      <p:sp>
        <p:nvSpPr>
          <p:cNvPr id="17" name="Text 15">
            <a:extLst xmlns:a="http://schemas.openxmlformats.org/drawingml/2006/main">
              <a:ext uri="{FF2B5EF4-FFF2-40B4-BE49-F238E27FC236}">
                <a16:creationId xmlns:a16="http://schemas.microsoft.com/office/drawing/2014/main" id="{E9F16419-CAEC-4516-9BB8-B52E7618A4E2}"/>
              </a:ext>
            </a:extLst>
          </p:cNvPr>
          <p:cNvSpPr>
            <a:spLocks xmlns:a="http://schemas.openxmlformats.org/drawingml/2006/main" noGrp="1"/>
          </p:cNvSpPr>
          <p:nvPr/>
        </p:nvSpPr>
        <p:spPr>
          <a:xfrm xmlns:a="http://schemas.openxmlformats.org/drawingml/2006/main">
            <a:off x="4572000" y="2286000"/>
            <a:ext cx="18288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41230"/>
                </a:solidFill>
                <a:latin typeface="Cambria"/>
                <a:ea typeface="Cambria"/>
                <a:cs typeface="Cambria"/>
              </a:rPr>
              <a:t>Sécuriser</a:t>
            </a:r>
            <a:endParaRPr sz="1700"/>
          </a:p>
        </p:txBody>
      </p:sp>
      <p:sp>
        <p:nvSpPr>
          <p:cNvPr id="18" name="Shape 16">
            <a:extLst xmlns:a="http://schemas.openxmlformats.org/drawingml/2006/main">
              <a:ext uri="{FF2B5EF4-FFF2-40B4-BE49-F238E27FC236}">
                <a16:creationId xmlns:a16="http://schemas.microsoft.com/office/drawing/2014/main" id="{E32A78B4-A81C-426F-926C-06CAF8F41169}"/>
              </a:ext>
            </a:extLst>
          </p:cNvPr>
          <p:cNvSpPr>
            <a:spLocks xmlns:a="http://schemas.openxmlformats.org/drawingml/2006/main" noGrp="1"/>
          </p:cNvSpPr>
          <p:nvPr/>
        </p:nvSpPr>
        <p:spPr>
          <a:xfrm xmlns:a="http://schemas.openxmlformats.org/drawingml/2006/main">
            <a:off x="4590288" y="2889504"/>
            <a:ext cx="91440" cy="91440"/>
          </a:xfrm>
          <a:prstGeom xmlns:a="http://schemas.openxmlformats.org/drawingml/2006/main" prst="ellipse">
            <a:avLst/>
          </a:prstGeom>
          <a:solidFill xmlns:a="http://schemas.openxmlformats.org/drawingml/2006/main">
            <a:srgbClr val="A78BFA"/>
          </a:solidFill>
        </p:spPr>
      </p:sp>
      <p:sp>
        <p:nvSpPr>
          <p:cNvPr id="19" name="Text 17">
            <a:extLst xmlns:a="http://schemas.openxmlformats.org/drawingml/2006/main">
              <a:ext uri="{FF2B5EF4-FFF2-40B4-BE49-F238E27FC236}">
                <a16:creationId xmlns:a16="http://schemas.microsoft.com/office/drawing/2014/main" id="{81114784-BAA0-422F-8163-DFAE1653292C}"/>
              </a:ext>
            </a:extLst>
          </p:cNvPr>
          <p:cNvSpPr>
            <a:spLocks xmlns:a="http://schemas.openxmlformats.org/drawingml/2006/main" noGrp="1"/>
          </p:cNvSpPr>
          <p:nvPr/>
        </p:nvSpPr>
        <p:spPr>
          <a:xfrm xmlns:a="http://schemas.openxmlformats.org/drawingml/2006/main">
            <a:off x="4818888" y="2798064"/>
            <a:ext cx="1600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050">
                <a:solidFill>
                  <a:srgbClr val="6E6A88"/>
                </a:solidFill>
                <a:latin typeface="Calibri"/>
                <a:ea typeface="Calibri"/>
                <a:cs typeface="Calibri"/>
              </a:rPr>
              <a:t>Conserver la méthode naïve comme référence</a:t>
            </a:r>
            <a:endParaRPr sz="1050"/>
          </a:p>
        </p:txBody>
      </p:sp>
      <p:sp>
        <p:nvSpPr>
          <p:cNvPr id="20" name="Shape 18">
            <a:extLst xmlns:a="http://schemas.openxmlformats.org/drawingml/2006/main">
              <a:ext uri="{FF2B5EF4-FFF2-40B4-BE49-F238E27FC236}">
                <a16:creationId xmlns:a16="http://schemas.microsoft.com/office/drawing/2014/main" id="{6CF0D8AE-375C-4DA3-A6C5-BDCDA7E97BC3}"/>
              </a:ext>
            </a:extLst>
          </p:cNvPr>
          <p:cNvSpPr>
            <a:spLocks xmlns:a="http://schemas.openxmlformats.org/drawingml/2006/main" noGrp="1"/>
          </p:cNvSpPr>
          <p:nvPr/>
        </p:nvSpPr>
        <p:spPr>
          <a:xfrm xmlns:a="http://schemas.openxmlformats.org/drawingml/2006/main">
            <a:off x="4590288" y="3822192"/>
            <a:ext cx="91440" cy="91440"/>
          </a:xfrm>
          <a:prstGeom xmlns:a="http://schemas.openxmlformats.org/drawingml/2006/main" prst="ellipse">
            <a:avLst/>
          </a:prstGeom>
          <a:solidFill xmlns:a="http://schemas.openxmlformats.org/drawingml/2006/main">
            <a:srgbClr val="A78BFA"/>
          </a:solidFill>
        </p:spPr>
      </p:sp>
      <p:sp>
        <p:nvSpPr>
          <p:cNvPr id="21" name="Text 19">
            <a:extLst xmlns:a="http://schemas.openxmlformats.org/drawingml/2006/main">
              <a:ext uri="{FF2B5EF4-FFF2-40B4-BE49-F238E27FC236}">
                <a16:creationId xmlns:a16="http://schemas.microsoft.com/office/drawing/2014/main" id="{B8B320B7-F02B-461D-9834-D2F8A7E65EC5}"/>
              </a:ext>
            </a:extLst>
          </p:cNvPr>
          <p:cNvSpPr>
            <a:spLocks xmlns:a="http://schemas.openxmlformats.org/drawingml/2006/main" noGrp="1"/>
          </p:cNvSpPr>
          <p:nvPr/>
        </p:nvSpPr>
        <p:spPr>
          <a:xfrm xmlns:a="http://schemas.openxmlformats.org/drawingml/2006/main">
            <a:off x="4818888" y="3730752"/>
            <a:ext cx="1600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050">
                <a:solidFill>
                  <a:srgbClr val="6E6A88"/>
                </a:solidFill>
                <a:latin typeface="Calibri"/>
                <a:ea typeface="Calibri"/>
                <a:cs typeface="Calibri"/>
              </a:rPr>
              <a:t>Actualiser le benchmark chaque mois</a:t>
            </a:r>
            <a:endParaRPr sz="1050"/>
          </a:p>
        </p:txBody>
      </p:sp>
      <p:sp>
        <p:nvSpPr>
          <p:cNvPr id="22" name="Shape 20">
            <a:extLst xmlns:a="http://schemas.openxmlformats.org/drawingml/2006/main">
              <a:ext uri="{FF2B5EF4-FFF2-40B4-BE49-F238E27FC236}">
                <a16:creationId xmlns:a16="http://schemas.microsoft.com/office/drawing/2014/main" id="{1CC46EC9-BE51-466E-9A68-FDCA126FC216}"/>
              </a:ext>
            </a:extLst>
          </p:cNvPr>
          <p:cNvSpPr>
            <a:spLocks xmlns:a="http://schemas.openxmlformats.org/drawingml/2006/main" noGrp="1"/>
          </p:cNvSpPr>
          <p:nvPr/>
        </p:nvSpPr>
        <p:spPr>
          <a:xfrm xmlns:a="http://schemas.openxmlformats.org/drawingml/2006/main">
            <a:off x="4590288" y="4754880"/>
            <a:ext cx="91440" cy="91440"/>
          </a:xfrm>
          <a:prstGeom xmlns:a="http://schemas.openxmlformats.org/drawingml/2006/main" prst="ellipse">
            <a:avLst/>
          </a:prstGeom>
          <a:solidFill xmlns:a="http://schemas.openxmlformats.org/drawingml/2006/main">
            <a:srgbClr val="A78BFA"/>
          </a:solidFill>
        </p:spPr>
      </p:sp>
      <p:sp>
        <p:nvSpPr>
          <p:cNvPr id="23" name="Text 21">
            <a:extLst xmlns:a="http://schemas.openxmlformats.org/drawingml/2006/main">
              <a:ext uri="{FF2B5EF4-FFF2-40B4-BE49-F238E27FC236}">
                <a16:creationId xmlns:a16="http://schemas.microsoft.com/office/drawing/2014/main" id="{79E918AA-8CFF-4DB7-9888-68B5158A569F}"/>
              </a:ext>
            </a:extLst>
          </p:cNvPr>
          <p:cNvSpPr>
            <a:spLocks xmlns:a="http://schemas.openxmlformats.org/drawingml/2006/main" noGrp="1"/>
          </p:cNvSpPr>
          <p:nvPr/>
        </p:nvSpPr>
        <p:spPr>
          <a:xfrm xmlns:a="http://schemas.openxmlformats.org/drawingml/2006/main">
            <a:off x="4818888" y="4663440"/>
            <a:ext cx="1600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050">
                <a:solidFill>
                  <a:srgbClr val="6E6A88"/>
                </a:solidFill>
                <a:latin typeface="Calibri"/>
                <a:ea typeface="Calibri"/>
                <a:cs typeface="Calibri"/>
              </a:rPr>
              <a:t>Contrôler les prévisions négatives</a:t>
            </a:r>
            <a:endParaRPr sz="1050"/>
          </a:p>
        </p:txBody>
      </p:sp>
      <p:sp>
        <p:nvSpPr>
          <p:cNvPr id="24" name="Shape 22">
            <a:extLst xmlns:a="http://schemas.openxmlformats.org/drawingml/2006/main">
              <a:ext uri="{FF2B5EF4-FFF2-40B4-BE49-F238E27FC236}">
                <a16:creationId xmlns:a16="http://schemas.microsoft.com/office/drawing/2014/main" id="{5A141D12-C86B-47D1-A009-4B1EDDE60BB3}"/>
              </a:ext>
            </a:extLst>
          </p:cNvPr>
          <p:cNvSpPr>
            <a:spLocks xmlns:a="http://schemas.openxmlformats.org/drawingml/2006/main" noGrp="1"/>
          </p:cNvSpPr>
          <p:nvPr/>
        </p:nvSpPr>
        <p:spPr>
          <a:xfrm xmlns:a="http://schemas.openxmlformats.org/drawingml/2006/main">
            <a:off x="6803136" y="1783080"/>
            <a:ext cx="2304288" cy="3886200"/>
          </a:xfrm>
          <a:prstGeom xmlns:a="http://schemas.openxmlformats.org/drawingml/2006/main" prst="roundRect">
            <a:avLst>
              <a:gd name="adj" fmla="val 3968"/>
            </a:avLst>
          </a:prstGeom>
          <a:solidFill xmlns:a="http://schemas.openxmlformats.org/drawingml/2006/main">
            <a:srgbClr val="EEEBF8"/>
          </a:solidFill>
          <a:ln xmlns:a="http://schemas.openxmlformats.org/drawingml/2006/main" w="9525">
            <a:solidFill>
              <a:srgbClr val="E2DEF0"/>
            </a:solidFill>
            <a:prstDash val="solid"/>
          </a:ln>
          <a:effectLst xmlns:a="http://schemas.openxmlformats.org/drawingml/2006/main">
            <a:outerShdw blurRad="203200" dist="38100" dir="5400000" sx="100000" sy="100000" kx="0" ky="0" algn="bl" rotWithShape="0">
              <a:srgbClr val="3C2E7A">
                <a:alpha val="10000"/>
              </a:srgbClr>
            </a:outerShdw>
          </a:effectLst>
        </p:spPr>
      </p:sp>
      <p:sp>
        <p:nvSpPr>
          <p:cNvPr id="25" name="Text 23">
            <a:extLst xmlns:a="http://schemas.openxmlformats.org/drawingml/2006/main">
              <a:ext uri="{FF2B5EF4-FFF2-40B4-BE49-F238E27FC236}">
                <a16:creationId xmlns:a16="http://schemas.microsoft.com/office/drawing/2014/main" id="{AF3AACA0-7AE2-44D4-A27F-81CC86628FED}"/>
              </a:ext>
            </a:extLst>
          </p:cNvPr>
          <p:cNvSpPr>
            <a:spLocks xmlns:a="http://schemas.openxmlformats.org/drawingml/2006/main" noGrp="1"/>
          </p:cNvSpPr>
          <p:nvPr/>
        </p:nvSpPr>
        <p:spPr>
          <a:xfrm xmlns:a="http://schemas.openxmlformats.org/drawingml/2006/main">
            <a:off x="7059168" y="2029968"/>
            <a:ext cx="1828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130">
                <a:solidFill>
                  <a:srgbClr val="6B46C7"/>
                </a:solidFill>
                <a:latin typeface="Calibri"/>
                <a:ea typeface="Calibri"/>
                <a:cs typeface="Calibri"/>
              </a:rPr>
              <a:t>MOYEN TERME</a:t>
            </a:r>
            <a:endParaRPr sz="900"/>
          </a:p>
        </p:txBody>
      </p:sp>
      <p:sp>
        <p:nvSpPr>
          <p:cNvPr id="26" name="Text 24">
            <a:extLst xmlns:a="http://schemas.openxmlformats.org/drawingml/2006/main">
              <a:ext uri="{FF2B5EF4-FFF2-40B4-BE49-F238E27FC236}">
                <a16:creationId xmlns:a16="http://schemas.microsoft.com/office/drawing/2014/main" id="{8CC3B8A8-2087-4D7B-9336-EDCB6C6297A6}"/>
              </a:ext>
            </a:extLst>
          </p:cNvPr>
          <p:cNvSpPr>
            <a:spLocks xmlns:a="http://schemas.openxmlformats.org/drawingml/2006/main" noGrp="1"/>
          </p:cNvSpPr>
          <p:nvPr/>
        </p:nvSpPr>
        <p:spPr>
          <a:xfrm xmlns:a="http://schemas.openxmlformats.org/drawingml/2006/main">
            <a:off x="7059168" y="2286000"/>
            <a:ext cx="18288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41230"/>
                </a:solidFill>
                <a:latin typeface="Cambria"/>
                <a:ea typeface="Cambria"/>
                <a:cs typeface="Cambria"/>
              </a:rPr>
              <a:t>Enrichir</a:t>
            </a:r>
            <a:endParaRPr sz="1700"/>
          </a:p>
        </p:txBody>
      </p:sp>
      <p:sp>
        <p:nvSpPr>
          <p:cNvPr id="27" name="Shape 25">
            <a:extLst xmlns:a="http://schemas.openxmlformats.org/drawingml/2006/main">
              <a:ext uri="{FF2B5EF4-FFF2-40B4-BE49-F238E27FC236}">
                <a16:creationId xmlns:a16="http://schemas.microsoft.com/office/drawing/2014/main" id="{ADDA1C85-5AB1-4E0A-B3FE-CF85E07E3151}"/>
              </a:ext>
            </a:extLst>
          </p:cNvPr>
          <p:cNvSpPr>
            <a:spLocks xmlns:a="http://schemas.openxmlformats.org/drawingml/2006/main" noGrp="1"/>
          </p:cNvSpPr>
          <p:nvPr/>
        </p:nvSpPr>
        <p:spPr>
          <a:xfrm xmlns:a="http://schemas.openxmlformats.org/drawingml/2006/main">
            <a:off x="7077456" y="2889504"/>
            <a:ext cx="91440" cy="91440"/>
          </a:xfrm>
          <a:prstGeom xmlns:a="http://schemas.openxmlformats.org/drawingml/2006/main" prst="ellipse">
            <a:avLst/>
          </a:prstGeom>
          <a:solidFill xmlns:a="http://schemas.openxmlformats.org/drawingml/2006/main">
            <a:srgbClr val="A78BFA"/>
          </a:solidFill>
        </p:spPr>
      </p:sp>
      <p:sp>
        <p:nvSpPr>
          <p:cNvPr id="28" name="Text 26">
            <a:extLst xmlns:a="http://schemas.openxmlformats.org/drawingml/2006/main">
              <a:ext uri="{FF2B5EF4-FFF2-40B4-BE49-F238E27FC236}">
                <a16:creationId xmlns:a16="http://schemas.microsoft.com/office/drawing/2014/main" id="{8B96E765-9D2F-4905-9818-91BB688CF166}"/>
              </a:ext>
            </a:extLst>
          </p:cNvPr>
          <p:cNvSpPr>
            <a:spLocks xmlns:a="http://schemas.openxmlformats.org/drawingml/2006/main" noGrp="1"/>
          </p:cNvSpPr>
          <p:nvPr/>
        </p:nvSpPr>
        <p:spPr>
          <a:xfrm xmlns:a="http://schemas.openxmlformats.org/drawingml/2006/main">
            <a:off x="7306056" y="2798064"/>
            <a:ext cx="1600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050">
                <a:solidFill>
                  <a:srgbClr val="6E6A88"/>
                </a:solidFill>
                <a:latin typeface="Calibri"/>
                <a:ea typeface="Calibri"/>
                <a:cs typeface="Calibri"/>
              </a:rPr>
              <a:t>Constituer un historique réel multi-annuel</a:t>
            </a:r>
            <a:endParaRPr sz="1050"/>
          </a:p>
        </p:txBody>
      </p:sp>
      <p:sp>
        <p:nvSpPr>
          <p:cNvPr id="29" name="Shape 27">
            <a:extLst xmlns:a="http://schemas.openxmlformats.org/drawingml/2006/main">
              <a:ext uri="{FF2B5EF4-FFF2-40B4-BE49-F238E27FC236}">
                <a16:creationId xmlns:a16="http://schemas.microsoft.com/office/drawing/2014/main" id="{68549A46-93BE-48F1-9211-B262C82A3AA1}"/>
              </a:ext>
            </a:extLst>
          </p:cNvPr>
          <p:cNvSpPr>
            <a:spLocks xmlns:a="http://schemas.openxmlformats.org/drawingml/2006/main" noGrp="1"/>
          </p:cNvSpPr>
          <p:nvPr/>
        </p:nvSpPr>
        <p:spPr>
          <a:xfrm xmlns:a="http://schemas.openxmlformats.org/drawingml/2006/main">
            <a:off x="7077456" y="3822192"/>
            <a:ext cx="91440" cy="91440"/>
          </a:xfrm>
          <a:prstGeom xmlns:a="http://schemas.openxmlformats.org/drawingml/2006/main" prst="ellipse">
            <a:avLst/>
          </a:prstGeom>
          <a:solidFill xmlns:a="http://schemas.openxmlformats.org/drawingml/2006/main">
            <a:srgbClr val="A78BFA"/>
          </a:solidFill>
        </p:spPr>
      </p:sp>
      <p:sp>
        <p:nvSpPr>
          <p:cNvPr id="30" name="Text 28">
            <a:extLst xmlns:a="http://schemas.openxmlformats.org/drawingml/2006/main">
              <a:ext uri="{FF2B5EF4-FFF2-40B4-BE49-F238E27FC236}">
                <a16:creationId xmlns:a16="http://schemas.microsoft.com/office/drawing/2014/main" id="{A87C0F67-A761-4CAB-AE08-92C4B6509093}"/>
              </a:ext>
            </a:extLst>
          </p:cNvPr>
          <p:cNvSpPr>
            <a:spLocks xmlns:a="http://schemas.openxmlformats.org/drawingml/2006/main" noGrp="1"/>
          </p:cNvSpPr>
          <p:nvPr/>
        </p:nvSpPr>
        <p:spPr>
          <a:xfrm xmlns:a="http://schemas.openxmlformats.org/drawingml/2006/main">
            <a:off x="7306056" y="3730752"/>
            <a:ext cx="1600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050">
                <a:solidFill>
                  <a:srgbClr val="6E6A88"/>
                </a:solidFill>
                <a:latin typeface="Calibri"/>
                <a:ea typeface="Calibri"/>
                <a:cs typeface="Calibri"/>
              </a:rPr>
              <a:t>Intégrer budget, backlog et effectifs réels</a:t>
            </a:r>
            <a:endParaRPr sz="1050"/>
          </a:p>
        </p:txBody>
      </p:sp>
      <p:sp>
        <p:nvSpPr>
          <p:cNvPr id="31" name="Shape 29">
            <a:extLst xmlns:a="http://schemas.openxmlformats.org/drawingml/2006/main">
              <a:ext uri="{FF2B5EF4-FFF2-40B4-BE49-F238E27FC236}">
                <a16:creationId xmlns:a16="http://schemas.microsoft.com/office/drawing/2014/main" id="{35C9A3CC-5425-4C2B-9125-AA8BA47CD22A}"/>
              </a:ext>
            </a:extLst>
          </p:cNvPr>
          <p:cNvSpPr>
            <a:spLocks xmlns:a="http://schemas.openxmlformats.org/drawingml/2006/main" noGrp="1"/>
          </p:cNvSpPr>
          <p:nvPr/>
        </p:nvSpPr>
        <p:spPr>
          <a:xfrm xmlns:a="http://schemas.openxmlformats.org/drawingml/2006/main">
            <a:off x="7077456" y="4754880"/>
            <a:ext cx="91440" cy="91440"/>
          </a:xfrm>
          <a:prstGeom xmlns:a="http://schemas.openxmlformats.org/drawingml/2006/main" prst="ellipse">
            <a:avLst/>
          </a:prstGeom>
          <a:solidFill xmlns:a="http://schemas.openxmlformats.org/drawingml/2006/main">
            <a:srgbClr val="A78BFA"/>
          </a:solidFill>
        </p:spPr>
      </p:sp>
      <p:sp>
        <p:nvSpPr>
          <p:cNvPr id="32" name="Text 30">
            <a:extLst xmlns:a="http://schemas.openxmlformats.org/drawingml/2006/main">
              <a:ext uri="{FF2B5EF4-FFF2-40B4-BE49-F238E27FC236}">
                <a16:creationId xmlns:a16="http://schemas.microsoft.com/office/drawing/2014/main" id="{F7B661BB-CFE6-4463-AC62-E3B03EF9298B}"/>
              </a:ext>
            </a:extLst>
          </p:cNvPr>
          <p:cNvSpPr>
            <a:spLocks xmlns:a="http://schemas.openxmlformats.org/drawingml/2006/main" noGrp="1"/>
          </p:cNvSpPr>
          <p:nvPr/>
        </p:nvSpPr>
        <p:spPr>
          <a:xfrm xmlns:a="http://schemas.openxmlformats.org/drawingml/2006/main">
            <a:off x="7306056" y="4663440"/>
            <a:ext cx="1600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050">
                <a:solidFill>
                  <a:srgbClr val="6E6A88"/>
                </a:solidFill>
                <a:latin typeface="Calibri"/>
                <a:ea typeface="Calibri"/>
                <a:cs typeface="Calibri"/>
              </a:rPr>
              <a:t>Segmenter les modèles par profil de section</a:t>
            </a:r>
            <a:endParaRPr sz="1050"/>
          </a:p>
        </p:txBody>
      </p:sp>
      <p:sp>
        <p:nvSpPr>
          <p:cNvPr id="33" name="Shape 31">
            <a:extLst xmlns:a="http://schemas.openxmlformats.org/drawingml/2006/main">
              <a:ext uri="{FF2B5EF4-FFF2-40B4-BE49-F238E27FC236}">
                <a16:creationId xmlns:a16="http://schemas.microsoft.com/office/drawing/2014/main" id="{B1314A9F-1366-41DA-8DB3-73A55BDA0B9C}"/>
              </a:ext>
            </a:extLst>
          </p:cNvPr>
          <p:cNvSpPr>
            <a:spLocks xmlns:a="http://schemas.openxmlformats.org/drawingml/2006/main" noGrp="1"/>
          </p:cNvSpPr>
          <p:nvPr/>
        </p:nvSpPr>
        <p:spPr>
          <a:xfrm xmlns:a="http://schemas.openxmlformats.org/drawingml/2006/main">
            <a:off x="9290304" y="1783080"/>
            <a:ext cx="2304288" cy="3886200"/>
          </a:xfrm>
          <a:prstGeom xmlns:a="http://schemas.openxmlformats.org/drawingml/2006/main" prst="roundRect">
            <a:avLst>
              <a:gd name="adj" fmla="val 3968"/>
            </a:avLst>
          </a:prstGeom>
          <a:solidFill xmlns:a="http://schemas.openxmlformats.org/drawingml/2006/main">
            <a:srgbClr val="6B46C7"/>
          </a:solidFill>
          <a:effectLst xmlns:a="http://schemas.openxmlformats.org/drawingml/2006/main">
            <a:outerShdw blurRad="203200" dist="38100" dir="5400000" sx="100000" sy="100000" kx="0" ky="0" algn="bl" rotWithShape="0">
              <a:srgbClr val="3C2E7A">
                <a:alpha val="10000"/>
              </a:srgbClr>
            </a:outerShdw>
          </a:effectLst>
        </p:spPr>
      </p:sp>
      <p:sp>
        <p:nvSpPr>
          <p:cNvPr id="34" name="Text 32">
            <a:extLst xmlns:a="http://schemas.openxmlformats.org/drawingml/2006/main">
              <a:ext uri="{FF2B5EF4-FFF2-40B4-BE49-F238E27FC236}">
                <a16:creationId xmlns:a16="http://schemas.microsoft.com/office/drawing/2014/main" id="{CBADBDBF-8C45-4FBF-9A6B-247F63C85DD7}"/>
              </a:ext>
            </a:extLst>
          </p:cNvPr>
          <p:cNvSpPr>
            <a:spLocks xmlns:a="http://schemas.openxmlformats.org/drawingml/2006/main" noGrp="1"/>
          </p:cNvSpPr>
          <p:nvPr/>
        </p:nvSpPr>
        <p:spPr>
          <a:xfrm xmlns:a="http://schemas.openxmlformats.org/drawingml/2006/main">
            <a:off x="9546336" y="2029968"/>
            <a:ext cx="1828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130">
                <a:solidFill>
                  <a:srgbClr val="D6C9FF"/>
                </a:solidFill>
                <a:latin typeface="Calibri"/>
                <a:ea typeface="Calibri"/>
                <a:cs typeface="Calibri"/>
              </a:rPr>
              <a:t>LONG TERME</a:t>
            </a:r>
            <a:endParaRPr sz="900"/>
          </a:p>
        </p:txBody>
      </p:sp>
      <p:sp>
        <p:nvSpPr>
          <p:cNvPr id="35" name="Text 33">
            <a:extLst xmlns:a="http://schemas.openxmlformats.org/drawingml/2006/main">
              <a:ext uri="{FF2B5EF4-FFF2-40B4-BE49-F238E27FC236}">
                <a16:creationId xmlns:a16="http://schemas.microsoft.com/office/drawing/2014/main" id="{E29749D0-8199-4F2C-A2BE-E61CF7C7602D}"/>
              </a:ext>
            </a:extLst>
          </p:cNvPr>
          <p:cNvSpPr>
            <a:spLocks xmlns:a="http://schemas.openxmlformats.org/drawingml/2006/main" noGrp="1"/>
          </p:cNvSpPr>
          <p:nvPr/>
        </p:nvSpPr>
        <p:spPr>
          <a:xfrm xmlns:a="http://schemas.openxmlformats.org/drawingml/2006/main">
            <a:off x="9546336" y="2286000"/>
            <a:ext cx="18288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FFFFF"/>
                </a:solidFill>
                <a:latin typeface="Cambria"/>
                <a:ea typeface="Cambria"/>
                <a:cs typeface="Cambria"/>
              </a:rPr>
              <a:t>Industrialiser</a:t>
            </a:r>
            <a:endParaRPr sz="1700"/>
          </a:p>
        </p:txBody>
      </p:sp>
      <p:sp>
        <p:nvSpPr>
          <p:cNvPr id="36" name="Shape 34">
            <a:extLst xmlns:a="http://schemas.openxmlformats.org/drawingml/2006/main">
              <a:ext uri="{FF2B5EF4-FFF2-40B4-BE49-F238E27FC236}">
                <a16:creationId xmlns:a16="http://schemas.microsoft.com/office/drawing/2014/main" id="{FD9F4F75-9958-4C19-BC2B-1DDE25088F9C}"/>
              </a:ext>
            </a:extLst>
          </p:cNvPr>
          <p:cNvSpPr>
            <a:spLocks xmlns:a="http://schemas.openxmlformats.org/drawingml/2006/main" noGrp="1"/>
          </p:cNvSpPr>
          <p:nvPr/>
        </p:nvSpPr>
        <p:spPr>
          <a:xfrm xmlns:a="http://schemas.openxmlformats.org/drawingml/2006/main">
            <a:off x="9564624" y="2889504"/>
            <a:ext cx="91440" cy="91440"/>
          </a:xfrm>
          <a:prstGeom xmlns:a="http://schemas.openxmlformats.org/drawingml/2006/main" prst="ellipse">
            <a:avLst/>
          </a:prstGeom>
          <a:solidFill xmlns:a="http://schemas.openxmlformats.org/drawingml/2006/main">
            <a:srgbClr val="D6C9FF"/>
          </a:solidFill>
        </p:spPr>
      </p:sp>
      <p:sp>
        <p:nvSpPr>
          <p:cNvPr id="37" name="Text 35">
            <a:extLst xmlns:a="http://schemas.openxmlformats.org/drawingml/2006/main">
              <a:ext uri="{FF2B5EF4-FFF2-40B4-BE49-F238E27FC236}">
                <a16:creationId xmlns:a16="http://schemas.microsoft.com/office/drawing/2014/main" id="{A07142F5-6D85-4EC1-826B-B03C297976B6}"/>
              </a:ext>
            </a:extLst>
          </p:cNvPr>
          <p:cNvSpPr>
            <a:spLocks xmlns:a="http://schemas.openxmlformats.org/drawingml/2006/main" noGrp="1"/>
          </p:cNvSpPr>
          <p:nvPr/>
        </p:nvSpPr>
        <p:spPr>
          <a:xfrm xmlns:a="http://schemas.openxmlformats.org/drawingml/2006/main">
            <a:off x="9793224" y="2798064"/>
            <a:ext cx="1600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050">
                <a:solidFill>
                  <a:srgbClr val="E4DAFF"/>
                </a:solidFill>
                <a:latin typeface="Calibri"/>
                <a:ea typeface="Calibri"/>
                <a:cs typeface="Calibri"/>
              </a:rPr>
              <a:t>Adopter une logique champion / challenger</a:t>
            </a:r>
            <a:endParaRPr sz="1050"/>
          </a:p>
        </p:txBody>
      </p:sp>
      <p:sp>
        <p:nvSpPr>
          <p:cNvPr id="38" name="Shape 36">
            <a:extLst xmlns:a="http://schemas.openxmlformats.org/drawingml/2006/main">
              <a:ext uri="{FF2B5EF4-FFF2-40B4-BE49-F238E27FC236}">
                <a16:creationId xmlns:a16="http://schemas.microsoft.com/office/drawing/2014/main" id="{4CB90200-1BB9-4713-A84D-DEA6AE62C1A6}"/>
              </a:ext>
            </a:extLst>
          </p:cNvPr>
          <p:cNvSpPr>
            <a:spLocks xmlns:a="http://schemas.openxmlformats.org/drawingml/2006/main" noGrp="1"/>
          </p:cNvSpPr>
          <p:nvPr/>
        </p:nvSpPr>
        <p:spPr>
          <a:xfrm xmlns:a="http://schemas.openxmlformats.org/drawingml/2006/main">
            <a:off x="9564624" y="3822192"/>
            <a:ext cx="91440" cy="91440"/>
          </a:xfrm>
          <a:prstGeom xmlns:a="http://schemas.openxmlformats.org/drawingml/2006/main" prst="ellipse">
            <a:avLst/>
          </a:prstGeom>
          <a:solidFill xmlns:a="http://schemas.openxmlformats.org/drawingml/2006/main">
            <a:srgbClr val="D6C9FF"/>
          </a:solidFill>
        </p:spPr>
      </p:sp>
      <p:sp>
        <p:nvSpPr>
          <p:cNvPr id="39" name="Text 37">
            <a:extLst xmlns:a="http://schemas.openxmlformats.org/drawingml/2006/main">
              <a:ext uri="{FF2B5EF4-FFF2-40B4-BE49-F238E27FC236}">
                <a16:creationId xmlns:a16="http://schemas.microsoft.com/office/drawing/2014/main" id="{7517F23E-C44D-4603-B356-DDBB6F3EA461}"/>
              </a:ext>
            </a:extLst>
          </p:cNvPr>
          <p:cNvSpPr>
            <a:spLocks xmlns:a="http://schemas.openxmlformats.org/drawingml/2006/main" noGrp="1"/>
          </p:cNvSpPr>
          <p:nvPr/>
        </p:nvSpPr>
        <p:spPr>
          <a:xfrm xmlns:a="http://schemas.openxmlformats.org/drawingml/2006/main">
            <a:off x="9793224" y="3730752"/>
            <a:ext cx="1600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050">
                <a:solidFill>
                  <a:srgbClr val="E4DAFF"/>
                </a:solidFill>
                <a:latin typeface="Calibri"/>
                <a:ea typeface="Calibri"/>
                <a:cs typeface="Calibri"/>
              </a:rPr>
              <a:t>Produire des intervalles de prévision</a:t>
            </a:r>
            <a:endParaRPr sz="1050"/>
          </a:p>
        </p:txBody>
      </p:sp>
      <p:sp>
        <p:nvSpPr>
          <p:cNvPr id="40" name="Shape 38">
            <a:extLst xmlns:a="http://schemas.openxmlformats.org/drawingml/2006/main">
              <a:ext uri="{FF2B5EF4-FFF2-40B4-BE49-F238E27FC236}">
                <a16:creationId xmlns:a16="http://schemas.microsoft.com/office/drawing/2014/main" id="{E7076FDF-B92B-40E9-B71E-EC871576981B}"/>
              </a:ext>
            </a:extLst>
          </p:cNvPr>
          <p:cNvSpPr>
            <a:spLocks xmlns:a="http://schemas.openxmlformats.org/drawingml/2006/main" noGrp="1"/>
          </p:cNvSpPr>
          <p:nvPr/>
        </p:nvSpPr>
        <p:spPr>
          <a:xfrm xmlns:a="http://schemas.openxmlformats.org/drawingml/2006/main">
            <a:off x="9564624" y="4754880"/>
            <a:ext cx="91440" cy="91440"/>
          </a:xfrm>
          <a:prstGeom xmlns:a="http://schemas.openxmlformats.org/drawingml/2006/main" prst="ellipse">
            <a:avLst/>
          </a:prstGeom>
          <a:solidFill xmlns:a="http://schemas.openxmlformats.org/drawingml/2006/main">
            <a:srgbClr val="D6C9FF"/>
          </a:solidFill>
        </p:spPr>
      </p:sp>
      <p:sp>
        <p:nvSpPr>
          <p:cNvPr id="41" name="Text 39">
            <a:extLst xmlns:a="http://schemas.openxmlformats.org/drawingml/2006/main">
              <a:ext uri="{FF2B5EF4-FFF2-40B4-BE49-F238E27FC236}">
                <a16:creationId xmlns:a16="http://schemas.microsoft.com/office/drawing/2014/main" id="{7CB43E67-8E0A-48FA-B90F-D0C53C69D1C0}"/>
              </a:ext>
            </a:extLst>
          </p:cNvPr>
          <p:cNvSpPr>
            <a:spLocks xmlns:a="http://schemas.openxmlformats.org/drawingml/2006/main" noGrp="1"/>
          </p:cNvSpPr>
          <p:nvPr/>
        </p:nvSpPr>
        <p:spPr>
          <a:xfrm xmlns:a="http://schemas.openxmlformats.org/drawingml/2006/main">
            <a:off x="9793224" y="4663440"/>
            <a:ext cx="1600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050">
                <a:solidFill>
                  <a:srgbClr val="E4DAFF"/>
                </a:solidFill>
                <a:latin typeface="Calibri"/>
                <a:ea typeface="Calibri"/>
                <a:cs typeface="Calibri"/>
              </a:rPr>
              <a:t>Intégrer le modèle au rolling forecast</a:t>
            </a:r>
            <a:endParaRPr sz="1050"/>
          </a:p>
        </p:txBody>
      </p:sp>
      <p:sp>
        <p:nvSpPr>
          <p:cNvPr id="42" name="Text 40">
            <a:extLst xmlns:a="http://schemas.openxmlformats.org/drawingml/2006/main">
              <a:ext uri="{FF2B5EF4-FFF2-40B4-BE49-F238E27FC236}">
                <a16:creationId xmlns:a16="http://schemas.microsoft.com/office/drawing/2014/main" id="{4915BE7A-1883-4E4F-9A17-3B35233F60F1}"/>
              </a:ext>
            </a:extLst>
          </p:cNvPr>
          <p:cNvSpPr>
            <a:spLocks xmlns:a="http://schemas.openxmlformats.org/drawingml/2006/main" noGrp="1"/>
          </p:cNvSpPr>
          <p:nvPr/>
        </p:nvSpPr>
        <p:spPr>
          <a:xfrm xmlns:a="http://schemas.openxmlformats.org/drawingml/2006/main">
            <a:off x="4352544" y="5687568"/>
            <a:ext cx="704088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i="1">
                <a:solidFill>
                  <a:srgbClr val="6E6A88"/>
                </a:solidFill>
                <a:latin typeface="Calibri"/>
                <a:ea typeface="Calibri"/>
                <a:cs typeface="Calibri"/>
              </a:rPr>
              <a:t>Le modèle ne remplacera la référence qu'après deux à trois exercices complets, une collecte fiabilisée du budget, du backlog et des effectifs, un avantage reproduit sur plusieurs origines consécutives et confirmé par le test de Diebold-Mariano.</a:t>
            </a:r>
            <a:endParaRPr sz="1250"/>
          </a:p>
        </p:txBody>
      </p:sp>
      <p:sp>
        <p:nvSpPr>
          <p:cNvPr id="43" name="!!footer_label">
            <a:extLst xmlns:a="http://schemas.openxmlformats.org/drawingml/2006/main">
              <a:ext uri="{FF2B5EF4-FFF2-40B4-BE49-F238E27FC236}">
                <a16:creationId xmlns:a16="http://schemas.microsoft.com/office/drawing/2014/main" id="{FB4EC18D-8648-440B-B2AB-7958D7C6D608}"/>
              </a:ext>
            </a:extLst>
          </p:cNvPr>
          <p:cNvSpPr>
            <a:spLocks xmlns:a="http://schemas.openxmlformats.org/drawingml/2006/main" noGrp="1"/>
          </p:cNvSpPr>
          <p:nvPr/>
        </p:nvSpPr>
        <p:spPr>
          <a:xfrm xmlns:a="http://schemas.openxmlformats.org/drawingml/2006/main">
            <a:off x="713232" y="6345936"/>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60">
                <a:solidFill>
                  <a:srgbClr val="A5A1B8"/>
                </a:solidFill>
                <a:latin typeface="Calibri"/>
                <a:ea typeface="Calibri"/>
                <a:cs typeface="Calibri"/>
              </a:rPr>
              <a:t>06 · Recommandations</a:t>
            </a:r>
            <a:endParaRPr sz="900"/>
          </a:p>
        </p:txBody>
      </p:sp>
      <p:sp>
        <p:nvSpPr>
          <p:cNvPr id="44" name="!!footer_page">
            <a:extLst xmlns:a="http://schemas.openxmlformats.org/drawingml/2006/main">
              <a:ext uri="{FF2B5EF4-FFF2-40B4-BE49-F238E27FC236}">
                <a16:creationId xmlns:a16="http://schemas.microsoft.com/office/drawing/2014/main" id="{32E5EB16-81A4-4B5A-A7E5-2474A24F3133}"/>
              </a:ext>
            </a:extLst>
          </p:cNvPr>
          <p:cNvSpPr>
            <a:spLocks xmlns:a="http://schemas.openxmlformats.org/drawingml/2006/main" noGrp="1"/>
          </p:cNvSpPr>
          <p:nvPr/>
        </p:nvSpPr>
        <p:spPr>
          <a:xfrm xmlns:a="http://schemas.openxmlformats.org/drawingml/2006/main">
            <a:off x="10972800" y="6345936"/>
            <a:ext cx="502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b="1">
                <a:solidFill>
                  <a:srgbClr val="6B46C7"/>
                </a:solidFill>
                <a:latin typeface="Calibri"/>
                <a:ea typeface="Calibri"/>
                <a:cs typeface="Calibri"/>
              </a:rPr>
              <a:t>15</a:t>
            </a:r>
            <a:endParaRPr sz="950"/>
          </a:p>
        </p:txBody>
      </p:sp>
    </p:spTree>
    <p:extLst>
      <p:ext uri="{BB962C8B-B14F-4D97-AF65-F5344CB8AC3E}">
        <p14:creationId xmlns:p14="http://schemas.microsoft.com/office/powerpoint/2010/main" val="1241812735"/>
      </p:ext>
    </p:extLst>
  </p:cSld>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17.xml><?xml version="1.0" encoding="utf-8"?>
<p:sld xmlns:p="http://schemas.openxmlformats.org/presentationml/2006/main">
  <p:cSld>
    <p:bg>
      <p:bgPr>
        <a:blipFill xmlns:a="http://schemas.openxmlformats.org/drawingml/2006/main" rotWithShape="1">
          <a:blip xmlns:r="http://schemas.openxmlformats.org/officeDocument/2006/relationships" r:embed="Rd743daeedf71496f">
            <a:lum/>
          </a:blip>
          <a:srcRect l="0" t="0" r="0" b="0"/>
          <a:stretch>
            <a:fillRect l="0" t="0" r="0" b="0"/>
          </a:stretch>
        </a:blipFill>
      </p:bgPr>
    </p:bg>
    <p:spTree>
      <p:nvGrpSpPr>
        <p:cNvPr id="1" name=""/>
        <p:cNvGrpSpPr/>
        <p:nvPr/>
      </p:nvGrpSpPr>
      <p:grpSpPr>
        <a:xfrm xmlns:a="http://schemas.openxmlformats.org/drawingml/2006/main"/>
      </p:grpSpPr>
      <p:sp>
        <p:nvSpPr>
          <p:cNvPr id="2" name="!!eyebrow">
            <a:extLst xmlns:a="http://schemas.openxmlformats.org/drawingml/2006/main">
              <a:ext uri="{FF2B5EF4-FFF2-40B4-BE49-F238E27FC236}">
                <a16:creationId xmlns:a16="http://schemas.microsoft.com/office/drawing/2014/main" id="{21443A56-7EDB-44D1-93A9-200B4AA78E1E}"/>
              </a:ext>
            </a:extLst>
          </p:cNvPr>
          <p:cNvSpPr>
            <a:spLocks xmlns:a="http://schemas.openxmlformats.org/drawingml/2006/main" noGrp="1"/>
          </p:cNvSpPr>
          <p:nvPr/>
        </p:nvSpPr>
        <p:spPr>
          <a:xfrm xmlns:a="http://schemas.openxmlformats.org/drawingml/2006/main">
            <a:off x="749808" y="594360"/>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240">
                <a:solidFill>
                  <a:srgbClr val="6B46C7"/>
                </a:solidFill>
                <a:latin typeface="Calibri"/>
                <a:ea typeface="Calibri"/>
                <a:cs typeface="Calibri"/>
              </a:rPr>
              <a:t>CONCLUSION</a:t>
            </a:r>
            <a:endParaRPr sz="1050"/>
          </a:p>
        </p:txBody>
      </p:sp>
      <p:sp>
        <p:nvSpPr>
          <p:cNvPr id="3" name="!!title">
            <a:extLst xmlns:a="http://schemas.openxmlformats.org/drawingml/2006/main">
              <a:ext uri="{FF2B5EF4-FFF2-40B4-BE49-F238E27FC236}">
                <a16:creationId xmlns:a16="http://schemas.microsoft.com/office/drawing/2014/main" id="{EA0EC385-EAF5-4013-9A4E-9C491638C542}"/>
              </a:ext>
            </a:extLst>
          </p:cNvPr>
          <p:cNvSpPr>
            <a:spLocks xmlns:a="http://schemas.openxmlformats.org/drawingml/2006/main" noGrp="1"/>
          </p:cNvSpPr>
          <p:nvPr/>
        </p:nvSpPr>
        <p:spPr>
          <a:xfrm xmlns:a="http://schemas.openxmlformats.org/drawingml/2006/main">
            <a:off x="713232" y="960120"/>
            <a:ext cx="8229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100" b="1">
                <a:solidFill>
                  <a:srgbClr val="141230"/>
                </a:solidFill>
                <a:latin typeface="Cambria"/>
                <a:ea typeface="Cambria"/>
                <a:cs typeface="Cambria"/>
              </a:rPr>
              <a:t>Trois enseignements à retenir</a:t>
            </a:r>
            <a:endParaRPr sz="3100"/>
          </a:p>
        </p:txBody>
      </p:sp>
      <p:sp>
        <p:nvSpPr>
          <p:cNvPr id="4" name="Shape 2">
            <a:extLst xmlns:a="http://schemas.openxmlformats.org/drawingml/2006/main">
              <a:ext uri="{FF2B5EF4-FFF2-40B4-BE49-F238E27FC236}">
                <a16:creationId xmlns:a16="http://schemas.microsoft.com/office/drawing/2014/main" id="{E2BD7E29-8F87-4F40-B608-A3868DFEE876}"/>
              </a:ext>
            </a:extLst>
          </p:cNvPr>
          <p:cNvSpPr>
            <a:spLocks xmlns:a="http://schemas.openxmlformats.org/drawingml/2006/main" noGrp="1"/>
          </p:cNvSpPr>
          <p:nvPr/>
        </p:nvSpPr>
        <p:spPr>
          <a:xfrm xmlns:a="http://schemas.openxmlformats.org/drawingml/2006/main">
            <a:off x="713232" y="1965960"/>
            <a:ext cx="3383280" cy="3063240"/>
          </a:xfrm>
          <a:prstGeom xmlns:a="http://schemas.openxmlformats.org/drawingml/2006/main" prst="roundRect">
            <a:avLst>
              <a:gd name="adj" fmla="val 2985"/>
            </a:avLst>
          </a:prstGeom>
          <a:solidFill xmlns:a="http://schemas.openxmlformats.org/drawingml/2006/main">
            <a:srgbClr val="F6F5FB"/>
          </a:solidFill>
          <a:ln xmlns:a="http://schemas.openxmlformats.org/drawingml/2006/main" w="9525">
            <a:solidFill>
              <a:srgbClr val="E2DEF0"/>
            </a:solidFill>
            <a:prstDash val="solid"/>
          </a:ln>
          <a:effectLst xmlns:a="http://schemas.openxmlformats.org/drawingml/2006/main">
            <a:outerShdw blurRad="203200" dist="38100" dir="5400000" sx="100000" sy="100000" kx="0" ky="0" algn="bl" rotWithShape="0">
              <a:srgbClr val="3C2E7A">
                <a:alpha val="10000"/>
              </a:srgbClr>
            </a:outerShdw>
          </a:effectLst>
        </p:spPr>
        <p:txBody xmlns:a="http://schemas.openxmlformats.org/drawingml/2006/main">
          <a:bodyPr/>
          <a:p/>
        </p:txBody>
      </p:sp>
      <p:sp>
        <p:nvSpPr>
          <p:cNvPr id="5" name="Shape 3">
            <a:extLst xmlns:a="http://schemas.openxmlformats.org/drawingml/2006/main">
              <a:ext uri="{FF2B5EF4-FFF2-40B4-BE49-F238E27FC236}">
                <a16:creationId xmlns:a16="http://schemas.microsoft.com/office/drawing/2014/main" id="{BBFA7BC4-53CF-431D-A65C-55052268986C}"/>
              </a:ext>
            </a:extLst>
          </p:cNvPr>
          <p:cNvSpPr>
            <a:spLocks xmlns:a="http://schemas.openxmlformats.org/drawingml/2006/main" noGrp="1"/>
          </p:cNvSpPr>
          <p:nvPr/>
        </p:nvSpPr>
        <p:spPr>
          <a:xfrm xmlns:a="http://schemas.openxmlformats.org/drawingml/2006/main">
            <a:off x="1005840" y="2240280"/>
            <a:ext cx="365760" cy="365760"/>
          </a:xfrm>
          <a:prstGeom xmlns:a="http://schemas.openxmlformats.org/drawingml/2006/main" prst="roundRect">
            <a:avLst>
              <a:gd name="adj" fmla="val 17500"/>
            </a:avLst>
          </a:prstGeom>
          <a:solidFill xmlns:a="http://schemas.openxmlformats.org/drawingml/2006/main">
            <a:srgbClr val="6B46C7"/>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F56AF450-94B0-4867-B164-AC24B176C011}"/>
              </a:ext>
            </a:extLst>
          </p:cNvPr>
          <p:cNvSpPr>
            <a:spLocks xmlns:a="http://schemas.openxmlformats.org/drawingml/2006/main" noGrp="1"/>
          </p:cNvSpPr>
          <p:nvPr/>
        </p:nvSpPr>
        <p:spPr>
          <a:xfrm xmlns:a="http://schemas.openxmlformats.org/drawingml/2006/main">
            <a:off x="1005840" y="22402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01</a:t>
            </a:r>
            <a:endParaRPr sz="1200"/>
          </a:p>
        </p:txBody>
      </p:sp>
      <p:sp>
        <p:nvSpPr>
          <p:cNvPr id="7" name="Text 5">
            <a:extLst xmlns:a="http://schemas.openxmlformats.org/drawingml/2006/main">
              <a:ext uri="{FF2B5EF4-FFF2-40B4-BE49-F238E27FC236}">
                <a16:creationId xmlns:a16="http://schemas.microsoft.com/office/drawing/2014/main" id="{23685B60-FD1F-453C-9782-C21F441E8DA9}"/>
              </a:ext>
            </a:extLst>
          </p:cNvPr>
          <p:cNvSpPr>
            <a:spLocks xmlns:a="http://schemas.openxmlformats.org/drawingml/2006/main" noGrp="1"/>
          </p:cNvSpPr>
          <p:nvPr/>
        </p:nvSpPr>
        <p:spPr>
          <a:xfrm xmlns:a="http://schemas.openxmlformats.org/drawingml/2006/main">
            <a:off x="1005840" y="2743200"/>
            <a:ext cx="2798064"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600" b="1">
                <a:solidFill>
                  <a:srgbClr val="141230"/>
                </a:solidFill>
                <a:latin typeface="Cambria"/>
                <a:ea typeface="Cambria"/>
                <a:cs typeface="Cambria"/>
              </a:rPr>
              <a:t>La complexité n'est pas une preuve</a:t>
            </a:r>
            <a:endParaRPr sz="1600"/>
          </a:p>
        </p:txBody>
      </p:sp>
      <p:sp>
        <p:nvSpPr>
          <p:cNvPr id="8" name="Text 6">
            <a:extLst xmlns:a="http://schemas.openxmlformats.org/drawingml/2006/main">
              <a:ext uri="{FF2B5EF4-FFF2-40B4-BE49-F238E27FC236}">
                <a16:creationId xmlns:a16="http://schemas.microsoft.com/office/drawing/2014/main" id="{0EC872C4-3016-4362-B5A5-5D70BFE57C5A}"/>
              </a:ext>
            </a:extLst>
          </p:cNvPr>
          <p:cNvSpPr>
            <a:spLocks xmlns:a="http://schemas.openxmlformats.org/drawingml/2006/main" noGrp="1"/>
          </p:cNvSpPr>
          <p:nvPr/>
        </p:nvSpPr>
        <p:spPr>
          <a:xfrm xmlns:a="http://schemas.openxmlformats.org/drawingml/2006/main">
            <a:off x="1005840" y="3429000"/>
            <a:ext cx="2798064"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150">
                <a:solidFill>
                  <a:srgbClr val="6E6A88"/>
                </a:solidFill>
                <a:latin typeface="Calibri"/>
                <a:ea typeface="Calibri"/>
                <a:cs typeface="Calibri"/>
              </a:rPr>
              <a:t>Sur données réelles, la méthode de référence conserve l'avantage sur chacune des trois origines, et cette supériorité est statistiquement établie. Recommander XGBoost aujourd'hui serait recommander un coût sans gain démontré.</a:t>
            </a:r>
            <a:endParaRPr sz="1150"/>
          </a:p>
        </p:txBody>
      </p:sp>
      <p:sp>
        <p:nvSpPr>
          <p:cNvPr id="9" name="Shape 7">
            <a:extLst xmlns:a="http://schemas.openxmlformats.org/drawingml/2006/main">
              <a:ext uri="{FF2B5EF4-FFF2-40B4-BE49-F238E27FC236}">
                <a16:creationId xmlns:a16="http://schemas.microsoft.com/office/drawing/2014/main" id="{04D148CE-2528-43C5-BFD6-93E8640E0FC8}"/>
              </a:ext>
            </a:extLst>
          </p:cNvPr>
          <p:cNvSpPr>
            <a:spLocks xmlns:a="http://schemas.openxmlformats.org/drawingml/2006/main" noGrp="1"/>
          </p:cNvSpPr>
          <p:nvPr/>
        </p:nvSpPr>
        <p:spPr>
          <a:xfrm xmlns:a="http://schemas.openxmlformats.org/drawingml/2006/main">
            <a:off x="4389120" y="1965960"/>
            <a:ext cx="3383280" cy="3063240"/>
          </a:xfrm>
          <a:prstGeom xmlns:a="http://schemas.openxmlformats.org/drawingml/2006/main" prst="roundRect">
            <a:avLst>
              <a:gd name="adj" fmla="val 2985"/>
            </a:avLst>
          </a:prstGeom>
          <a:solidFill xmlns:a="http://schemas.openxmlformats.org/drawingml/2006/main">
            <a:srgbClr val="EEEBF8"/>
          </a:solidFill>
          <a:ln xmlns:a="http://schemas.openxmlformats.org/drawingml/2006/main" w="9525">
            <a:solidFill>
              <a:srgbClr val="E2DEF0"/>
            </a:solidFill>
            <a:prstDash val="solid"/>
          </a:ln>
          <a:effectLst xmlns:a="http://schemas.openxmlformats.org/drawingml/2006/main">
            <a:outerShdw blurRad="203200" dist="38100" dir="5400000" sx="100000" sy="100000" kx="0" ky="0" algn="bl" rotWithShape="0">
              <a:srgbClr val="3C2E7A">
                <a:alpha val="10000"/>
              </a:srgbClr>
            </a:outerShdw>
          </a:effectLst>
        </p:spPr>
      </p:sp>
      <p:sp>
        <p:nvSpPr>
          <p:cNvPr id="10" name="Shape 8">
            <a:extLst xmlns:a="http://schemas.openxmlformats.org/drawingml/2006/main">
              <a:ext uri="{FF2B5EF4-FFF2-40B4-BE49-F238E27FC236}">
                <a16:creationId xmlns:a16="http://schemas.microsoft.com/office/drawing/2014/main" id="{D9A336B8-5D8D-4D55-BDF8-957E8B04A22D}"/>
              </a:ext>
            </a:extLst>
          </p:cNvPr>
          <p:cNvSpPr>
            <a:spLocks xmlns:a="http://schemas.openxmlformats.org/drawingml/2006/main" noGrp="1"/>
          </p:cNvSpPr>
          <p:nvPr/>
        </p:nvSpPr>
        <p:spPr>
          <a:xfrm xmlns:a="http://schemas.openxmlformats.org/drawingml/2006/main">
            <a:off x="4681728" y="2240280"/>
            <a:ext cx="365760" cy="365760"/>
          </a:xfrm>
          <a:prstGeom xmlns:a="http://schemas.openxmlformats.org/drawingml/2006/main" prst="roundRect">
            <a:avLst>
              <a:gd name="adj" fmla="val 17500"/>
            </a:avLst>
          </a:prstGeom>
          <a:solidFill xmlns:a="http://schemas.openxmlformats.org/drawingml/2006/main">
            <a:srgbClr val="6B46C7"/>
          </a:solidFill>
        </p:spPr>
      </p:sp>
      <p:sp>
        <p:nvSpPr>
          <p:cNvPr id="11" name="Text 9">
            <a:extLst xmlns:a="http://schemas.openxmlformats.org/drawingml/2006/main">
              <a:ext uri="{FF2B5EF4-FFF2-40B4-BE49-F238E27FC236}">
                <a16:creationId xmlns:a16="http://schemas.microsoft.com/office/drawing/2014/main" id="{01FB636E-D695-48ED-8913-38015FC754D5}"/>
              </a:ext>
            </a:extLst>
          </p:cNvPr>
          <p:cNvSpPr>
            <a:spLocks xmlns:a="http://schemas.openxmlformats.org/drawingml/2006/main" noGrp="1"/>
          </p:cNvSpPr>
          <p:nvPr/>
        </p:nvSpPr>
        <p:spPr>
          <a:xfrm xmlns:a="http://schemas.openxmlformats.org/drawingml/2006/main">
            <a:off x="4681728" y="22402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02</a:t>
            </a:r>
            <a:endParaRPr sz="1200"/>
          </a:p>
        </p:txBody>
      </p:sp>
      <p:sp>
        <p:nvSpPr>
          <p:cNvPr id="12" name="Text 10">
            <a:extLst xmlns:a="http://schemas.openxmlformats.org/drawingml/2006/main">
              <a:ext uri="{FF2B5EF4-FFF2-40B4-BE49-F238E27FC236}">
                <a16:creationId xmlns:a16="http://schemas.microsoft.com/office/drawing/2014/main" id="{7C932A52-ABF1-4347-8247-70C9290594B9}"/>
              </a:ext>
            </a:extLst>
          </p:cNvPr>
          <p:cNvSpPr>
            <a:spLocks xmlns:a="http://schemas.openxmlformats.org/drawingml/2006/main" noGrp="1"/>
          </p:cNvSpPr>
          <p:nvPr/>
        </p:nvSpPr>
        <p:spPr>
          <a:xfrm xmlns:a="http://schemas.openxmlformats.org/drawingml/2006/main">
            <a:off x="4681728" y="2743200"/>
            <a:ext cx="2798064"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600" b="1">
                <a:solidFill>
                  <a:srgbClr val="141230"/>
                </a:solidFill>
                <a:latin typeface="Cambria"/>
                <a:ea typeface="Cambria"/>
                <a:cs typeface="Cambria"/>
              </a:rPr>
              <a:t>La profondeur des données limite le modèle</a:t>
            </a:r>
            <a:endParaRPr sz="1600"/>
          </a:p>
        </p:txBody>
      </p:sp>
      <p:sp>
        <p:nvSpPr>
          <p:cNvPr id="13" name="Text 11">
            <a:extLst xmlns:a="http://schemas.openxmlformats.org/drawingml/2006/main">
              <a:ext uri="{FF2B5EF4-FFF2-40B4-BE49-F238E27FC236}">
                <a16:creationId xmlns:a16="http://schemas.microsoft.com/office/drawing/2014/main" id="{D352765E-64BE-484A-8C82-898D7A2F6B44}"/>
              </a:ext>
            </a:extLst>
          </p:cNvPr>
          <p:cNvSpPr>
            <a:spLocks xmlns:a="http://schemas.openxmlformats.org/drawingml/2006/main" noGrp="1"/>
          </p:cNvSpPr>
          <p:nvPr/>
        </p:nvSpPr>
        <p:spPr>
          <a:xfrm xmlns:a="http://schemas.openxmlformats.org/drawingml/2006/main">
            <a:off x="4681728" y="3429000"/>
            <a:ext cx="2798064"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150">
                <a:solidFill>
                  <a:srgbClr val="6E6A88"/>
                </a:solidFill>
                <a:latin typeface="Calibri"/>
                <a:ea typeface="Calibri"/>
                <a:cs typeface="Calibri"/>
              </a:rPr>
              <a:t>Le même pipeline atteint un R² de 0,945 sur le volet synthétique, entraîné sur six exercices (2019–2024). La baisse de l’erreur avec chaque mois ajouté indique que la profondeur des données constitue aujourd’hui un facteur limitant majeur.</a:t>
            </a:r>
            <a:endParaRPr sz="1150"/>
          </a:p>
        </p:txBody>
      </p:sp>
      <p:sp>
        <p:nvSpPr>
          <p:cNvPr id="14" name="Shape 12">
            <a:extLst xmlns:a="http://schemas.openxmlformats.org/drawingml/2006/main">
              <a:ext uri="{FF2B5EF4-FFF2-40B4-BE49-F238E27FC236}">
                <a16:creationId xmlns:a16="http://schemas.microsoft.com/office/drawing/2014/main" id="{2C9BDAF8-476D-489D-B040-05069834C201}"/>
              </a:ext>
            </a:extLst>
          </p:cNvPr>
          <p:cNvSpPr>
            <a:spLocks xmlns:a="http://schemas.openxmlformats.org/drawingml/2006/main" noGrp="1"/>
          </p:cNvSpPr>
          <p:nvPr/>
        </p:nvSpPr>
        <p:spPr>
          <a:xfrm xmlns:a="http://schemas.openxmlformats.org/drawingml/2006/main">
            <a:off x="8065008" y="1965960"/>
            <a:ext cx="3383280" cy="3063240"/>
          </a:xfrm>
          <a:prstGeom xmlns:a="http://schemas.openxmlformats.org/drawingml/2006/main" prst="roundRect">
            <a:avLst>
              <a:gd name="adj" fmla="val 2985"/>
            </a:avLst>
          </a:prstGeom>
          <a:solidFill xmlns:a="http://schemas.openxmlformats.org/drawingml/2006/main">
            <a:srgbClr val="F6F5FB"/>
          </a:solidFill>
          <a:ln xmlns:a="http://schemas.openxmlformats.org/drawingml/2006/main" w="9525">
            <a:solidFill>
              <a:srgbClr val="E2DEF0"/>
            </a:solidFill>
            <a:prstDash val="solid"/>
          </a:ln>
          <a:effectLst xmlns:a="http://schemas.openxmlformats.org/drawingml/2006/main">
            <a:outerShdw blurRad="203200" dist="38100" dir="5400000" sx="100000" sy="100000" kx="0" ky="0" algn="bl" rotWithShape="0">
              <a:srgbClr val="3C2E7A">
                <a:alpha val="10000"/>
              </a:srgbClr>
            </a:outerShdw>
          </a:effectLst>
        </p:spPr>
      </p:sp>
      <p:sp>
        <p:nvSpPr>
          <p:cNvPr id="15" name="Shape 13">
            <a:extLst xmlns:a="http://schemas.openxmlformats.org/drawingml/2006/main">
              <a:ext uri="{FF2B5EF4-FFF2-40B4-BE49-F238E27FC236}">
                <a16:creationId xmlns:a16="http://schemas.microsoft.com/office/drawing/2014/main" id="{FAFCBB78-E2C1-481E-8A05-943B28350388}"/>
              </a:ext>
            </a:extLst>
          </p:cNvPr>
          <p:cNvSpPr>
            <a:spLocks xmlns:a="http://schemas.openxmlformats.org/drawingml/2006/main" noGrp="1"/>
          </p:cNvSpPr>
          <p:nvPr/>
        </p:nvSpPr>
        <p:spPr>
          <a:xfrm xmlns:a="http://schemas.openxmlformats.org/drawingml/2006/main">
            <a:off x="8357616" y="2240280"/>
            <a:ext cx="365760" cy="365760"/>
          </a:xfrm>
          <a:prstGeom xmlns:a="http://schemas.openxmlformats.org/drawingml/2006/main" prst="roundRect">
            <a:avLst>
              <a:gd name="adj" fmla="val 17500"/>
            </a:avLst>
          </a:prstGeom>
          <a:solidFill xmlns:a="http://schemas.openxmlformats.org/drawingml/2006/main">
            <a:srgbClr val="6B46C7"/>
          </a:solidFill>
        </p:spPr>
      </p:sp>
      <p:sp>
        <p:nvSpPr>
          <p:cNvPr id="16" name="Text 14">
            <a:extLst xmlns:a="http://schemas.openxmlformats.org/drawingml/2006/main">
              <a:ext uri="{FF2B5EF4-FFF2-40B4-BE49-F238E27FC236}">
                <a16:creationId xmlns:a16="http://schemas.microsoft.com/office/drawing/2014/main" id="{93E91969-7D60-42EE-9C56-07B2DE516068}"/>
              </a:ext>
            </a:extLst>
          </p:cNvPr>
          <p:cNvSpPr>
            <a:spLocks xmlns:a="http://schemas.openxmlformats.org/drawingml/2006/main" noGrp="1"/>
          </p:cNvSpPr>
          <p:nvPr/>
        </p:nvSpPr>
        <p:spPr>
          <a:xfrm xmlns:a="http://schemas.openxmlformats.org/drawingml/2006/main">
            <a:off x="8357616" y="22402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03</a:t>
            </a:r>
            <a:endParaRPr sz="1200"/>
          </a:p>
        </p:txBody>
      </p:sp>
      <p:sp>
        <p:nvSpPr>
          <p:cNvPr id="17" name="Text 15">
            <a:extLst xmlns:a="http://schemas.openxmlformats.org/drawingml/2006/main">
              <a:ext uri="{FF2B5EF4-FFF2-40B4-BE49-F238E27FC236}">
                <a16:creationId xmlns:a16="http://schemas.microsoft.com/office/drawing/2014/main" id="{7B7AB3CC-5570-415B-8A40-3C907C08CEB5}"/>
              </a:ext>
            </a:extLst>
          </p:cNvPr>
          <p:cNvSpPr>
            <a:spLocks xmlns:a="http://schemas.openxmlformats.org/drawingml/2006/main" noGrp="1"/>
          </p:cNvSpPr>
          <p:nvPr/>
        </p:nvSpPr>
        <p:spPr>
          <a:xfrm xmlns:a="http://schemas.openxmlformats.org/drawingml/2006/main">
            <a:off x="8357616" y="2743200"/>
            <a:ext cx="2798064"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600" b="1">
                <a:solidFill>
                  <a:srgbClr val="141230"/>
                </a:solidFill>
                <a:latin typeface="Cambria"/>
                <a:ea typeface="Cambria"/>
                <a:cs typeface="Cambria"/>
              </a:rPr>
              <a:t>La valeur créée guide la décision FP&amp;A</a:t>
            </a:r>
            <a:endParaRPr sz="1600"/>
          </a:p>
        </p:txBody>
      </p:sp>
      <p:sp>
        <p:nvSpPr>
          <p:cNvPr id="18" name="Text 16">
            <a:extLst xmlns:a="http://schemas.openxmlformats.org/drawingml/2006/main">
              <a:ext uri="{FF2B5EF4-FFF2-40B4-BE49-F238E27FC236}">
                <a16:creationId xmlns:a16="http://schemas.microsoft.com/office/drawing/2014/main" id="{F2C8578E-CF71-4B35-8B6D-FCA8A4781B2F}"/>
              </a:ext>
            </a:extLst>
          </p:cNvPr>
          <p:cNvSpPr>
            <a:spLocks xmlns:a="http://schemas.openxmlformats.org/drawingml/2006/main" noGrp="1"/>
          </p:cNvSpPr>
          <p:nvPr/>
        </p:nvSpPr>
        <p:spPr>
          <a:xfrm xmlns:a="http://schemas.openxmlformats.org/drawingml/2006/main">
            <a:off x="8357616" y="3429000"/>
            <a:ext cx="2798064"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150">
                <a:solidFill>
                  <a:srgbClr val="6E6A88"/>
                </a:solidFill>
                <a:latin typeface="Calibri"/>
                <a:ea typeface="Calibri"/>
                <a:cs typeface="Calibri"/>
              </a:rPr>
              <a:t>Base analytique fiable, benchmark formalisé et outil de suivi des écarts : le FP&amp;A dispose désormais d’un cadre pour arbitrer, documenter ses forecasts et challenger à nouveau XGBoost lorsque l’historique sera suffisant.</a:t>
            </a:r>
            <a:endParaRPr sz="1150"/>
          </a:p>
        </p:txBody>
      </p:sp>
      <p:sp>
        <p:nvSpPr>
          <p:cNvPr id="19" name="Text 17">
            <a:extLst xmlns:a="http://schemas.openxmlformats.org/drawingml/2006/main">
              <a:ext uri="{FF2B5EF4-FFF2-40B4-BE49-F238E27FC236}">
                <a16:creationId xmlns:a16="http://schemas.microsoft.com/office/drawing/2014/main" id="{76ECE91B-668A-4819-B11F-34C40D28F325}"/>
              </a:ext>
            </a:extLst>
          </p:cNvPr>
          <p:cNvSpPr>
            <a:spLocks xmlns:a="http://schemas.openxmlformats.org/drawingml/2006/main" noGrp="1"/>
          </p:cNvSpPr>
          <p:nvPr/>
        </p:nvSpPr>
        <p:spPr>
          <a:xfrm xmlns:a="http://schemas.openxmlformats.org/drawingml/2006/main">
            <a:off x="749808" y="5349240"/>
            <a:ext cx="106070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8000"/>
              </a:lnSpc>
              <a:buNone/>
            </a:pPr>
            <a:r>
              <a:rPr sz="1500" i="1">
                <a:solidFill>
                  <a:srgbClr val="4B2FA0"/>
                </a:solidFill>
                <a:latin typeface="Cambria"/>
                <a:ea typeface="Cambria"/>
                <a:cs typeface="Cambria"/>
              </a:rPr>
              <a:t>La valeur d'une démarche de prévision financière ne dépend pas de la sophistication du modèle, mais de la qualité des données, de la rigueur de l'évaluation et de l'utilité des résultats pour la décision.</a:t>
            </a:r>
            <a:endParaRPr sz="1500"/>
          </a:p>
        </p:txBody>
      </p:sp>
      <p:sp>
        <p:nvSpPr>
          <p:cNvPr id="20" name="!!footer_label">
            <a:extLst xmlns:a="http://schemas.openxmlformats.org/drawingml/2006/main">
              <a:ext uri="{FF2B5EF4-FFF2-40B4-BE49-F238E27FC236}">
                <a16:creationId xmlns:a16="http://schemas.microsoft.com/office/drawing/2014/main" id="{3EA10F22-FE13-4C30-92B4-032862569633}"/>
              </a:ext>
            </a:extLst>
          </p:cNvPr>
          <p:cNvSpPr>
            <a:spLocks xmlns:a="http://schemas.openxmlformats.org/drawingml/2006/main" noGrp="1"/>
          </p:cNvSpPr>
          <p:nvPr/>
        </p:nvSpPr>
        <p:spPr>
          <a:xfrm xmlns:a="http://schemas.openxmlformats.org/drawingml/2006/main">
            <a:off x="713232" y="6345936"/>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endParaRPr sz="900"/>
          </a:p>
        </p:txBody>
      </p:sp>
      <p:sp>
        <p:nvSpPr>
          <p:cNvPr id="21" name="!!footer_page">
            <a:extLst xmlns:a="http://schemas.openxmlformats.org/drawingml/2006/main">
              <a:ext uri="{FF2B5EF4-FFF2-40B4-BE49-F238E27FC236}">
                <a16:creationId xmlns:a16="http://schemas.microsoft.com/office/drawing/2014/main" id="{B8EF551B-410B-4AAC-8EB8-4EAA18AB15A7}"/>
              </a:ext>
            </a:extLst>
          </p:cNvPr>
          <p:cNvSpPr>
            <a:spLocks xmlns:a="http://schemas.openxmlformats.org/drawingml/2006/main" noGrp="1"/>
          </p:cNvSpPr>
          <p:nvPr/>
        </p:nvSpPr>
        <p:spPr>
          <a:xfrm xmlns:a="http://schemas.openxmlformats.org/drawingml/2006/main">
            <a:off x="10972800" y="6345936"/>
            <a:ext cx="502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b="1">
                <a:solidFill>
                  <a:srgbClr val="6B46C7"/>
                </a:solidFill>
                <a:latin typeface="Calibri"/>
                <a:ea typeface="Calibri"/>
                <a:cs typeface="Calibri"/>
              </a:rPr>
              <a:t>16</a:t>
            </a:r>
            <a:endParaRPr sz="950"/>
          </a:p>
        </p:txBody>
      </p:sp>
    </p:spTree>
    <p:extLst>
      <p:ext uri="{BB962C8B-B14F-4D97-AF65-F5344CB8AC3E}">
        <p14:creationId xmlns:p14="http://schemas.microsoft.com/office/powerpoint/2010/main" val="244388719"/>
      </p:ext>
    </p:extLst>
  </p:cSld>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eyebrow">
            <a:extLst xmlns:a="http://schemas.openxmlformats.org/drawingml/2006/main">
              <a:ext uri="{FF2B5EF4-FFF2-40B4-BE49-F238E27FC236}">
                <a16:creationId xmlns:a16="http://schemas.microsoft.com/office/drawing/2014/main" id="{68E54A91-2ACF-4D41-8C2F-DEDFB4560F93}"/>
              </a:ext>
            </a:extLst>
          </p:cNvPr>
          <p:cNvSpPr>
            <a:spLocks xmlns:a="http://schemas.openxmlformats.org/drawingml/2006/main" noGrp="1"/>
          </p:cNvSpPr>
          <p:nvPr/>
        </p:nvSpPr>
        <p:spPr>
          <a:xfrm xmlns:a="http://schemas.openxmlformats.org/drawingml/2006/main">
            <a:off x="713232" y="384048"/>
            <a:ext cx="10789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220">
                <a:solidFill>
                  <a:srgbClr val="6B46C7"/>
                </a:solidFill>
                <a:latin typeface="Calibri"/>
                <a:ea typeface="Calibri"/>
                <a:cs typeface="Calibri"/>
              </a:rPr>
              <a:t>ANNEXE B · EXPLICABILITÉ</a:t>
            </a:r>
            <a:endParaRPr sz="1000"/>
          </a:p>
        </p:txBody>
      </p:sp>
      <p:sp>
        <p:nvSpPr>
          <p:cNvPr id="3" name="!!title">
            <a:extLst xmlns:a="http://schemas.openxmlformats.org/drawingml/2006/main">
              <a:ext uri="{FF2B5EF4-FFF2-40B4-BE49-F238E27FC236}">
                <a16:creationId xmlns:a16="http://schemas.microsoft.com/office/drawing/2014/main" id="{E07FC164-EB37-4855-864C-008239AC1A41}"/>
              </a:ext>
            </a:extLst>
          </p:cNvPr>
          <p:cNvSpPr>
            <a:spLocks xmlns:a="http://schemas.openxmlformats.org/drawingml/2006/main" noGrp="1"/>
          </p:cNvSpPr>
          <p:nvPr/>
        </p:nvSpPr>
        <p:spPr>
          <a:xfrm xmlns:a="http://schemas.openxmlformats.org/drawingml/2006/main">
            <a:off x="713232" y="621792"/>
            <a:ext cx="10515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41230"/>
                </a:solidFill>
                <a:latin typeface="Cambria"/>
                <a:ea typeface="Cambria"/>
                <a:cs typeface="Cambria"/>
              </a:rPr>
              <a:t>Annexe B — Variables du modèle synthétique</a:t>
            </a:r>
            <a:endParaRPr sz="2700"/>
          </a:p>
        </p:txBody>
      </p:sp>
      <p:sp>
        <p:nvSpPr>
          <p:cNvPr id="4" name="!!subtitle">
            <a:extLst xmlns:a="http://schemas.openxmlformats.org/drawingml/2006/main">
              <a:ext uri="{FF2B5EF4-FFF2-40B4-BE49-F238E27FC236}">
                <a16:creationId xmlns:a16="http://schemas.microsoft.com/office/drawing/2014/main" id="{9AAF8BAB-057E-459B-90CD-A458AEADC8FB}"/>
              </a:ext>
            </a:extLst>
          </p:cNvPr>
          <p:cNvSpPr>
            <a:spLocks xmlns:a="http://schemas.openxmlformats.org/drawingml/2006/main" noGrp="1"/>
          </p:cNvSpPr>
          <p:nvPr/>
        </p:nvSpPr>
        <p:spPr>
          <a:xfrm xmlns:a="http://schemas.openxmlformats.org/drawingml/2006/main">
            <a:off x="713232" y="1188720"/>
            <a:ext cx="96926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300">
                <a:solidFill>
                  <a:srgbClr val="6E6A88"/>
                </a:solidFill>
                <a:latin typeface="Calibri"/>
                <a:ea typeface="Calibri"/>
                <a:cs typeface="Calibri"/>
              </a:rPr>
              <a:t>Importance par gain sur le volet synthétique, doté du budget, du backlog et des effectifs.</a:t>
            </a:r>
            <a:endParaRPr sz="1300"/>
          </a:p>
        </p:txBody>
      </p:sp>
      <p:graphicFrame>
        <p:nvGraphicFramePr>
          <p:cNvPr id="17" name="Chart 0"/>
          <p:cNvGraphicFramePr/>
          <p:nvPr/>
        </p:nvGraphicFramePr>
        <p:xfrm>
          <a:off xmlns:a="http://schemas.openxmlformats.org/drawingml/2006/main" x="566928" y="1783080"/>
          <a:ext xmlns:a="http://schemas.openxmlformats.org/drawingml/2006/main" cx="6949440" cy="3657600"/>
        </p:xfrm>
        <a:graphic xmlns:a="http://schemas.openxmlformats.org/drawingml/2006/main">
          <a:graphicData uri="http://schemas.openxmlformats.org/drawingml/2006/chart">
            <c:chart xmlns:r="http://schemas.openxmlformats.org/officeDocument/2006/relationships" xmlns:c="http://schemas.openxmlformats.org/drawingml/2006/chart" r:id="R0b0b778e4bc74077"/>
          </a:graphicData>
        </a:graphic>
      </p:graphicFrame>
      <p:sp>
        <p:nvSpPr>
          <p:cNvPr id="6" name="Shape 3">
            <a:extLst xmlns:a="http://schemas.openxmlformats.org/drawingml/2006/main">
              <a:ext uri="{FF2B5EF4-FFF2-40B4-BE49-F238E27FC236}">
                <a16:creationId xmlns:a16="http://schemas.microsoft.com/office/drawing/2014/main" id="{2AEBF5B3-FAFB-40FD-88DF-E939A9FE0F48}"/>
              </a:ext>
            </a:extLst>
          </p:cNvPr>
          <p:cNvSpPr>
            <a:spLocks xmlns:a="http://schemas.openxmlformats.org/drawingml/2006/main" noGrp="1"/>
          </p:cNvSpPr>
          <p:nvPr/>
        </p:nvSpPr>
        <p:spPr>
          <a:xfrm xmlns:a="http://schemas.openxmlformats.org/drawingml/2006/main">
            <a:off x="7818120" y="1783080"/>
            <a:ext cx="3657600" cy="3657600"/>
          </a:xfrm>
          <a:prstGeom xmlns:a="http://schemas.openxmlformats.org/drawingml/2006/main" prst="roundRect">
            <a:avLst>
              <a:gd name="adj" fmla="val 2500"/>
            </a:avLst>
          </a:prstGeom>
          <a:solidFill xmlns:a="http://schemas.openxmlformats.org/drawingml/2006/main">
            <a:srgbClr val="F6F5FB"/>
          </a:solidFill>
          <a:ln xmlns:a="http://schemas.openxmlformats.org/drawingml/2006/main" w="9525">
            <a:solidFill>
              <a:srgbClr val="E2DEF0"/>
            </a:solidFill>
            <a:prstDash val="solid"/>
          </a:ln>
          <a:effectLst xmlns:a="http://schemas.openxmlformats.org/drawingml/2006/main">
            <a:outerShdw blurRad="203200" dist="38100" dir="5400000" sx="100000" sy="100000" kx="0" ky="0" algn="bl" rotWithShape="0">
              <a:srgbClr val="3C2E7A">
                <a:alpha val="10000"/>
              </a:srgbClr>
            </a:outerShdw>
          </a:effectLst>
        </p:spPr>
      </p:sp>
      <p:sp>
        <p:nvSpPr>
          <p:cNvPr id="7" name="Text 4">
            <a:extLst xmlns:a="http://schemas.openxmlformats.org/drawingml/2006/main">
              <a:ext uri="{FF2B5EF4-FFF2-40B4-BE49-F238E27FC236}">
                <a16:creationId xmlns:a16="http://schemas.microsoft.com/office/drawing/2014/main" id="{B2F978BD-D91E-4E2D-B1E2-D4CD2D90E03E}"/>
              </a:ext>
            </a:extLst>
          </p:cNvPr>
          <p:cNvSpPr>
            <a:spLocks xmlns:a="http://schemas.openxmlformats.org/drawingml/2006/main" noGrp="1"/>
          </p:cNvSpPr>
          <p:nvPr/>
        </p:nvSpPr>
        <p:spPr>
          <a:xfrm xmlns:a="http://schemas.openxmlformats.org/drawingml/2006/main">
            <a:off x="8110728" y="2029968"/>
            <a:ext cx="310896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350" b="1">
                <a:solidFill>
                  <a:srgbClr val="4B2FA0"/>
                </a:solidFill>
                <a:latin typeface="Cambria"/>
                <a:ea typeface="Cambria"/>
                <a:cs typeface="Cambria"/>
              </a:rPr>
              <a:t>Une logique cohérente avec le métier</a:t>
            </a:r>
            <a:endParaRPr sz="1350"/>
          </a:p>
        </p:txBody>
      </p:sp>
      <p:sp>
        <p:nvSpPr>
          <p:cNvPr id="8" name="Text 5">
            <a:extLst xmlns:a="http://schemas.openxmlformats.org/drawingml/2006/main">
              <a:ext uri="{FF2B5EF4-FFF2-40B4-BE49-F238E27FC236}">
                <a16:creationId xmlns:a16="http://schemas.microsoft.com/office/drawing/2014/main" id="{7ACEAED6-B808-4BD6-88E0-7249A73341A2}"/>
              </a:ext>
            </a:extLst>
          </p:cNvPr>
          <p:cNvSpPr>
            <a:spLocks xmlns:a="http://schemas.openxmlformats.org/drawingml/2006/main" noGrp="1"/>
          </p:cNvSpPr>
          <p:nvPr/>
        </p:nvSpPr>
        <p:spPr>
          <a:xfrm xmlns:a="http://schemas.openxmlformats.org/drawingml/2006/main">
            <a:off x="8110728" y="2596896"/>
            <a:ext cx="31089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100">
                <a:solidFill>
                  <a:srgbClr val="6E6A88"/>
                </a:solidFill>
                <a:latin typeface="Calibri"/>
                <a:ea typeface="Calibri"/>
                <a:cs typeface="Calibri"/>
              </a:rPr>
              <a:t>Budget, historique récent et carnet de commandes : le modèle s'appuie sur les leviers qu'un analyste financier suit déjà. Cette convergence ne démontre pas une causalité, mais elle fonde la confiance.</a:t>
            </a:r>
            <a:endParaRPr sz="1100"/>
          </a:p>
        </p:txBody>
      </p:sp>
      <p:sp>
        <p:nvSpPr>
          <p:cNvPr id="9" name="Text 6">
            <a:extLst xmlns:a="http://schemas.openxmlformats.org/drawingml/2006/main">
              <a:ext uri="{FF2B5EF4-FFF2-40B4-BE49-F238E27FC236}">
                <a16:creationId xmlns:a16="http://schemas.microsoft.com/office/drawing/2014/main" id="{8A70DC3D-8639-4147-93FA-15265DB8CA59}"/>
              </a:ext>
            </a:extLst>
          </p:cNvPr>
          <p:cNvSpPr>
            <a:spLocks xmlns:a="http://schemas.openxmlformats.org/drawingml/2006/main" noGrp="1"/>
          </p:cNvSpPr>
          <p:nvPr/>
        </p:nvSpPr>
        <p:spPr>
          <a:xfrm xmlns:a="http://schemas.openxmlformats.org/drawingml/2006/main">
            <a:off x="8110728" y="3858768"/>
            <a:ext cx="310896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350" b="1">
                <a:solidFill>
                  <a:srgbClr val="4B2FA0"/>
                </a:solidFill>
                <a:latin typeface="Cambria"/>
                <a:ea typeface="Cambria"/>
                <a:cs typeface="Cambria"/>
              </a:rPr>
              <a:t>Le poids de l'historique récent</a:t>
            </a:r>
            <a:endParaRPr sz="1350"/>
          </a:p>
        </p:txBody>
      </p:sp>
      <p:sp>
        <p:nvSpPr>
          <p:cNvPr id="10" name="Text 7">
            <a:extLst xmlns:a="http://schemas.openxmlformats.org/drawingml/2006/main">
              <a:ext uri="{FF2B5EF4-FFF2-40B4-BE49-F238E27FC236}">
                <a16:creationId xmlns:a16="http://schemas.microsoft.com/office/drawing/2014/main" id="{06C2C3C4-4FDB-42C0-A124-0327A9DC450A}"/>
              </a:ext>
            </a:extLst>
          </p:cNvPr>
          <p:cNvSpPr>
            <a:spLocks xmlns:a="http://schemas.openxmlformats.org/drawingml/2006/main" noGrp="1"/>
          </p:cNvSpPr>
          <p:nvPr/>
        </p:nvSpPr>
        <p:spPr>
          <a:xfrm xmlns:a="http://schemas.openxmlformats.org/drawingml/2006/main">
            <a:off x="8110728" y="4425696"/>
            <a:ext cx="31089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100">
                <a:solidFill>
                  <a:srgbClr val="6E6A88"/>
                </a:solidFill>
                <a:latin typeface="Calibri"/>
                <a:ea typeface="Calibri"/>
                <a:cs typeface="Calibri"/>
              </a:rPr>
              <a:t>Le CA du mois précédent et les moyennes mobiles concentrent près de la moitié de l'importance totale — ce qui explique aussi pourquoi la baseline de persistance est si performante.</a:t>
            </a:r>
            <a:endParaRPr sz="1100"/>
          </a:p>
        </p:txBody>
      </p:sp>
      <p:sp>
        <p:nvSpPr>
          <p:cNvPr id="11" name="!!footer_label">
            <a:extLst xmlns:a="http://schemas.openxmlformats.org/drawingml/2006/main">
              <a:ext uri="{FF2B5EF4-FFF2-40B4-BE49-F238E27FC236}">
                <a16:creationId xmlns:a16="http://schemas.microsoft.com/office/drawing/2014/main" id="{E2CF17C0-92CA-40F2-809B-6C09DC004997}"/>
              </a:ext>
            </a:extLst>
          </p:cNvPr>
          <p:cNvSpPr>
            <a:spLocks xmlns:a="http://schemas.openxmlformats.org/drawingml/2006/main" noGrp="1"/>
          </p:cNvSpPr>
          <p:nvPr/>
        </p:nvSpPr>
        <p:spPr>
          <a:xfrm xmlns:a="http://schemas.openxmlformats.org/drawingml/2006/main">
            <a:off x="713232" y="6345936"/>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spc="60">
                <a:solidFill>
                  <a:srgbClr val="A5A1B8"/>
                </a:solidFill>
                <a:latin typeface="Calibri"/>
                <a:ea typeface="Calibri"/>
                <a:cs typeface="Calibri"/>
              </a:rPr>
              <a:t>ANNEXE · Explicabilité</a:t>
            </a:r>
            <a:endParaRPr sz="900"/>
          </a:p>
        </p:txBody>
      </p:sp>
      <p:sp>
        <p:nvSpPr>
          <p:cNvPr id="12" name="!!footer_page">
            <a:extLst xmlns:a="http://schemas.openxmlformats.org/drawingml/2006/main">
              <a:ext uri="{FF2B5EF4-FFF2-40B4-BE49-F238E27FC236}">
                <a16:creationId xmlns:a16="http://schemas.microsoft.com/office/drawing/2014/main" id="{0175F52E-01EC-4DD1-A444-24FE17FE0729}"/>
              </a:ext>
            </a:extLst>
          </p:cNvPr>
          <p:cNvSpPr>
            <a:spLocks xmlns:a="http://schemas.openxmlformats.org/drawingml/2006/main" noGrp="1"/>
          </p:cNvSpPr>
          <p:nvPr/>
        </p:nvSpPr>
        <p:spPr>
          <a:xfrm xmlns:a="http://schemas.openxmlformats.org/drawingml/2006/main">
            <a:off x="10972800" y="6345936"/>
            <a:ext cx="502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50" b="1">
                <a:solidFill>
                  <a:srgbClr val="6B46C7"/>
                </a:solidFill>
                <a:latin typeface="Calibri"/>
                <a:ea typeface="Calibri"/>
                <a:cs typeface="Calibri"/>
              </a:rPr>
              <a:t>A2</a:t>
            </a:r>
            <a:endParaRPr sz="950"/>
          </a:p>
        </p:txBody>
      </p:sp>
    </p:spTree>
    <p:extLst>
      <p:ext uri="{BB962C8B-B14F-4D97-AF65-F5344CB8AC3E}">
        <p14:creationId xmlns:p14="http://schemas.microsoft.com/office/powerpoint/2010/main" val="1186089230"/>
      </p:ext>
    </p:extLst>
  </p:cSld>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2026-09-01T16:14:48.3430000Z</dcterms:created>
  <dcterms:modified xsi:type="dcterms:W3CDTF">2026-09-01T16:14:48.3430000Z</dcterms:modified>
</coreProperties>
</file>