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3.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4322292cddca4602" Type="http://schemas.openxmlformats.org/officeDocument/2006/relationships/extended-properties" Target="docProps/app.xml"/><Relationship Id="R4760e85057f944c4" Type="http://schemas.openxmlformats.org/package/2006/relationships/metadata/core-properties" Target="docProps/core.xml"/><Relationship Id="Ra1209dd07a5d4dfe" Type="http://schemas.openxmlformats.org/officeDocument/2006/relationships/officeDocument" Target="ppt/presentation.xml"/></Relationships>
</file>

<file path=ppt/presentation.xml><?xml version="1.0" encoding="utf-8"?>
<p:presentation xmlns:p="http://schemas.openxmlformats.org/presentationml/2006/main">
  <p:sldMasterIdLst>
    <p:sldMasterId xmlns:r="http://schemas.openxmlformats.org/officeDocument/2006/relationships" id="2147483648" r:id="R243d1c1ab58947b1"/>
  </p:sldMasterIdLst>
  <p:notesMasterIdLst>
    <p:notesMasterId xmlns:r="http://schemas.openxmlformats.org/officeDocument/2006/relationships" r:id="R22aef37dce2d4290"/>
  </p:notesMasterIdLst>
  <p:sldIdLst>
    <p:sldId xmlns:r="http://schemas.openxmlformats.org/officeDocument/2006/relationships" id="256" r:id="R9a311c59b9df4649"/>
    <p:sldId xmlns:r="http://schemas.openxmlformats.org/officeDocument/2006/relationships" id="258" r:id="Rae9bd83c140947d2"/>
    <p:sldId xmlns:r="http://schemas.openxmlformats.org/officeDocument/2006/relationships" id="262" r:id="Rc8cbb1be505b4ae0"/>
    <p:sldId xmlns:r="http://schemas.openxmlformats.org/officeDocument/2006/relationships" id="263" r:id="R2ee0bcfaed0541b7"/>
    <p:sldId xmlns:r="http://schemas.openxmlformats.org/officeDocument/2006/relationships" id="264" r:id="R4aaf777acc8147d6"/>
    <p:sldId xmlns:r="http://schemas.openxmlformats.org/officeDocument/2006/relationships" id="270" r:id="R0d4aa11ad18a41a1"/>
    <p:sldId xmlns:r="http://schemas.openxmlformats.org/officeDocument/2006/relationships" id="271" r:id="Rd61726d01e8a4259"/>
    <p:sldId xmlns:r="http://schemas.openxmlformats.org/officeDocument/2006/relationships" id="272" r:id="Rfd438a27ec424bc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d4aa11ad18a41a1" Type="http://schemas.openxmlformats.org/officeDocument/2006/relationships/slide" Target="slides/slide6.xml"/><Relationship Id="R22aef37dce2d4290" Type="http://schemas.openxmlformats.org/officeDocument/2006/relationships/notesMaster" Target="notesMasters/notesMaster1.xml"/><Relationship Id="R243d1c1ab58947b1" Type="http://schemas.openxmlformats.org/officeDocument/2006/relationships/slideMaster" Target="slideMasters/slideMaster1.xml"/><Relationship Id="R2ee0bcfaed0541b7" Type="http://schemas.openxmlformats.org/officeDocument/2006/relationships/slide" Target="slides/slide4.xml"/><Relationship Id="R3651f7b04eeb4a98" Type="http://schemas.openxmlformats.org/officeDocument/2006/relationships/tableStyles" Target="tableStyles.xml"/><Relationship Id="R4aaf777acc8147d6" Type="http://schemas.openxmlformats.org/officeDocument/2006/relationships/slide" Target="slides/slide5.xml"/><Relationship Id="R4c024c41a0b34599" Type="http://schemas.openxmlformats.org/officeDocument/2006/relationships/viewProps" Target="viewProps.xml"/><Relationship Id="R4d97ab9b040b4417" Type="http://schemas.openxmlformats.org/officeDocument/2006/relationships/presProps" Target="presProps.xml"/><Relationship Id="R9a311c59b9df4649" Type="http://schemas.openxmlformats.org/officeDocument/2006/relationships/slide" Target="slides/slide1.xml"/><Relationship Id="Rae9bd83c140947d2" Type="http://schemas.openxmlformats.org/officeDocument/2006/relationships/slide" Target="slides/slide2.xml"/><Relationship Id="Rc2197ac1fda34593" Type="http://schemas.openxmlformats.org/officeDocument/2006/relationships/theme" Target="theme/theme1.xml"/><Relationship Id="Rc8cbb1be505b4ae0" Type="http://schemas.openxmlformats.org/officeDocument/2006/relationships/slide" Target="slides/slide3.xml"/><Relationship Id="Rd61726d01e8a4259" Type="http://schemas.openxmlformats.org/officeDocument/2006/relationships/slide" Target="slides/slide7.xml"/><Relationship Id="Rfd438a27ec424bca"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61c8163834884a7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cb823fea545041a7" Type="http://schemas.openxmlformats.org/officeDocument/2006/relationships/slide" Target="../slides/slide1.xml"/><Relationship Id="Rf11b0d9c4eb6496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829d881639534d8e" Type="http://schemas.openxmlformats.org/officeDocument/2006/relationships/notesMaster" Target="../notesMasters/notesMaster1.xml"/><Relationship Id="Rb6b7a3fb2f4943b7" Type="http://schemas.openxmlformats.org/officeDocument/2006/relationships/slide" Target="../slides/slide2.xml"/></Relationships>
</file>

<file path=ppt/notesSlides/_rels/notesSlide7.xml.rels><?xml version='1.0' encoding='UTF-8' standalone='yes'?>
<Relationships xmlns="http://schemas.openxmlformats.org/package/2006/relationships"><Relationship Id="R34e01736d4f84eab" Type="http://schemas.openxmlformats.org/officeDocument/2006/relationships/notesMaster" Target="../notesMasters/notesMaster1.xml"/><Relationship Id="Re751187206304aef" Type="http://schemas.openxmlformats.org/officeDocument/2006/relationships/slide" Target="../slides/slide3.xml"/></Relationships>
</file>

<file path=ppt/notesSlides/_rels/notesSlide8.xml.rels><?xml version='1.0' encoding='UTF-8' standalone='yes'?>
<Relationships xmlns="http://schemas.openxmlformats.org/package/2006/relationships"><Relationship Id="Re16ea5dc2d934c53" Type="http://schemas.openxmlformats.org/officeDocument/2006/relationships/slide" Target="../slides/slide4.xml"/><Relationship Id="Rf5e3e263006542f3"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3494232d3373413c" Type="http://schemas.openxmlformats.org/officeDocument/2006/relationships/notesMaster" Target="../notesMasters/notesMaster1.xml"/><Relationship Id="Rbe8db6751be24f51" Type="http://schemas.openxmlformats.org/officeDocument/2006/relationships/slide" Target="../slides/slide5.xml"/></Relationships>
</file>

<file path=ppt/notesSlides/_rels/notesSlide15.xml.rels><?xml version='1.0' encoding='UTF-8' standalone='yes'?>
<Relationships xmlns="http://schemas.openxmlformats.org/package/2006/relationships"><Relationship Id="R14326c7561524969" Type="http://schemas.openxmlformats.org/officeDocument/2006/relationships/slide" Target="../slides/slide6.xml"/><Relationship Id="R3b7d92a58f7242be"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47cf2944766142de" Type="http://schemas.openxmlformats.org/officeDocument/2006/relationships/slide" Target="../slides/slide7.xml"/><Relationship Id="R9574f9e4065a49d7"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b1dae365f0d54de7" Type="http://schemas.openxmlformats.org/officeDocument/2006/relationships/slide" Target="../slides/slide8.xml"/><Relationship Id="Rdcd7de60536b499e"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Bonjour, je suis Fatima Zahrae Chakib, élève-ingénieure en 4e année, filière Génie Financier, Actuariat &amp; Finance. Je vous présente mon stage de perfectionnement réalisé au sein du département FP&amp;A d'Expleo Maroc à Tanger, sous l'encadrement de Mme El Amarti côté entreprise et de Mme Filali Halime côté EMSI.</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cycle FP&amp;A est une boucle, pas une succession d'étapes. Mon projet intervient sur un seul maillon : l'actualisation des prévisions. Il ne remplace personne — et l'erreur de prévision coûte dans les deux sens.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Deuxième temps : comment j'ai construit la comparaison pour qu'elle soit honnête. C'est là que se situe ma valeur ajoutée — diagnostiquer, mesurer, challenger, recommander.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La chaîne se lit de gauche à droite. Le point sur lequel j'ai passé le plus de temps est en bas à gauche : un modèle qui « voit » le futur affiche des scores spectaculaires et ne sert à rien.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C'est la garantie de robustesse de mes conclusions : trois évaluations indépendantes, pas un découpage chanceux.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 bandeau affiché en haut du dashboard dit explicitement que la naïve est meilleure : l'outil doit être honnête pour être utilisable. Et si je devais retenir une ligne du tableau : avant, il n'existait aucun moyen de savoir si une méthode alternative faisait mieux.</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Ces quatre difficultés ont structuré le travail. La feuille de route est conditionnelle, pas calendaire : on ne passe à l'étape suivante qu'après validation sur données réelles.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 conclusion tient en une phrase : le projet ne prouve pas que le ML est supérieur, il construit ce qui permettra de le savoir.</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260a5ec2c68d4e8e" Type="http://schemas.openxmlformats.org/officeDocument/2006/relationships/slideMaster" Target="../slideMasters/slideMaster1.xml"/></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3217a132fc334e8a" Type="http://schemas.openxmlformats.org/officeDocument/2006/relationships/theme" Target="theme/theme2.xml"/><Relationship Id="R3e9aa7a148cd4882" Type="http://schemas.openxmlformats.org/officeDocument/2006/relationships/slideLayout" Target="../slideLayouts/slideLayout1.xml"/></Relationships>
</file>

<file path=ppt/slideMasters/slideMaster1.xml><?xml version="1.0" encoding="utf-8"?>
<p:sldMaster xmlns:p="http://schemas.openxmlformats.org/presentationml/2006/main">
  <p:cSld>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e9aa7a148cd4882"/>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00f0ca0f33f4220" Type="http://schemas.openxmlformats.org/officeDocument/2006/relationships/notesSlide" Target="../notesSlides/notesSlide1.xml"/><Relationship Id="R257fc4371d9a4876" Type="http://schemas.openxmlformats.org/officeDocument/2006/relationships/slideLayout" Target="../slideLayouts/slideLayout1.xml"/><Relationship Id="R55d9e92949bf4f05" Type="http://schemas.openxmlformats.org/officeDocument/2006/relationships/image" Target="../media/image3.png"/><Relationship Id="Rbb870957ebdf4d18" Type="http://schemas.openxmlformats.org/officeDocument/2006/relationships/image" Target="../media/image2.png"/><Relationship Id="Rc0b9240068af495e" Type="http://schemas.openxmlformats.org/officeDocument/2006/relationships/image" Target="../media/image.png"/></Relationships>
</file>

<file path=ppt/slides/_rels/slide2.xml.rels><?xml version='1.0' encoding='UTF-8' standalone='yes'?>
<Relationships xmlns="http://schemas.openxmlformats.org/package/2006/relationships"><Relationship Id="R1fed88bc478c48ed" Type="http://schemas.openxmlformats.org/officeDocument/2006/relationships/notesSlide" Target="../notesSlides/notesSlide3.xml"/><Relationship Id="R21185ffa2b504487"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30a391580fba4e91" Type="http://schemas.openxmlformats.org/officeDocument/2006/relationships/slideLayout" Target="../slideLayouts/slideLayout1.xml"/><Relationship Id="R520815e290d8486a" Type="http://schemas.openxmlformats.org/officeDocument/2006/relationships/image" Target="../media/image7.png"/><Relationship Id="R62f7da3f3f314b48" Type="http://schemas.openxmlformats.org/officeDocument/2006/relationships/notesSlide" Target="../notesSlides/notesSlide7.xml"/></Relationships>
</file>

<file path=ppt/slides/_rels/slide4.xml.rels><?xml version='1.0' encoding='UTF-8' standalone='yes'?>
<Relationships xmlns="http://schemas.openxmlformats.org/package/2006/relationships"><Relationship Id="R1e9b96a621974040" Type="http://schemas.openxmlformats.org/officeDocument/2006/relationships/slideLayout" Target="../slideLayouts/slideLayout1.xml"/><Relationship Id="R63e9a9c6b17b4a19"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54da4b3e7b714a1d" Type="http://schemas.openxmlformats.org/officeDocument/2006/relationships/notesSlide" Target="../notesSlides/notesSlide9.xml"/><Relationship Id="Rc56aecc11a554c0e"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5e1d0f62a46d4ec7" Type="http://schemas.openxmlformats.org/officeDocument/2006/relationships/image" Target="../media/image10.png"/><Relationship Id="Rca86aedd7b2f426c" Type="http://schemas.openxmlformats.org/officeDocument/2006/relationships/notesSlide" Target="../notesSlides/notesSlide15.xml"/><Relationship Id="Re910d8ced8cb4083"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c5a03739ec904c03" Type="http://schemas.openxmlformats.org/officeDocument/2006/relationships/notesSlide" Target="../notesSlides/notesSlide16.xml"/><Relationship Id="Rde7585b327ad42c4"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b8eed808ce1f4f08" Type="http://schemas.openxmlformats.org/officeDocument/2006/relationships/notesSlide" Target="../notesSlides/notesSlide17.xml"/><Relationship Id="Rb93f6b5678fa4cdb" Type="http://schemas.openxmlformats.org/officeDocument/2006/relationships/slideLayout" Target="../slideLayouts/slideLayout1.xml"/><Relationship Id="Rd743daeedf71496f" Type="http://schemas.openxmlformats.org/officeDocument/2006/relationships/image" Target="../media/image11.png"/></Relationships>
</file>

<file path=ppt/slides/slide1.xml><?xml version="1.0" encoding="utf-8"?>
<p:sld xmlns:p="http://schemas.openxmlformats.org/presentationml/2006/main">
  <p:cSld>
    <p:bg>
      <p:bgPr>
        <a:blipFill xmlns:a="http://schemas.openxmlformats.org/drawingml/2006/main" rotWithShape="1">
          <a:blip xmlns:r="http://schemas.openxmlformats.org/officeDocument/2006/relationships" r:embed="Rc0b9240068af495e">
            <a:lum/>
          </a:blip>
          <a:srcRect l="0" t="0" r="0" b="0"/>
          <a:stretch>
            <a:fillRect l="0" t="0" r="0" b="0"/>
          </a:stretch>
        </a:blipFill>
      </p:bgPr>
    </p:bg>
    <p:spTree>
      <p:nvGrpSpPr>
        <p:cNvPr id="1" name=""/>
        <p:cNvGrpSpPr/>
        <p:nvPr/>
      </p:nvGrpSpPr>
      <p:grpSpPr>
        <a:xfrm xmlns:a="http://schemas.openxmlformats.org/drawingml/2006/main"/>
      </p:grpSpPr>
      <p:pic>
        <p:nvPicPr>
          <p:cNvPr id="28" name="Image 0"/>
          <p:cNvPicPr>
            <a:picLocks xmlns:a="http://schemas.openxmlformats.org/drawingml/2006/main" noChangeAspect="1"/>
          </p:cNvPicPr>
          <p:nvPr/>
        </p:nvPicPr>
        <p:blipFill>
          <a:blip xmlns:r="http://schemas.openxmlformats.org/officeDocument/2006/relationships" xmlns:a="http://schemas.openxmlformats.org/drawingml/2006/main" r:embed="Rbb870957ebdf4d18"/>
          <a:stretch xmlns:a="http://schemas.openxmlformats.org/drawingml/2006/main">
            <a:fillRect l="0" t="0" r="0" b="0"/>
          </a:stretch>
        </p:blipFill>
        <p:spPr>
          <a:xfrm xmlns:a="http://schemas.openxmlformats.org/drawingml/2006/main">
            <a:off x="3429000" y="411480"/>
            <a:ext cx="3108960" cy="680314"/>
          </a:xfrm>
          <a:prstGeom xmlns:a="http://schemas.openxmlformats.org/drawingml/2006/main" prst="rect">
            <a:avLst/>
          </a:prstGeom>
        </p:spPr>
      </p:pic>
      <p:sp>
        <p:nvSpPr>
          <p:cNvPr id="3" name="Shape 0">
            <a:extLst xmlns:a="http://schemas.openxmlformats.org/drawingml/2006/main">
              <a:ext uri="{FF2B5EF4-FFF2-40B4-BE49-F238E27FC236}">
                <a16:creationId xmlns:a16="http://schemas.microsoft.com/office/drawing/2014/main" id="{1D34E224-DC2E-4163-AE6E-56B9AD9961C7}"/>
              </a:ext>
            </a:extLst>
          </p:cNvPr>
          <p:cNvSpPr>
            <a:spLocks xmlns:a="http://schemas.openxmlformats.org/drawingml/2006/main" noGrp="1"/>
          </p:cNvSpPr>
          <p:nvPr/>
        </p:nvSpPr>
        <p:spPr>
          <a:xfrm xmlns:a="http://schemas.openxmlformats.org/drawingml/2006/main">
            <a:off x="6729984" y="457200"/>
            <a:ext cx="8230" cy="585216"/>
          </a:xfrm>
          <a:prstGeom xmlns:a="http://schemas.openxmlformats.org/drawingml/2006/main" prst="rect">
            <a:avLst/>
          </a:prstGeom>
          <a:solidFill xmlns:a="http://schemas.openxmlformats.org/drawingml/2006/main">
            <a:srgbClr val="C9C0E4"/>
          </a:solidFill>
        </p:spPr>
      </p:sp>
      <p:pic>
        <p:nvPicPr>
          <p:cNvPr id="30" name="Image 1"/>
          <p:cNvPicPr>
            <a:picLocks xmlns:a="http://schemas.openxmlformats.org/drawingml/2006/main" noChangeAspect="1"/>
          </p:cNvPicPr>
          <p:nvPr/>
        </p:nvPicPr>
        <p:blipFill>
          <a:blip xmlns:r="http://schemas.openxmlformats.org/officeDocument/2006/relationships" xmlns:a="http://schemas.openxmlformats.org/drawingml/2006/main" r:embed="R55d9e92949bf4f05"/>
          <a:stretch xmlns:a="http://schemas.openxmlformats.org/drawingml/2006/main">
            <a:fillRect l="0" t="0" r="0" b="0"/>
          </a:stretch>
        </p:blipFill>
        <p:spPr>
          <a:xfrm xmlns:a="http://schemas.openxmlformats.org/drawingml/2006/main">
            <a:off x="7022592" y="557784"/>
            <a:ext cx="1737360" cy="382219"/>
          </a:xfrm>
          <a:prstGeom xmlns:a="http://schemas.openxmlformats.org/drawingml/2006/main" prst="rect">
            <a:avLst/>
          </a:prstGeom>
        </p:spPr>
      </p:pic>
      <p:sp>
        <p:nvSpPr>
          <p:cNvPr id="5" name="Text 1">
            <a:extLst xmlns:a="http://schemas.openxmlformats.org/drawingml/2006/main">
              <a:ext uri="{FF2B5EF4-FFF2-40B4-BE49-F238E27FC236}">
                <a16:creationId xmlns:a16="http://schemas.microsoft.com/office/drawing/2014/main" id="{55A323E6-79E6-4AD6-A725-6FE80EF6FD8F}"/>
              </a:ext>
            </a:extLst>
          </p:cNvPr>
          <p:cNvSpPr>
            <a:spLocks xmlns:a="http://schemas.openxmlformats.org/drawingml/2006/main" noGrp="1"/>
          </p:cNvSpPr>
          <p:nvPr/>
        </p:nvSpPr>
        <p:spPr>
          <a:xfrm xmlns:a="http://schemas.openxmlformats.org/drawingml/2006/main">
            <a:off x="548640" y="1426464"/>
            <a:ext cx="11091672"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100" b="1">
                <a:solidFill>
                  <a:srgbClr val="141230"/>
                </a:solidFill>
                <a:latin typeface="Cambria"/>
                <a:ea typeface="Cambria"/>
                <a:cs typeface="Cambria"/>
              </a:rPr>
              <a:t>Soutenance de stage de perfectionnement</a:t>
            </a:r>
            <a:endParaRPr sz="2100"/>
          </a:p>
        </p:txBody>
      </p:sp>
      <p:sp>
        <p:nvSpPr>
          <p:cNvPr id="6" name="Text 2">
            <a:extLst xmlns:a="http://schemas.openxmlformats.org/drawingml/2006/main">
              <a:ext uri="{FF2B5EF4-FFF2-40B4-BE49-F238E27FC236}">
                <a16:creationId xmlns:a16="http://schemas.microsoft.com/office/drawing/2014/main" id="{22D23855-9A59-498C-A942-98C95D1009EE}"/>
              </a:ext>
            </a:extLst>
          </p:cNvPr>
          <p:cNvSpPr>
            <a:spLocks xmlns:a="http://schemas.openxmlformats.org/drawingml/2006/main" noGrp="1"/>
          </p:cNvSpPr>
          <p:nvPr/>
        </p:nvSpPr>
        <p:spPr>
          <a:xfrm xmlns:a="http://schemas.openxmlformats.org/drawingml/2006/main">
            <a:off x="548640" y="1819656"/>
            <a:ext cx="11091672"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450">
                <a:solidFill>
                  <a:srgbClr val="6E6A88"/>
                </a:solidFill>
                <a:latin typeface="Calibri"/>
                <a:ea typeface="Calibri"/>
                <a:cs typeface="Calibri"/>
              </a:rPr>
              <a:t>4e année — Génie Financier, Actuariat &amp; Finance</a:t>
            </a:r>
            <a:endParaRPr sz="1450"/>
          </a:p>
        </p:txBody>
      </p:sp>
      <p:sp>
        <p:nvSpPr>
          <p:cNvPr id="7" name="Text 3">
            <a:extLst xmlns:a="http://schemas.openxmlformats.org/drawingml/2006/main">
              <a:ext uri="{FF2B5EF4-FFF2-40B4-BE49-F238E27FC236}">
                <a16:creationId xmlns:a16="http://schemas.microsoft.com/office/drawing/2014/main" id="{3130E882-7CFC-432B-A6CF-2CCDB2DC9FD6}"/>
              </a:ext>
            </a:extLst>
          </p:cNvPr>
          <p:cNvSpPr>
            <a:spLocks xmlns:a="http://schemas.openxmlformats.org/drawingml/2006/main" noGrp="1"/>
          </p:cNvSpPr>
          <p:nvPr/>
        </p:nvSpPr>
        <p:spPr>
          <a:xfrm xmlns:a="http://schemas.openxmlformats.org/drawingml/2006/main">
            <a:off x="548640" y="2267712"/>
            <a:ext cx="11091672"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50" b="1" spc="300">
                <a:solidFill>
                  <a:srgbClr val="6B46C7"/>
                </a:solidFill>
                <a:latin typeface="Calibri"/>
                <a:ea typeface="Calibri"/>
                <a:cs typeface="Calibri"/>
              </a:rPr>
              <a:t>SOUS LE THÈME</a:t>
            </a:r>
            <a:endParaRPr sz="1050"/>
          </a:p>
        </p:txBody>
      </p:sp>
      <p:sp>
        <p:nvSpPr>
          <p:cNvPr id="8" name="Shape 4">
            <a:extLst xmlns:a="http://schemas.openxmlformats.org/drawingml/2006/main">
              <a:ext uri="{FF2B5EF4-FFF2-40B4-BE49-F238E27FC236}">
                <a16:creationId xmlns:a16="http://schemas.microsoft.com/office/drawing/2014/main" id="{A0CEC290-331E-41CD-AAA6-5C7AD706A351}"/>
              </a:ext>
            </a:extLst>
          </p:cNvPr>
          <p:cNvSpPr>
            <a:spLocks xmlns:a="http://schemas.openxmlformats.org/drawingml/2006/main" noGrp="1"/>
          </p:cNvSpPr>
          <p:nvPr/>
        </p:nvSpPr>
        <p:spPr>
          <a:xfrm xmlns:a="http://schemas.openxmlformats.org/drawingml/2006/main">
            <a:off x="914400" y="2651760"/>
            <a:ext cx="10360152" cy="1828800"/>
          </a:xfrm>
          <a:prstGeom xmlns:a="http://schemas.openxmlformats.org/drawingml/2006/main" prst="roundRect">
            <a:avLst>
              <a:gd name="adj" fmla="val 8000"/>
            </a:avLst>
          </a:prstGeom>
          <a:solidFill xmlns:a="http://schemas.openxmlformats.org/drawingml/2006/main">
            <a:srgbClr val="FFFFFF"/>
          </a:solidFill>
          <a:ln xmlns:a="http://schemas.openxmlformats.org/drawingml/2006/main" w="9525">
            <a:solidFill>
              <a:srgbClr val="6B46C7"/>
            </a:solidFill>
            <a:prstDash val="solid"/>
          </a:ln>
          <a:effectLst xmlns:a="http://schemas.openxmlformats.org/drawingml/2006/main">
            <a:outerShdw blurRad="279400" dist="63500" dir="5400000" sx="100000" sy="100000" kx="0" ky="0" algn="bl" rotWithShape="0">
              <a:srgbClr val="3C2E7A">
                <a:alpha val="16000"/>
              </a:srgbClr>
            </a:outerShdw>
          </a:effectLst>
        </p:spPr>
      </p:sp>
      <p:sp>
        <p:nvSpPr>
          <p:cNvPr id="9" name="Text 5">
            <a:extLst xmlns:a="http://schemas.openxmlformats.org/drawingml/2006/main">
              <a:ext uri="{FF2B5EF4-FFF2-40B4-BE49-F238E27FC236}">
                <a16:creationId xmlns:a16="http://schemas.microsoft.com/office/drawing/2014/main" id="{766833D9-967E-4AC6-A2D6-A2AF60C57CF0}"/>
              </a:ext>
            </a:extLst>
          </p:cNvPr>
          <p:cNvSpPr>
            <a:spLocks xmlns:a="http://schemas.openxmlformats.org/drawingml/2006/main" noGrp="1"/>
          </p:cNvSpPr>
          <p:nvPr/>
        </p:nvSpPr>
        <p:spPr>
          <a:xfrm xmlns:a="http://schemas.openxmlformats.org/drawingml/2006/main">
            <a:off x="1143000" y="2798064"/>
            <a:ext cx="9902952"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600" b="1">
                <a:solidFill>
                  <a:srgbClr val="141230"/>
                </a:solidFill>
                <a:latin typeface="Cambria"/>
                <a:ea typeface="Cambria"/>
                <a:cs typeface="Cambria"/>
              </a:rPr>
              <a:t>Fiabilisation du forecast du chiffre d’affaires pour le pilotage FP&amp;A</a:t>
            </a:r>
            <a:endParaRPr sz="2600"/>
          </a:p>
        </p:txBody>
      </p:sp>
      <p:sp>
        <p:nvSpPr>
          <p:cNvPr id="10" name="Text 6">
            <a:extLst xmlns:a="http://schemas.openxmlformats.org/drawingml/2006/main">
              <a:ext uri="{FF2B5EF4-FFF2-40B4-BE49-F238E27FC236}">
                <a16:creationId xmlns:a16="http://schemas.microsoft.com/office/drawing/2014/main" id="{2D65369D-44FF-4483-86CD-38553B087A18}"/>
              </a:ext>
            </a:extLst>
          </p:cNvPr>
          <p:cNvSpPr>
            <a:spLocks xmlns:a="http://schemas.openxmlformats.org/drawingml/2006/main" noGrp="1"/>
          </p:cNvSpPr>
          <p:nvPr/>
        </p:nvSpPr>
        <p:spPr>
          <a:xfrm xmlns:a="http://schemas.openxmlformats.org/drawingml/2006/main">
            <a:off x="1143000" y="3346704"/>
            <a:ext cx="9902952"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50">
                <a:solidFill>
                  <a:srgbClr val="6E6A88"/>
                </a:solidFill>
                <a:latin typeface="Calibri"/>
                <a:ea typeface="Calibri"/>
                <a:cs typeface="Calibri"/>
              </a:rPr>
              <a:t>Évaluation comparative d’une méthode de référence et du modèle XGBoost</a:t>
            </a:r>
            <a:endParaRPr sz="1350"/>
          </a:p>
        </p:txBody>
      </p:sp>
      <p:sp>
        <p:nvSpPr>
          <p:cNvPr id="11" name="Text 7">
            <a:extLst xmlns:a="http://schemas.openxmlformats.org/drawingml/2006/main">
              <a:ext uri="{FF2B5EF4-FFF2-40B4-BE49-F238E27FC236}">
                <a16:creationId xmlns:a16="http://schemas.microsoft.com/office/drawing/2014/main" id="{6AFE705A-DA9C-4C1E-900D-9FDF66C1F025}"/>
              </a:ext>
            </a:extLst>
          </p:cNvPr>
          <p:cNvSpPr>
            <a:spLocks xmlns:a="http://schemas.openxmlformats.org/drawingml/2006/main" noGrp="1"/>
          </p:cNvSpPr>
          <p:nvPr/>
        </p:nvSpPr>
        <p:spPr>
          <a:xfrm xmlns:a="http://schemas.openxmlformats.org/drawingml/2006/main">
            <a:off x="1143000" y="3803904"/>
            <a:ext cx="9902952"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50" b="1">
                <a:solidFill>
                  <a:srgbClr val="4B2FA0"/>
                </a:solidFill>
                <a:latin typeface="Cambria"/>
                <a:ea typeface="Cambria"/>
                <a:cs typeface="Cambria"/>
              </a:rPr>
              <a:t>Cas d'entreprise : EXPLEO MAROC — TANGER</a:t>
            </a:r>
            <a:endParaRPr sz="1650"/>
          </a:p>
        </p:txBody>
      </p:sp>
      <p:sp>
        <p:nvSpPr>
          <p:cNvPr id="12" name="Text 8">
            <a:extLst xmlns:a="http://schemas.openxmlformats.org/drawingml/2006/main">
              <a:ext uri="{FF2B5EF4-FFF2-40B4-BE49-F238E27FC236}">
                <a16:creationId xmlns:a16="http://schemas.microsoft.com/office/drawing/2014/main" id="{04882E1E-33A9-4AB2-A230-7D81E27309DB}"/>
              </a:ext>
            </a:extLst>
          </p:cNvPr>
          <p:cNvSpPr>
            <a:spLocks xmlns:a="http://schemas.openxmlformats.org/drawingml/2006/main" noGrp="1"/>
          </p:cNvSpPr>
          <p:nvPr/>
        </p:nvSpPr>
        <p:spPr>
          <a:xfrm xmlns:a="http://schemas.openxmlformats.org/drawingml/2006/main">
            <a:off x="1051560" y="4700016"/>
            <a:ext cx="45720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80">
                <a:solidFill>
                  <a:srgbClr val="6B46C7"/>
                </a:solidFill>
                <a:latin typeface="Calibri"/>
                <a:ea typeface="Calibri"/>
                <a:cs typeface="Calibri"/>
              </a:rPr>
              <a:t>RÉALISÉ PAR</a:t>
            </a:r>
            <a:endParaRPr sz="900"/>
          </a:p>
        </p:txBody>
      </p:sp>
      <p:sp>
        <p:nvSpPr>
          <p:cNvPr id="13" name="Text 9">
            <a:extLst xmlns:a="http://schemas.openxmlformats.org/drawingml/2006/main">
              <a:ext uri="{FF2B5EF4-FFF2-40B4-BE49-F238E27FC236}">
                <a16:creationId xmlns:a16="http://schemas.microsoft.com/office/drawing/2014/main" id="{12B45F58-4C57-40F4-AC0D-E5B6FC41E1F2}"/>
              </a:ext>
            </a:extLst>
          </p:cNvPr>
          <p:cNvSpPr>
            <a:spLocks xmlns:a="http://schemas.openxmlformats.org/drawingml/2006/main" noGrp="1"/>
          </p:cNvSpPr>
          <p:nvPr/>
        </p:nvSpPr>
        <p:spPr>
          <a:xfrm xmlns:a="http://schemas.openxmlformats.org/drawingml/2006/main">
            <a:off x="1051560" y="4937760"/>
            <a:ext cx="4572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141230"/>
                </a:solidFill>
                <a:latin typeface="Calibri"/>
                <a:ea typeface="Calibri"/>
                <a:cs typeface="Calibri"/>
              </a:rPr>
              <a:t>Fatima Zahrae Chakib</a:t>
            </a:r>
            <a:endParaRPr sz="1400"/>
          </a:p>
        </p:txBody>
      </p:sp>
      <p:sp>
        <p:nvSpPr>
          <p:cNvPr id="14" name="Text 10">
            <a:extLst xmlns:a="http://schemas.openxmlformats.org/drawingml/2006/main">
              <a:ext uri="{FF2B5EF4-FFF2-40B4-BE49-F238E27FC236}">
                <a16:creationId xmlns:a16="http://schemas.microsoft.com/office/drawing/2014/main" id="{F71F0E19-9319-4F76-B053-603008C55424}"/>
              </a:ext>
            </a:extLst>
          </p:cNvPr>
          <p:cNvSpPr>
            <a:spLocks xmlns:a="http://schemas.openxmlformats.org/drawingml/2006/main" noGrp="1"/>
          </p:cNvSpPr>
          <p:nvPr/>
        </p:nvSpPr>
        <p:spPr>
          <a:xfrm xmlns:a="http://schemas.openxmlformats.org/drawingml/2006/main">
            <a:off x="1051560" y="5212080"/>
            <a:ext cx="45720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6E6A88"/>
                </a:solidFill>
                <a:latin typeface="Calibri"/>
                <a:ea typeface="Calibri"/>
                <a:cs typeface="Calibri"/>
              </a:rPr>
              <a:t>Élève ingénieure en 4ᵉ année — Génie financier, actuariat et finance</a:t>
            </a:r>
            <a:endParaRPr sz="1050"/>
          </a:p>
        </p:txBody>
      </p:sp>
      <p:sp>
        <p:nvSpPr>
          <p:cNvPr id="15" name="Text 11">
            <a:extLst xmlns:a="http://schemas.openxmlformats.org/drawingml/2006/main">
              <a:ext uri="{FF2B5EF4-FFF2-40B4-BE49-F238E27FC236}">
                <a16:creationId xmlns:a16="http://schemas.microsoft.com/office/drawing/2014/main" id="{FB201AEA-F288-411F-AACF-8D69B695FBD0}"/>
              </a:ext>
            </a:extLst>
          </p:cNvPr>
          <p:cNvSpPr>
            <a:spLocks xmlns:a="http://schemas.openxmlformats.org/drawingml/2006/main" noGrp="1"/>
          </p:cNvSpPr>
          <p:nvPr/>
        </p:nvSpPr>
        <p:spPr>
          <a:xfrm xmlns:a="http://schemas.openxmlformats.org/drawingml/2006/main">
            <a:off x="1051560" y="5614416"/>
            <a:ext cx="45720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80">
                <a:solidFill>
                  <a:srgbClr val="6B46C7"/>
                </a:solidFill>
                <a:latin typeface="Calibri"/>
                <a:ea typeface="Calibri"/>
                <a:cs typeface="Calibri"/>
              </a:rPr>
              <a:t>ENCADRÉE PAR</a:t>
            </a:r>
            <a:endParaRPr sz="900"/>
          </a:p>
        </p:txBody>
      </p:sp>
      <p:sp>
        <p:nvSpPr>
          <p:cNvPr id="16" name="Text 12">
            <a:extLst xmlns:a="http://schemas.openxmlformats.org/drawingml/2006/main">
              <a:ext uri="{FF2B5EF4-FFF2-40B4-BE49-F238E27FC236}">
                <a16:creationId xmlns:a16="http://schemas.microsoft.com/office/drawing/2014/main" id="{13C37551-7A91-48E8-BE00-6AC2328CCCE8}"/>
              </a:ext>
            </a:extLst>
          </p:cNvPr>
          <p:cNvSpPr>
            <a:spLocks xmlns:a="http://schemas.openxmlformats.org/drawingml/2006/main" noGrp="1"/>
          </p:cNvSpPr>
          <p:nvPr/>
        </p:nvSpPr>
        <p:spPr>
          <a:xfrm xmlns:a="http://schemas.openxmlformats.org/drawingml/2006/main">
            <a:off x="1051560" y="5852160"/>
            <a:ext cx="4754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141230"/>
                </a:solidFill>
                <a:latin typeface="Calibri"/>
                <a:ea typeface="Calibri"/>
                <a:cs typeface="Calibri"/>
              </a:rPr>
              <a:t>Mme Zohra Filali Halime</a:t>
            </a:r>
            <a:r>
              <a:rPr sz="1150">
                <a:solidFill>
                  <a:srgbClr val="6E6A88"/>
                </a:solidFill>
                <a:latin typeface="Calibri"/>
                <a:ea typeface="Calibri"/>
                <a:cs typeface="Calibri"/>
              </a:rPr>
              <a:t>  —  Encadrante pédagogique, EMSI Tanger</a:t>
            </a:r>
            <a:endParaRPr sz="1150"/>
          </a:p>
        </p:txBody>
      </p:sp>
      <p:sp>
        <p:nvSpPr>
          <p:cNvPr id="17" name="Text 13">
            <a:extLst xmlns:a="http://schemas.openxmlformats.org/drawingml/2006/main">
              <a:ext uri="{FF2B5EF4-FFF2-40B4-BE49-F238E27FC236}">
                <a16:creationId xmlns:a16="http://schemas.microsoft.com/office/drawing/2014/main" id="{68F002E1-2BAE-41CB-A95E-8A9821CEA65D}"/>
              </a:ext>
            </a:extLst>
          </p:cNvPr>
          <p:cNvSpPr>
            <a:spLocks xmlns:a="http://schemas.openxmlformats.org/drawingml/2006/main" noGrp="1"/>
          </p:cNvSpPr>
          <p:nvPr/>
        </p:nvSpPr>
        <p:spPr>
          <a:xfrm xmlns:a="http://schemas.openxmlformats.org/drawingml/2006/main">
            <a:off x="1051560" y="6108192"/>
            <a:ext cx="475488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141230"/>
                </a:solidFill>
                <a:latin typeface="Calibri"/>
                <a:ea typeface="Calibri"/>
                <a:cs typeface="Calibri"/>
              </a:rPr>
              <a:t>Mme Yasmina El Amarti</a:t>
            </a:r>
            <a:r>
              <a:rPr sz="1150">
                <a:solidFill>
                  <a:srgbClr val="6E6A88"/>
                </a:solidFill>
                <a:latin typeface="Calibri"/>
                <a:ea typeface="Calibri"/>
                <a:cs typeface="Calibri"/>
              </a:rPr>
              <a:t>  —  Senior FP&amp;A Specialist, Expleo Maroc</a:t>
            </a:r>
            <a:endParaRPr sz="1150"/>
          </a:p>
        </p:txBody>
      </p:sp>
      <p:sp>
        <p:nvSpPr>
          <p:cNvPr id="18" name="Text 14">
            <a:extLst xmlns:a="http://schemas.openxmlformats.org/drawingml/2006/main">
              <a:ext uri="{FF2B5EF4-FFF2-40B4-BE49-F238E27FC236}">
                <a16:creationId xmlns:a16="http://schemas.microsoft.com/office/drawing/2014/main" id="{6FCD1AB0-7E0C-4F6C-99F5-2232293F0769}"/>
              </a:ext>
            </a:extLst>
          </p:cNvPr>
          <p:cNvSpPr>
            <a:spLocks xmlns:a="http://schemas.openxmlformats.org/drawingml/2006/main" noGrp="1"/>
          </p:cNvSpPr>
          <p:nvPr/>
        </p:nvSpPr>
        <p:spPr>
          <a:xfrm xmlns:a="http://schemas.openxmlformats.org/drawingml/2006/main">
            <a:off x="6675120" y="4700016"/>
            <a:ext cx="45720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80">
                <a:solidFill>
                  <a:srgbClr val="6B46C7"/>
                </a:solidFill>
                <a:latin typeface="Calibri"/>
                <a:ea typeface="Calibri"/>
                <a:cs typeface="Calibri"/>
              </a:rPr>
              <a:t>MEMBRES DU JURY</a:t>
            </a:r>
            <a:endParaRPr sz="900"/>
          </a:p>
        </p:txBody>
      </p:sp>
      <p:sp>
        <p:nvSpPr>
          <p:cNvPr id="19" name="Shape 15">
            <a:extLst xmlns:a="http://schemas.openxmlformats.org/drawingml/2006/main">
              <a:ext uri="{FF2B5EF4-FFF2-40B4-BE49-F238E27FC236}">
                <a16:creationId xmlns:a16="http://schemas.microsoft.com/office/drawing/2014/main" id="{7012012C-C88E-4880-AE06-7E4830F92028}"/>
              </a:ext>
            </a:extLst>
          </p:cNvPr>
          <p:cNvSpPr>
            <a:spLocks xmlns:a="http://schemas.openxmlformats.org/drawingml/2006/main" noGrp="1"/>
          </p:cNvSpPr>
          <p:nvPr/>
        </p:nvSpPr>
        <p:spPr>
          <a:xfrm xmlns:a="http://schemas.openxmlformats.org/drawingml/2006/main">
            <a:off x="6675120" y="5093208"/>
            <a:ext cx="91440" cy="91440"/>
          </a:xfrm>
          <a:prstGeom xmlns:a="http://schemas.openxmlformats.org/drawingml/2006/main" prst="ellipse">
            <a:avLst/>
          </a:prstGeom>
          <a:solidFill xmlns:a="http://schemas.openxmlformats.org/drawingml/2006/main">
            <a:srgbClr val="6B46C7"/>
          </a:solidFill>
        </p:spPr>
      </p:sp>
      <p:sp>
        <p:nvSpPr>
          <p:cNvPr id="21" name="Shape 17">
            <a:extLst xmlns:a="http://schemas.openxmlformats.org/drawingml/2006/main">
              <a:ext uri="{FF2B5EF4-FFF2-40B4-BE49-F238E27FC236}">
                <a16:creationId xmlns:a16="http://schemas.microsoft.com/office/drawing/2014/main" id="{6F431E85-D35A-4753-B6AD-D828AA58427F}"/>
              </a:ext>
            </a:extLst>
          </p:cNvPr>
          <p:cNvSpPr>
            <a:spLocks xmlns:a="http://schemas.openxmlformats.org/drawingml/2006/main" noGrp="1"/>
          </p:cNvSpPr>
          <p:nvPr/>
        </p:nvSpPr>
        <p:spPr>
          <a:xfrm xmlns:a="http://schemas.openxmlformats.org/drawingml/2006/main">
            <a:off x="6675120" y="5477256"/>
            <a:ext cx="91440" cy="91440"/>
          </a:xfrm>
          <a:prstGeom xmlns:a="http://schemas.openxmlformats.org/drawingml/2006/main" prst="ellipse">
            <a:avLst/>
          </a:prstGeom>
          <a:solidFill xmlns:a="http://schemas.openxmlformats.org/drawingml/2006/main">
            <a:srgbClr val="6B46C7"/>
          </a:solidFill>
        </p:spPr>
      </p:sp>
      <p:sp>
        <p:nvSpPr>
          <p:cNvPr id="23" name="Shape 19">
            <a:extLst xmlns:a="http://schemas.openxmlformats.org/drawingml/2006/main">
              <a:ext uri="{FF2B5EF4-FFF2-40B4-BE49-F238E27FC236}">
                <a16:creationId xmlns:a16="http://schemas.microsoft.com/office/drawing/2014/main" id="{B220F993-3A75-4B72-92C8-3957C938D9CE}"/>
              </a:ext>
            </a:extLst>
          </p:cNvPr>
          <p:cNvSpPr>
            <a:spLocks xmlns:a="http://schemas.openxmlformats.org/drawingml/2006/main" noGrp="1"/>
          </p:cNvSpPr>
          <p:nvPr/>
        </p:nvSpPr>
        <p:spPr>
          <a:xfrm xmlns:a="http://schemas.openxmlformats.org/drawingml/2006/main">
            <a:off x="6675120" y="5861304"/>
            <a:ext cx="91440" cy="91440"/>
          </a:xfrm>
          <a:prstGeom xmlns:a="http://schemas.openxmlformats.org/drawingml/2006/main" prst="ellipse">
            <a:avLst/>
          </a:prstGeom>
          <a:solidFill xmlns:a="http://schemas.openxmlformats.org/drawingml/2006/main">
            <a:srgbClr val="6B46C7"/>
          </a:solidFill>
        </p:spPr>
      </p:sp>
      <p:sp>
        <p:nvSpPr>
          <p:cNvPr id="25" name="Text 21">
            <a:extLst xmlns:a="http://schemas.openxmlformats.org/drawingml/2006/main">
              <a:ext uri="{FF2B5EF4-FFF2-40B4-BE49-F238E27FC236}">
                <a16:creationId xmlns:a16="http://schemas.microsoft.com/office/drawing/2014/main" id="{8B86F3E8-DDDA-4AD5-8631-07FAF1EE6AC1}"/>
              </a:ext>
            </a:extLst>
          </p:cNvPr>
          <p:cNvSpPr>
            <a:spLocks xmlns:a="http://schemas.openxmlformats.org/drawingml/2006/main" noGrp="1"/>
          </p:cNvSpPr>
          <p:nvPr/>
        </p:nvSpPr>
        <p:spPr>
          <a:xfrm xmlns:a="http://schemas.openxmlformats.org/drawingml/2006/main">
            <a:off x="548640" y="6419088"/>
            <a:ext cx="11091672"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i="1">
                <a:solidFill>
                  <a:srgbClr val="8E89A6"/>
                </a:solidFill>
                <a:latin typeface="Calibri"/>
                <a:ea typeface="Calibri"/>
                <a:cs typeface="Calibri"/>
              </a:rPr>
              <a:t>Expleo Maroc — Tanger   ·   Juillet 2026   ·   Année universitaire 2025–2026</a:t>
            </a:r>
            <a:endParaRPr sz="1100"/>
          </a:p>
        </p:txBody>
      </p:sp>
      <p:sp>
        <p:nvSpPr>
          <p:cNvPr id="60" name="Text Jury 1">
            <a:extLst xmlns:a="http://schemas.openxmlformats.org/drawingml/2006/main">
              <a:ext uri="{FF2B5EF4-FFF2-40B4-BE49-F238E27FC236}">
                <a16:creationId xmlns:a16="http://schemas.microsoft.com/office/drawing/2014/main" id="{68A8D485-D42B-472F-ABF7-7751689161B1}"/>
              </a:ext>
            </a:extLst>
          </p:cNvPr>
          <p:cNvSpPr>
            <a:spLocks xmlns:a="http://schemas.openxmlformats.org/drawingml/2006/main" noGrp="1"/>
          </p:cNvSpPr>
          <p:nvPr/>
        </p:nvSpPr>
        <p:spPr>
          <a:xfrm xmlns:a="http://schemas.openxmlformats.org/drawingml/2006/main">
            <a:off x="6903720" y="5010912"/>
            <a:ext cx="3931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41230"/>
                </a:solidFill>
                <a:latin typeface="Calibri"/>
                <a:ea typeface="Calibri"/>
                <a:cs typeface="Calibri"/>
              </a:rPr>
              <a:t>Mme Zohra Filali Halime</a:t>
            </a:r>
            <a:r>
              <a:rPr sz="1050">
                <a:solidFill>
                  <a:srgbClr val="6E6A88"/>
                </a:solidFill>
                <a:latin typeface="Calibri"/>
                <a:ea typeface="Calibri"/>
                <a:cs typeface="Calibri"/>
              </a:rPr>
              <a:t>  —  Encadrante pédagogique</a:t>
            </a:r>
            <a:endParaRPr sz="1050"/>
          </a:p>
        </p:txBody>
      </p:sp>
      <p:sp>
        <p:nvSpPr>
          <p:cNvPr id="61" name="Text Jury 2">
            <a:extLst xmlns:a="http://schemas.openxmlformats.org/drawingml/2006/main">
              <a:ext uri="{FF2B5EF4-FFF2-40B4-BE49-F238E27FC236}">
                <a16:creationId xmlns:a16="http://schemas.microsoft.com/office/drawing/2014/main" id="{33CB80ED-4C11-427C-BC8B-520C40E95624}"/>
              </a:ext>
            </a:extLst>
          </p:cNvPr>
          <p:cNvSpPr>
            <a:spLocks xmlns:a="http://schemas.openxmlformats.org/drawingml/2006/main" noGrp="1"/>
          </p:cNvSpPr>
          <p:nvPr/>
        </p:nvSpPr>
        <p:spPr>
          <a:xfrm xmlns:a="http://schemas.openxmlformats.org/drawingml/2006/main">
            <a:off x="6903720" y="5394960"/>
            <a:ext cx="3931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41230"/>
                </a:solidFill>
                <a:latin typeface="Calibri"/>
                <a:ea typeface="Calibri"/>
                <a:cs typeface="Calibri"/>
              </a:rPr>
              <a:t>Mme Khaoula Salmoun</a:t>
            </a:r>
            <a:r>
              <a:rPr sz="1050">
                <a:solidFill>
                  <a:srgbClr val="6E6A88"/>
                </a:solidFill>
                <a:latin typeface="Calibri"/>
                <a:ea typeface="Calibri"/>
                <a:cs typeface="Calibri"/>
              </a:rPr>
              <a:t>  —  Présidente du jury</a:t>
            </a:r>
            <a:endParaRPr sz="1050"/>
          </a:p>
        </p:txBody>
      </p:sp>
      <p:sp>
        <p:nvSpPr>
          <p:cNvPr id="62" name="Text Jury 3">
            <a:extLst xmlns:a="http://schemas.openxmlformats.org/drawingml/2006/main">
              <a:ext uri="{FF2B5EF4-FFF2-40B4-BE49-F238E27FC236}">
                <a16:creationId xmlns:a16="http://schemas.microsoft.com/office/drawing/2014/main" id="{7E7AEDA3-F769-43C7-9A3A-BA255F8EC362}"/>
              </a:ext>
            </a:extLst>
          </p:cNvPr>
          <p:cNvSpPr>
            <a:spLocks xmlns:a="http://schemas.openxmlformats.org/drawingml/2006/main" noGrp="1"/>
          </p:cNvSpPr>
          <p:nvPr/>
        </p:nvSpPr>
        <p:spPr>
          <a:xfrm xmlns:a="http://schemas.openxmlformats.org/drawingml/2006/main">
            <a:off x="6903720" y="5779008"/>
            <a:ext cx="3931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a:solidFill>
                  <a:srgbClr val="141230"/>
                </a:solidFill>
                <a:latin typeface="Calibri"/>
                <a:ea typeface="Calibri"/>
                <a:cs typeface="Calibri"/>
              </a:rPr>
              <a:t>Mme Zenab El Menzehi</a:t>
            </a:r>
            <a:r>
              <a:rPr sz="1050">
                <a:solidFill>
                  <a:srgbClr val="6E6A88"/>
                </a:solidFill>
                <a:latin typeface="Calibri"/>
                <a:ea typeface="Calibri"/>
                <a:cs typeface="Calibri"/>
              </a:rPr>
              <a:t>  —  Examinatrice</a:t>
            </a:r>
            <a:endParaRPr sz="1050"/>
          </a:p>
        </p:txBody>
      </p:sp>
    </p:spTree>
    <p:extLst>
      <p:ext uri="{BB962C8B-B14F-4D97-AF65-F5344CB8AC3E}">
        <p14:creationId xmlns:p14="http://schemas.microsoft.com/office/powerpoint/2010/main" val="262508636"/>
      </p:ext>
    </p:extLst>
  </p:cSld>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eyebrow">
            <a:extLst xmlns:a="http://schemas.openxmlformats.org/drawingml/2006/main">
              <a:ext uri="{FF2B5EF4-FFF2-40B4-BE49-F238E27FC236}">
                <a16:creationId xmlns:a16="http://schemas.microsoft.com/office/drawing/2014/main" id="{13214F5A-5AF1-4807-B404-4303A502FF09}"/>
              </a:ext>
            </a:extLst>
          </p:cNvPr>
          <p:cNvSpPr>
            <a:spLocks xmlns:a="http://schemas.openxmlformats.org/drawingml/2006/main" noGrp="1"/>
          </p:cNvSpPr>
          <p:nvPr/>
        </p:nvSpPr>
        <p:spPr>
          <a:xfrm xmlns:a="http://schemas.openxmlformats.org/drawingml/2006/main">
            <a:off x="713232" y="384048"/>
            <a:ext cx="107899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220">
                <a:solidFill>
                  <a:srgbClr val="6B46C7"/>
                </a:solidFill>
                <a:latin typeface="Calibri"/>
                <a:ea typeface="Calibri"/>
                <a:cs typeface="Calibri"/>
              </a:rPr>
              <a:t>CONTEXTE &amp; CADRE</a:t>
            </a:r>
            <a:endParaRPr sz="1000"/>
          </a:p>
        </p:txBody>
      </p:sp>
      <p:sp>
        <p:nvSpPr>
          <p:cNvPr id="3" name="!!title">
            <a:extLst xmlns:a="http://schemas.openxmlformats.org/drawingml/2006/main">
              <a:ext uri="{FF2B5EF4-FFF2-40B4-BE49-F238E27FC236}">
                <a16:creationId xmlns:a16="http://schemas.microsoft.com/office/drawing/2014/main" id="{7BDA5A7B-E593-48E8-9D4A-FE068DB0988F}"/>
              </a:ext>
            </a:extLst>
          </p:cNvPr>
          <p:cNvSpPr>
            <a:spLocks xmlns:a="http://schemas.openxmlformats.org/drawingml/2006/main" noGrp="1"/>
          </p:cNvSpPr>
          <p:nvPr/>
        </p:nvSpPr>
        <p:spPr>
          <a:xfrm xmlns:a="http://schemas.openxmlformats.org/drawingml/2006/main">
            <a:off x="713232" y="621792"/>
            <a:ext cx="105156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41230"/>
                </a:solidFill>
                <a:latin typeface="Cambria"/>
                <a:ea typeface="Cambria"/>
                <a:cs typeface="Cambria"/>
              </a:rPr>
              <a:t>Du budget statique au forecast glissant</a:t>
            </a:r>
            <a:endParaRPr sz="2700"/>
          </a:p>
        </p:txBody>
      </p:sp>
      <p:sp>
        <p:nvSpPr>
          <p:cNvPr id="4" name="!!subtitle">
            <a:extLst xmlns:a="http://schemas.openxmlformats.org/drawingml/2006/main">
              <a:ext uri="{FF2B5EF4-FFF2-40B4-BE49-F238E27FC236}">
                <a16:creationId xmlns:a16="http://schemas.microsoft.com/office/drawing/2014/main" id="{CD84C00E-8AED-4235-A9FC-C8F32C9DDF0C}"/>
              </a:ext>
            </a:extLst>
          </p:cNvPr>
          <p:cNvSpPr>
            <a:spLocks xmlns:a="http://schemas.openxmlformats.org/drawingml/2006/main" noGrp="1"/>
          </p:cNvSpPr>
          <p:nvPr/>
        </p:nvSpPr>
        <p:spPr>
          <a:xfrm xmlns:a="http://schemas.openxmlformats.org/drawingml/2006/main">
            <a:off x="713232" y="1188720"/>
            <a:ext cx="96926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300">
                <a:solidFill>
                  <a:srgbClr val="6E6A88"/>
                </a:solidFill>
                <a:latin typeface="Calibri"/>
                <a:ea typeface="Calibri"/>
                <a:cs typeface="Calibri"/>
              </a:rPr>
              <a:t>Volatilité des coûts, des taux de change et des carnets de commandes : la fonction finance ne peut plus se limiter à constater les résultats, elle doit anticiper.</a:t>
            </a:r>
            <a:endParaRPr sz="1300"/>
          </a:p>
        </p:txBody>
      </p:sp>
      <p:sp>
        <p:nvSpPr>
          <p:cNvPr id="5" name="Shape 3">
            <a:extLst xmlns:a="http://schemas.openxmlformats.org/drawingml/2006/main">
              <a:ext uri="{FF2B5EF4-FFF2-40B4-BE49-F238E27FC236}">
                <a16:creationId xmlns:a16="http://schemas.microsoft.com/office/drawing/2014/main" id="{886D2F3E-90DB-4ADA-BB4C-9777118F69CB}"/>
              </a:ext>
            </a:extLst>
          </p:cNvPr>
          <p:cNvSpPr>
            <a:spLocks xmlns:a="http://schemas.openxmlformats.org/drawingml/2006/main" noGrp="1"/>
          </p:cNvSpPr>
          <p:nvPr/>
        </p:nvSpPr>
        <p:spPr>
          <a:xfrm xmlns:a="http://schemas.openxmlformats.org/drawingml/2006/main">
            <a:off x="713232" y="1783080"/>
            <a:ext cx="2514600" cy="1600200"/>
          </a:xfrm>
          <a:prstGeom xmlns:a="http://schemas.openxmlformats.org/drawingml/2006/main" prst="roundRect">
            <a:avLst>
              <a:gd name="adj" fmla="val 5714"/>
            </a:avLst>
          </a:prstGeom>
          <a:solidFill xmlns:a="http://schemas.openxmlformats.org/drawingml/2006/main">
            <a:srgbClr val="F6F5FB"/>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6" name="Shape 4">
            <a:extLst xmlns:a="http://schemas.openxmlformats.org/drawingml/2006/main">
              <a:ext uri="{FF2B5EF4-FFF2-40B4-BE49-F238E27FC236}">
                <a16:creationId xmlns:a16="http://schemas.microsoft.com/office/drawing/2014/main" id="{55021FD3-9E71-49A3-A0FA-C219608A1B17}"/>
              </a:ext>
            </a:extLst>
          </p:cNvPr>
          <p:cNvSpPr>
            <a:spLocks xmlns:a="http://schemas.openxmlformats.org/drawingml/2006/main" noGrp="1"/>
          </p:cNvSpPr>
          <p:nvPr/>
        </p:nvSpPr>
        <p:spPr>
          <a:xfrm xmlns:a="http://schemas.openxmlformats.org/drawingml/2006/main">
            <a:off x="969264" y="1993392"/>
            <a:ext cx="310896" cy="310896"/>
          </a:xfrm>
          <a:prstGeom xmlns:a="http://schemas.openxmlformats.org/drawingml/2006/main" prst="roundRect">
            <a:avLst>
              <a:gd name="adj" fmla="val 20588"/>
            </a:avLst>
          </a:prstGeom>
          <a:solidFill xmlns:a="http://schemas.openxmlformats.org/drawingml/2006/main">
            <a:srgbClr val="6B46C7"/>
          </a:solidFill>
        </p:spPr>
      </p:sp>
      <p:sp>
        <p:nvSpPr>
          <p:cNvPr id="7" name="Text 5">
            <a:extLst xmlns:a="http://schemas.openxmlformats.org/drawingml/2006/main">
              <a:ext uri="{FF2B5EF4-FFF2-40B4-BE49-F238E27FC236}">
                <a16:creationId xmlns:a16="http://schemas.microsoft.com/office/drawing/2014/main" id="{6D38DECB-07BE-4E4A-8618-7002B4129EE1}"/>
              </a:ext>
            </a:extLst>
          </p:cNvPr>
          <p:cNvSpPr>
            <a:spLocks xmlns:a="http://schemas.openxmlformats.org/drawingml/2006/main" noGrp="1"/>
          </p:cNvSpPr>
          <p:nvPr/>
        </p:nvSpPr>
        <p:spPr>
          <a:xfrm xmlns:a="http://schemas.openxmlformats.org/drawingml/2006/main">
            <a:off x="969264" y="19933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1</a:t>
            </a:r>
            <a:endParaRPr sz="1100"/>
          </a:p>
        </p:txBody>
      </p:sp>
      <p:sp>
        <p:nvSpPr>
          <p:cNvPr id="8" name="Text 6">
            <a:extLst xmlns:a="http://schemas.openxmlformats.org/drawingml/2006/main">
              <a:ext uri="{FF2B5EF4-FFF2-40B4-BE49-F238E27FC236}">
                <a16:creationId xmlns:a16="http://schemas.microsoft.com/office/drawing/2014/main" id="{59847088-FFB8-469F-9078-AF938563433F}"/>
              </a:ext>
            </a:extLst>
          </p:cNvPr>
          <p:cNvSpPr>
            <a:spLocks xmlns:a="http://schemas.openxmlformats.org/drawingml/2006/main" noGrp="1"/>
          </p:cNvSpPr>
          <p:nvPr/>
        </p:nvSpPr>
        <p:spPr>
          <a:xfrm xmlns:a="http://schemas.openxmlformats.org/drawingml/2006/main">
            <a:off x="969264" y="2395728"/>
            <a:ext cx="200253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350" b="1">
                <a:solidFill>
                  <a:srgbClr val="141230"/>
                </a:solidFill>
                <a:latin typeface="Cambria"/>
                <a:ea typeface="Cambria"/>
                <a:cs typeface="Cambria"/>
              </a:rPr>
              <a:t>Planification stratégique</a:t>
            </a:r>
            <a:endParaRPr sz="1350"/>
          </a:p>
        </p:txBody>
      </p:sp>
      <p:sp>
        <p:nvSpPr>
          <p:cNvPr id="9" name="Text 7">
            <a:extLst xmlns:a="http://schemas.openxmlformats.org/drawingml/2006/main">
              <a:ext uri="{FF2B5EF4-FFF2-40B4-BE49-F238E27FC236}">
                <a16:creationId xmlns:a16="http://schemas.microsoft.com/office/drawing/2014/main" id="{EFF531D7-CDE8-4813-A93C-E919D6AFE6CA}"/>
              </a:ext>
            </a:extLst>
          </p:cNvPr>
          <p:cNvSpPr>
            <a:spLocks xmlns:a="http://schemas.openxmlformats.org/drawingml/2006/main" noGrp="1"/>
          </p:cNvSpPr>
          <p:nvPr/>
        </p:nvSpPr>
        <p:spPr>
          <a:xfrm xmlns:a="http://schemas.openxmlformats.org/drawingml/2006/main">
            <a:off x="969264" y="2889504"/>
            <a:ext cx="2002536"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00">
                <a:solidFill>
                  <a:srgbClr val="6E6A88"/>
                </a:solidFill>
                <a:latin typeface="Calibri"/>
                <a:ea typeface="Calibri"/>
                <a:cs typeface="Calibri"/>
              </a:rPr>
              <a:t>Orientations de long terme</a:t>
            </a:r>
            <a:endParaRPr sz="1000"/>
          </a:p>
        </p:txBody>
      </p:sp>
      <p:sp>
        <p:nvSpPr>
          <p:cNvPr id="10" name="Text 8">
            <a:extLst xmlns:a="http://schemas.openxmlformats.org/drawingml/2006/main">
              <a:ext uri="{FF2B5EF4-FFF2-40B4-BE49-F238E27FC236}">
                <a16:creationId xmlns:a16="http://schemas.microsoft.com/office/drawing/2014/main" id="{1C5FA27B-E983-46D4-8DF4-0AA9E973E52F}"/>
              </a:ext>
            </a:extLst>
          </p:cNvPr>
          <p:cNvSpPr>
            <a:spLocks xmlns:a="http://schemas.openxmlformats.org/drawingml/2006/main" noGrp="1"/>
          </p:cNvSpPr>
          <p:nvPr/>
        </p:nvSpPr>
        <p:spPr>
          <a:xfrm xmlns:a="http://schemas.openxmlformats.org/drawingml/2006/main">
            <a:off x="3209544" y="1783080"/>
            <a:ext cx="356616"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a:solidFill>
                  <a:srgbClr val="A78BFA"/>
                </a:solidFill>
                <a:latin typeface="Calibri"/>
                <a:ea typeface="Calibri"/>
                <a:cs typeface="Calibri"/>
              </a:rPr>
              <a:t>→</a:t>
            </a:r>
            <a:endParaRPr sz="1600"/>
          </a:p>
        </p:txBody>
      </p:sp>
      <p:sp>
        <p:nvSpPr>
          <p:cNvPr id="11" name="Shape 9">
            <a:extLst xmlns:a="http://schemas.openxmlformats.org/drawingml/2006/main">
              <a:ext uri="{FF2B5EF4-FFF2-40B4-BE49-F238E27FC236}">
                <a16:creationId xmlns:a16="http://schemas.microsoft.com/office/drawing/2014/main" id="{A422128A-62E5-40D3-9B06-AA6FBF52E6F0}"/>
              </a:ext>
            </a:extLst>
          </p:cNvPr>
          <p:cNvSpPr>
            <a:spLocks xmlns:a="http://schemas.openxmlformats.org/drawingml/2006/main" noGrp="1"/>
          </p:cNvSpPr>
          <p:nvPr/>
        </p:nvSpPr>
        <p:spPr>
          <a:xfrm xmlns:a="http://schemas.openxmlformats.org/drawingml/2006/main">
            <a:off x="3547872" y="1783080"/>
            <a:ext cx="2514600" cy="1600200"/>
          </a:xfrm>
          <a:prstGeom xmlns:a="http://schemas.openxmlformats.org/drawingml/2006/main" prst="roundRect">
            <a:avLst>
              <a:gd name="adj" fmla="val 5714"/>
            </a:avLst>
          </a:prstGeom>
          <a:solidFill xmlns:a="http://schemas.openxmlformats.org/drawingml/2006/main">
            <a:srgbClr val="F6F5FB"/>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12" name="Shape 10">
            <a:extLst xmlns:a="http://schemas.openxmlformats.org/drawingml/2006/main">
              <a:ext uri="{FF2B5EF4-FFF2-40B4-BE49-F238E27FC236}">
                <a16:creationId xmlns:a16="http://schemas.microsoft.com/office/drawing/2014/main" id="{E717B0B7-F952-496A-B2BD-F1C5694DB7BD}"/>
              </a:ext>
            </a:extLst>
          </p:cNvPr>
          <p:cNvSpPr>
            <a:spLocks xmlns:a="http://schemas.openxmlformats.org/drawingml/2006/main" noGrp="1"/>
          </p:cNvSpPr>
          <p:nvPr/>
        </p:nvSpPr>
        <p:spPr>
          <a:xfrm xmlns:a="http://schemas.openxmlformats.org/drawingml/2006/main">
            <a:off x="3803904" y="1993392"/>
            <a:ext cx="310896" cy="310896"/>
          </a:xfrm>
          <a:prstGeom xmlns:a="http://schemas.openxmlformats.org/drawingml/2006/main" prst="roundRect">
            <a:avLst>
              <a:gd name="adj" fmla="val 20588"/>
            </a:avLst>
          </a:prstGeom>
          <a:solidFill xmlns:a="http://schemas.openxmlformats.org/drawingml/2006/main">
            <a:srgbClr val="6B46C7"/>
          </a:solidFill>
        </p:spPr>
      </p:sp>
      <p:sp>
        <p:nvSpPr>
          <p:cNvPr id="13" name="Text 11">
            <a:extLst xmlns:a="http://schemas.openxmlformats.org/drawingml/2006/main">
              <a:ext uri="{FF2B5EF4-FFF2-40B4-BE49-F238E27FC236}">
                <a16:creationId xmlns:a16="http://schemas.microsoft.com/office/drawing/2014/main" id="{FC3D2FB3-3FAA-44F0-8CE4-0BC5A9BC8331}"/>
              </a:ext>
            </a:extLst>
          </p:cNvPr>
          <p:cNvSpPr>
            <a:spLocks xmlns:a="http://schemas.openxmlformats.org/drawingml/2006/main" noGrp="1"/>
          </p:cNvSpPr>
          <p:nvPr/>
        </p:nvSpPr>
        <p:spPr>
          <a:xfrm xmlns:a="http://schemas.openxmlformats.org/drawingml/2006/main">
            <a:off x="3803904" y="19933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2</a:t>
            </a:r>
            <a:endParaRPr sz="1100"/>
          </a:p>
        </p:txBody>
      </p:sp>
      <p:sp>
        <p:nvSpPr>
          <p:cNvPr id="14" name="Text 12">
            <a:extLst xmlns:a="http://schemas.openxmlformats.org/drawingml/2006/main">
              <a:ext uri="{FF2B5EF4-FFF2-40B4-BE49-F238E27FC236}">
                <a16:creationId xmlns:a16="http://schemas.microsoft.com/office/drawing/2014/main" id="{16BDBF79-E82B-4453-9877-BF2042C23D6B}"/>
              </a:ext>
            </a:extLst>
          </p:cNvPr>
          <p:cNvSpPr>
            <a:spLocks xmlns:a="http://schemas.openxmlformats.org/drawingml/2006/main" noGrp="1"/>
          </p:cNvSpPr>
          <p:nvPr/>
        </p:nvSpPr>
        <p:spPr>
          <a:xfrm xmlns:a="http://schemas.openxmlformats.org/drawingml/2006/main">
            <a:off x="3803904" y="2395728"/>
            <a:ext cx="200253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350" b="1">
                <a:solidFill>
                  <a:srgbClr val="141230"/>
                </a:solidFill>
                <a:latin typeface="Cambria"/>
                <a:ea typeface="Cambria"/>
                <a:cs typeface="Cambria"/>
              </a:rPr>
              <a:t>Budget &amp; objectifs</a:t>
            </a:r>
            <a:endParaRPr sz="1350"/>
          </a:p>
        </p:txBody>
      </p:sp>
      <p:sp>
        <p:nvSpPr>
          <p:cNvPr id="15" name="Text 13">
            <a:extLst xmlns:a="http://schemas.openxmlformats.org/drawingml/2006/main">
              <a:ext uri="{FF2B5EF4-FFF2-40B4-BE49-F238E27FC236}">
                <a16:creationId xmlns:a16="http://schemas.microsoft.com/office/drawing/2014/main" id="{543380DE-CDC6-4182-8EA0-7B7C5BDFA224}"/>
              </a:ext>
            </a:extLst>
          </p:cNvPr>
          <p:cNvSpPr>
            <a:spLocks xmlns:a="http://schemas.openxmlformats.org/drawingml/2006/main" noGrp="1"/>
          </p:cNvSpPr>
          <p:nvPr/>
        </p:nvSpPr>
        <p:spPr>
          <a:xfrm xmlns:a="http://schemas.openxmlformats.org/drawingml/2006/main">
            <a:off x="3803904" y="2889504"/>
            <a:ext cx="2002536"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00">
                <a:solidFill>
                  <a:srgbClr val="6E6A88"/>
                </a:solidFill>
                <a:latin typeface="Calibri"/>
                <a:ea typeface="Calibri"/>
                <a:cs typeface="Calibri"/>
              </a:rPr>
              <a:t>Traduction chiffrée des ambitions</a:t>
            </a:r>
            <a:endParaRPr sz="1000"/>
          </a:p>
        </p:txBody>
      </p:sp>
      <p:sp>
        <p:nvSpPr>
          <p:cNvPr id="16" name="Text 14">
            <a:extLst xmlns:a="http://schemas.openxmlformats.org/drawingml/2006/main">
              <a:ext uri="{FF2B5EF4-FFF2-40B4-BE49-F238E27FC236}">
                <a16:creationId xmlns:a16="http://schemas.microsoft.com/office/drawing/2014/main" id="{73093889-2775-4890-A29D-405AA06A5B99}"/>
              </a:ext>
            </a:extLst>
          </p:cNvPr>
          <p:cNvSpPr>
            <a:spLocks xmlns:a="http://schemas.openxmlformats.org/drawingml/2006/main" noGrp="1"/>
          </p:cNvSpPr>
          <p:nvPr/>
        </p:nvSpPr>
        <p:spPr>
          <a:xfrm xmlns:a="http://schemas.openxmlformats.org/drawingml/2006/main">
            <a:off x="6044184" y="1783080"/>
            <a:ext cx="356616"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a:solidFill>
                  <a:srgbClr val="A78BFA"/>
                </a:solidFill>
                <a:latin typeface="Calibri"/>
                <a:ea typeface="Calibri"/>
                <a:cs typeface="Calibri"/>
              </a:rPr>
              <a:t>→</a:t>
            </a:r>
            <a:endParaRPr sz="1600"/>
          </a:p>
        </p:txBody>
      </p:sp>
      <p:sp>
        <p:nvSpPr>
          <p:cNvPr id="17" name="Shape 15">
            <a:extLst xmlns:a="http://schemas.openxmlformats.org/drawingml/2006/main">
              <a:ext uri="{FF2B5EF4-FFF2-40B4-BE49-F238E27FC236}">
                <a16:creationId xmlns:a16="http://schemas.microsoft.com/office/drawing/2014/main" id="{45CC00EC-5745-4684-9C30-CE85B67B57B8}"/>
              </a:ext>
            </a:extLst>
          </p:cNvPr>
          <p:cNvSpPr>
            <a:spLocks xmlns:a="http://schemas.openxmlformats.org/drawingml/2006/main" noGrp="1"/>
          </p:cNvSpPr>
          <p:nvPr/>
        </p:nvSpPr>
        <p:spPr>
          <a:xfrm xmlns:a="http://schemas.openxmlformats.org/drawingml/2006/main">
            <a:off x="6382512" y="1783080"/>
            <a:ext cx="2514600" cy="1600200"/>
          </a:xfrm>
          <a:prstGeom xmlns:a="http://schemas.openxmlformats.org/drawingml/2006/main" prst="roundRect">
            <a:avLst>
              <a:gd name="adj" fmla="val 5714"/>
            </a:avLst>
          </a:prstGeom>
          <a:solidFill xmlns:a="http://schemas.openxmlformats.org/drawingml/2006/main">
            <a:srgbClr val="6B46C7"/>
          </a:solidFill>
          <a:ln xmlns:a="http://schemas.openxmlformats.org/drawingml/2006/main" w="9525">
            <a:solidFill>
              <a:srgbClr val="6B46C7"/>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18" name="Shape 16">
            <a:extLst xmlns:a="http://schemas.openxmlformats.org/drawingml/2006/main">
              <a:ext uri="{FF2B5EF4-FFF2-40B4-BE49-F238E27FC236}">
                <a16:creationId xmlns:a16="http://schemas.microsoft.com/office/drawing/2014/main" id="{61809D10-29DF-4CEC-88E9-F55ABC3849C1}"/>
              </a:ext>
            </a:extLst>
          </p:cNvPr>
          <p:cNvSpPr>
            <a:spLocks xmlns:a="http://schemas.openxmlformats.org/drawingml/2006/main" noGrp="1"/>
          </p:cNvSpPr>
          <p:nvPr/>
        </p:nvSpPr>
        <p:spPr>
          <a:xfrm xmlns:a="http://schemas.openxmlformats.org/drawingml/2006/main">
            <a:off x="6638544" y="1993392"/>
            <a:ext cx="310896" cy="310896"/>
          </a:xfrm>
          <a:prstGeom xmlns:a="http://schemas.openxmlformats.org/drawingml/2006/main" prst="roundRect">
            <a:avLst>
              <a:gd name="adj" fmla="val 20588"/>
            </a:avLst>
          </a:prstGeom>
          <a:solidFill xmlns:a="http://schemas.openxmlformats.org/drawingml/2006/main">
            <a:srgbClr val="FFFFFF"/>
          </a:solidFill>
        </p:spPr>
      </p:sp>
      <p:sp>
        <p:nvSpPr>
          <p:cNvPr id="19" name="Text 17">
            <a:extLst xmlns:a="http://schemas.openxmlformats.org/drawingml/2006/main">
              <a:ext uri="{FF2B5EF4-FFF2-40B4-BE49-F238E27FC236}">
                <a16:creationId xmlns:a16="http://schemas.microsoft.com/office/drawing/2014/main" id="{F7AD4D0A-DDDE-4311-92D1-591614158040}"/>
              </a:ext>
            </a:extLst>
          </p:cNvPr>
          <p:cNvSpPr>
            <a:spLocks xmlns:a="http://schemas.openxmlformats.org/drawingml/2006/main" noGrp="1"/>
          </p:cNvSpPr>
          <p:nvPr/>
        </p:nvSpPr>
        <p:spPr>
          <a:xfrm xmlns:a="http://schemas.openxmlformats.org/drawingml/2006/main">
            <a:off x="6638544" y="19933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4B2FA0"/>
                </a:solidFill>
                <a:latin typeface="Calibri"/>
                <a:ea typeface="Calibri"/>
                <a:cs typeface="Calibri"/>
              </a:rPr>
              <a:t>3</a:t>
            </a:r>
            <a:endParaRPr sz="1100"/>
          </a:p>
        </p:txBody>
      </p:sp>
      <p:sp>
        <p:nvSpPr>
          <p:cNvPr id="20" name="Text 18">
            <a:extLst xmlns:a="http://schemas.openxmlformats.org/drawingml/2006/main">
              <a:ext uri="{FF2B5EF4-FFF2-40B4-BE49-F238E27FC236}">
                <a16:creationId xmlns:a16="http://schemas.microsoft.com/office/drawing/2014/main" id="{C5CC4DA9-59F2-480F-A417-3902FC3B4725}"/>
              </a:ext>
            </a:extLst>
          </p:cNvPr>
          <p:cNvSpPr>
            <a:spLocks xmlns:a="http://schemas.openxmlformats.org/drawingml/2006/main" noGrp="1"/>
          </p:cNvSpPr>
          <p:nvPr/>
        </p:nvSpPr>
        <p:spPr>
          <a:xfrm xmlns:a="http://schemas.openxmlformats.org/drawingml/2006/main">
            <a:off x="6638544" y="2395728"/>
            <a:ext cx="200253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350" b="1">
                <a:solidFill>
                  <a:srgbClr val="FFFFFF"/>
                </a:solidFill>
                <a:latin typeface="Cambria"/>
                <a:ea typeface="Cambria"/>
                <a:cs typeface="Cambria"/>
              </a:rPr>
              <a:t>Forecast glissant</a:t>
            </a:r>
            <a:endParaRPr sz="1350"/>
          </a:p>
        </p:txBody>
      </p:sp>
      <p:sp>
        <p:nvSpPr>
          <p:cNvPr id="21" name="Text 19">
            <a:extLst xmlns:a="http://schemas.openxmlformats.org/drawingml/2006/main">
              <a:ext uri="{FF2B5EF4-FFF2-40B4-BE49-F238E27FC236}">
                <a16:creationId xmlns:a16="http://schemas.microsoft.com/office/drawing/2014/main" id="{0889CAC4-FDAE-4263-8F63-84006CED7F91}"/>
              </a:ext>
            </a:extLst>
          </p:cNvPr>
          <p:cNvSpPr>
            <a:spLocks xmlns:a="http://schemas.openxmlformats.org/drawingml/2006/main" noGrp="1"/>
          </p:cNvSpPr>
          <p:nvPr/>
        </p:nvSpPr>
        <p:spPr>
          <a:xfrm xmlns:a="http://schemas.openxmlformats.org/drawingml/2006/main">
            <a:off x="6638544" y="2889504"/>
            <a:ext cx="2002536"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00">
                <a:solidFill>
                  <a:srgbClr val="E9E1FF"/>
                </a:solidFill>
                <a:latin typeface="Calibri"/>
                <a:ea typeface="Calibri"/>
                <a:cs typeface="Calibri"/>
              </a:rPr>
              <a:t>Actualisation régulière des prévisions</a:t>
            </a:r>
            <a:endParaRPr sz="1000"/>
          </a:p>
        </p:txBody>
      </p:sp>
      <p:sp>
        <p:nvSpPr>
          <p:cNvPr id="22" name="Text 20">
            <a:extLst xmlns:a="http://schemas.openxmlformats.org/drawingml/2006/main">
              <a:ext uri="{FF2B5EF4-FFF2-40B4-BE49-F238E27FC236}">
                <a16:creationId xmlns:a16="http://schemas.microsoft.com/office/drawing/2014/main" id="{F43DDBB8-AD0F-436E-A4A9-51ABF1AEB445}"/>
              </a:ext>
            </a:extLst>
          </p:cNvPr>
          <p:cNvSpPr>
            <a:spLocks xmlns:a="http://schemas.openxmlformats.org/drawingml/2006/main" noGrp="1"/>
          </p:cNvSpPr>
          <p:nvPr/>
        </p:nvSpPr>
        <p:spPr>
          <a:xfrm xmlns:a="http://schemas.openxmlformats.org/drawingml/2006/main">
            <a:off x="8878824" y="1783080"/>
            <a:ext cx="356616" cy="1600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a:solidFill>
                  <a:srgbClr val="A78BFA"/>
                </a:solidFill>
                <a:latin typeface="Calibri"/>
                <a:ea typeface="Calibri"/>
                <a:cs typeface="Calibri"/>
              </a:rPr>
              <a:t>→</a:t>
            </a:r>
            <a:endParaRPr sz="1600"/>
          </a:p>
        </p:txBody>
      </p:sp>
      <p:sp>
        <p:nvSpPr>
          <p:cNvPr id="23" name="Shape 21">
            <a:extLst xmlns:a="http://schemas.openxmlformats.org/drawingml/2006/main">
              <a:ext uri="{FF2B5EF4-FFF2-40B4-BE49-F238E27FC236}">
                <a16:creationId xmlns:a16="http://schemas.microsoft.com/office/drawing/2014/main" id="{632348D1-E6CD-431F-B4DF-5A4B2D98F75E}"/>
              </a:ext>
            </a:extLst>
          </p:cNvPr>
          <p:cNvSpPr>
            <a:spLocks xmlns:a="http://schemas.openxmlformats.org/drawingml/2006/main" noGrp="1"/>
          </p:cNvSpPr>
          <p:nvPr/>
        </p:nvSpPr>
        <p:spPr>
          <a:xfrm xmlns:a="http://schemas.openxmlformats.org/drawingml/2006/main">
            <a:off x="9217152" y="1783080"/>
            <a:ext cx="2514600" cy="1600200"/>
          </a:xfrm>
          <a:prstGeom xmlns:a="http://schemas.openxmlformats.org/drawingml/2006/main" prst="roundRect">
            <a:avLst>
              <a:gd name="adj" fmla="val 5714"/>
            </a:avLst>
          </a:prstGeom>
          <a:solidFill xmlns:a="http://schemas.openxmlformats.org/drawingml/2006/main">
            <a:srgbClr val="F6F5FB"/>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24" name="Shape 22">
            <a:extLst xmlns:a="http://schemas.openxmlformats.org/drawingml/2006/main">
              <a:ext uri="{FF2B5EF4-FFF2-40B4-BE49-F238E27FC236}">
                <a16:creationId xmlns:a16="http://schemas.microsoft.com/office/drawing/2014/main" id="{05D63E4B-C738-4A47-826E-130D28E83F34}"/>
              </a:ext>
            </a:extLst>
          </p:cNvPr>
          <p:cNvSpPr>
            <a:spLocks xmlns:a="http://schemas.openxmlformats.org/drawingml/2006/main" noGrp="1"/>
          </p:cNvSpPr>
          <p:nvPr/>
        </p:nvSpPr>
        <p:spPr>
          <a:xfrm xmlns:a="http://schemas.openxmlformats.org/drawingml/2006/main">
            <a:off x="9473184" y="1993392"/>
            <a:ext cx="310896" cy="310896"/>
          </a:xfrm>
          <a:prstGeom xmlns:a="http://schemas.openxmlformats.org/drawingml/2006/main" prst="roundRect">
            <a:avLst>
              <a:gd name="adj" fmla="val 20588"/>
            </a:avLst>
          </a:prstGeom>
          <a:solidFill xmlns:a="http://schemas.openxmlformats.org/drawingml/2006/main">
            <a:srgbClr val="6B46C7"/>
          </a:solidFill>
        </p:spPr>
      </p:sp>
      <p:sp>
        <p:nvSpPr>
          <p:cNvPr id="25" name="Text 23">
            <a:extLst xmlns:a="http://schemas.openxmlformats.org/drawingml/2006/main">
              <a:ext uri="{FF2B5EF4-FFF2-40B4-BE49-F238E27FC236}">
                <a16:creationId xmlns:a16="http://schemas.microsoft.com/office/drawing/2014/main" id="{C6AEDACD-B861-4BF3-A05A-8651A197DE04}"/>
              </a:ext>
            </a:extLst>
          </p:cNvPr>
          <p:cNvSpPr>
            <a:spLocks xmlns:a="http://schemas.openxmlformats.org/drawingml/2006/main" noGrp="1"/>
          </p:cNvSpPr>
          <p:nvPr/>
        </p:nvSpPr>
        <p:spPr>
          <a:xfrm xmlns:a="http://schemas.openxmlformats.org/drawingml/2006/main">
            <a:off x="9473184" y="1993392"/>
            <a:ext cx="310896"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4</a:t>
            </a:r>
            <a:endParaRPr sz="1100"/>
          </a:p>
        </p:txBody>
      </p:sp>
      <p:sp>
        <p:nvSpPr>
          <p:cNvPr id="26" name="Text 24">
            <a:extLst xmlns:a="http://schemas.openxmlformats.org/drawingml/2006/main">
              <a:ext uri="{FF2B5EF4-FFF2-40B4-BE49-F238E27FC236}">
                <a16:creationId xmlns:a16="http://schemas.microsoft.com/office/drawing/2014/main" id="{78D13EF8-97DE-41FD-AF51-83F128F7FEF6}"/>
              </a:ext>
            </a:extLst>
          </p:cNvPr>
          <p:cNvSpPr>
            <a:spLocks xmlns:a="http://schemas.openxmlformats.org/drawingml/2006/main" noGrp="1"/>
          </p:cNvSpPr>
          <p:nvPr/>
        </p:nvSpPr>
        <p:spPr>
          <a:xfrm xmlns:a="http://schemas.openxmlformats.org/drawingml/2006/main">
            <a:off x="9473184" y="2395728"/>
            <a:ext cx="2002536"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350" b="1">
                <a:solidFill>
                  <a:srgbClr val="141230"/>
                </a:solidFill>
                <a:latin typeface="Cambria"/>
                <a:ea typeface="Cambria"/>
                <a:cs typeface="Cambria"/>
              </a:rPr>
              <a:t>Analyse des écarts</a:t>
            </a:r>
            <a:endParaRPr sz="1350"/>
          </a:p>
        </p:txBody>
      </p:sp>
      <p:sp>
        <p:nvSpPr>
          <p:cNvPr id="27" name="Text 25">
            <a:extLst xmlns:a="http://schemas.openxmlformats.org/drawingml/2006/main">
              <a:ext uri="{FF2B5EF4-FFF2-40B4-BE49-F238E27FC236}">
                <a16:creationId xmlns:a16="http://schemas.microsoft.com/office/drawing/2014/main" id="{6EC084A9-4446-429F-8B69-8D254813175D}"/>
              </a:ext>
            </a:extLst>
          </p:cNvPr>
          <p:cNvSpPr>
            <a:spLocks xmlns:a="http://schemas.openxmlformats.org/drawingml/2006/main" noGrp="1"/>
          </p:cNvSpPr>
          <p:nvPr/>
        </p:nvSpPr>
        <p:spPr>
          <a:xfrm xmlns:a="http://schemas.openxmlformats.org/drawingml/2006/main">
            <a:off x="9473184" y="2889504"/>
            <a:ext cx="2002536"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0000"/>
              </a:lnSpc>
              <a:buNone/>
            </a:pPr>
            <a:r>
              <a:rPr sz="1000">
                <a:solidFill>
                  <a:srgbClr val="6E6A88"/>
                </a:solidFill>
                <a:latin typeface="Calibri"/>
                <a:ea typeface="Calibri"/>
                <a:cs typeface="Calibri"/>
              </a:rPr>
              <a:t>Explication et arbitrages FP&amp;A</a:t>
            </a:r>
            <a:endParaRPr sz="1000"/>
          </a:p>
        </p:txBody>
      </p:sp>
      <p:sp>
        <p:nvSpPr>
          <p:cNvPr id="28" name="Shape 26">
            <a:extLst xmlns:a="http://schemas.openxmlformats.org/drawingml/2006/main">
              <a:ext uri="{FF2B5EF4-FFF2-40B4-BE49-F238E27FC236}">
                <a16:creationId xmlns:a16="http://schemas.microsoft.com/office/drawing/2014/main" id="{DE5D3996-C384-430B-9228-269EDE7C1EB9}"/>
              </a:ext>
            </a:extLst>
          </p:cNvPr>
          <p:cNvSpPr>
            <a:spLocks xmlns:a="http://schemas.openxmlformats.org/drawingml/2006/main" noGrp="1"/>
          </p:cNvSpPr>
          <p:nvPr/>
        </p:nvSpPr>
        <p:spPr>
          <a:xfrm xmlns:a="http://schemas.openxmlformats.org/drawingml/2006/main">
            <a:off x="713232" y="3611880"/>
            <a:ext cx="5943600" cy="2148840"/>
          </a:xfrm>
          <a:prstGeom xmlns:a="http://schemas.openxmlformats.org/drawingml/2006/main" prst="roundRect">
            <a:avLst>
              <a:gd name="adj" fmla="val 4255"/>
            </a:avLst>
          </a:prstGeom>
          <a:solidFill xmlns:a="http://schemas.openxmlformats.org/drawingml/2006/main">
            <a:srgbClr val="EEEBF8"/>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29" name="Text 27">
            <a:extLst xmlns:a="http://schemas.openxmlformats.org/drawingml/2006/main">
              <a:ext uri="{FF2B5EF4-FFF2-40B4-BE49-F238E27FC236}">
                <a16:creationId xmlns:a16="http://schemas.microsoft.com/office/drawing/2014/main" id="{B4800CA0-810F-4E1C-9812-718E125180E1}"/>
              </a:ext>
            </a:extLst>
          </p:cNvPr>
          <p:cNvSpPr>
            <a:spLocks xmlns:a="http://schemas.openxmlformats.org/drawingml/2006/main" noGrp="1"/>
          </p:cNvSpPr>
          <p:nvPr/>
        </p:nvSpPr>
        <p:spPr>
          <a:xfrm xmlns:a="http://schemas.openxmlformats.org/drawingml/2006/main">
            <a:off x="1005840" y="3840480"/>
            <a:ext cx="5394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60">
                <a:solidFill>
                  <a:srgbClr val="6B46C7"/>
                </a:solidFill>
                <a:latin typeface="Calibri"/>
                <a:ea typeface="Calibri"/>
                <a:cs typeface="Calibri"/>
              </a:rPr>
              <a:t>LE PROJET INTERVIENT ICI</a:t>
            </a:r>
            <a:endParaRPr sz="950"/>
          </a:p>
        </p:txBody>
      </p:sp>
      <p:sp>
        <p:nvSpPr>
          <p:cNvPr id="30" name="Text 28">
            <a:extLst xmlns:a="http://schemas.openxmlformats.org/drawingml/2006/main">
              <a:ext uri="{FF2B5EF4-FFF2-40B4-BE49-F238E27FC236}">
                <a16:creationId xmlns:a16="http://schemas.microsoft.com/office/drawing/2014/main" id="{E3721C06-C9F3-4B11-9A76-76E56F5A222A}"/>
              </a:ext>
            </a:extLst>
          </p:cNvPr>
          <p:cNvSpPr>
            <a:spLocks xmlns:a="http://schemas.openxmlformats.org/drawingml/2006/main" noGrp="1"/>
          </p:cNvSpPr>
          <p:nvPr/>
        </p:nvSpPr>
        <p:spPr>
          <a:xfrm xmlns:a="http://schemas.openxmlformats.org/drawingml/2006/main">
            <a:off x="1005840" y="4096512"/>
            <a:ext cx="539496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4B2FA0"/>
                </a:solidFill>
                <a:latin typeface="Cambria"/>
                <a:ea typeface="Cambria"/>
                <a:cs typeface="Cambria"/>
              </a:rPr>
              <a:t>Sur l'étape de prévision</a:t>
            </a:r>
            <a:endParaRPr sz="1700"/>
          </a:p>
        </p:txBody>
      </p:sp>
      <p:sp>
        <p:nvSpPr>
          <p:cNvPr id="31" name="Text 29">
            <a:extLst xmlns:a="http://schemas.openxmlformats.org/drawingml/2006/main">
              <a:ext uri="{FF2B5EF4-FFF2-40B4-BE49-F238E27FC236}">
                <a16:creationId xmlns:a16="http://schemas.microsoft.com/office/drawing/2014/main" id="{77E280CF-8EAB-4EB2-B52D-85704A2B1821}"/>
              </a:ext>
            </a:extLst>
          </p:cNvPr>
          <p:cNvSpPr>
            <a:spLocks xmlns:a="http://schemas.openxmlformats.org/drawingml/2006/main" noGrp="1"/>
          </p:cNvSpPr>
          <p:nvPr/>
        </p:nvSpPr>
        <p:spPr>
          <a:xfrm xmlns:a="http://schemas.openxmlformats.org/drawingml/2006/main">
            <a:off x="1005840" y="4498848"/>
            <a:ext cx="5394960" cy="10972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150">
                <a:solidFill>
                  <a:srgbClr val="26233D"/>
                </a:solidFill>
                <a:latin typeface="Calibri"/>
                <a:ea typeface="Calibri"/>
                <a:cs typeface="Calibri"/>
              </a:rPr>
              <a:t>Il ne vise à remplacer ni la planification stratégique, ni le jugement des responsables financiers. Il fournit une estimation chiffrée, mesurable et reproductible du chiffre d'affaires futur ; l'interprétation et la décision restent la responsabilité de l'équipe FP&amp;A.</a:t>
            </a:r>
            <a:endParaRPr sz="1150"/>
          </a:p>
        </p:txBody>
      </p:sp>
      <p:sp>
        <p:nvSpPr>
          <p:cNvPr id="32" name="Shape 30">
            <a:extLst xmlns:a="http://schemas.openxmlformats.org/drawingml/2006/main">
              <a:ext uri="{FF2B5EF4-FFF2-40B4-BE49-F238E27FC236}">
                <a16:creationId xmlns:a16="http://schemas.microsoft.com/office/drawing/2014/main" id="{825C201C-CC41-4D32-8CBE-97D2A36671E7}"/>
              </a:ext>
            </a:extLst>
          </p:cNvPr>
          <p:cNvSpPr>
            <a:spLocks xmlns:a="http://schemas.openxmlformats.org/drawingml/2006/main" noGrp="1"/>
          </p:cNvSpPr>
          <p:nvPr/>
        </p:nvSpPr>
        <p:spPr>
          <a:xfrm xmlns:a="http://schemas.openxmlformats.org/drawingml/2006/main">
            <a:off x="6949440" y="3611880"/>
            <a:ext cx="4526280" cy="2148840"/>
          </a:xfrm>
          <a:prstGeom xmlns:a="http://schemas.openxmlformats.org/drawingml/2006/main" prst="roundRect">
            <a:avLst>
              <a:gd name="adj" fmla="val 4255"/>
            </a:avLst>
          </a:prstGeom>
          <a:solidFill xmlns:a="http://schemas.openxmlformats.org/drawingml/2006/main">
            <a:srgbClr val="EFEBFA"/>
          </a:solidFill>
          <a:ln xmlns:a="http://schemas.openxmlformats.org/drawingml/2006/main" w="9525">
            <a:solidFill>
              <a:srgbClr val="D9D2F1"/>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33" name="Text 31">
            <a:extLst xmlns:a="http://schemas.openxmlformats.org/drawingml/2006/main">
              <a:ext uri="{FF2B5EF4-FFF2-40B4-BE49-F238E27FC236}">
                <a16:creationId xmlns:a16="http://schemas.microsoft.com/office/drawing/2014/main" id="{17114D49-56E7-4B36-8C9D-7E9AAB777C63}"/>
              </a:ext>
            </a:extLst>
          </p:cNvPr>
          <p:cNvSpPr>
            <a:spLocks xmlns:a="http://schemas.openxmlformats.org/drawingml/2006/main" noGrp="1"/>
          </p:cNvSpPr>
          <p:nvPr/>
        </p:nvSpPr>
        <p:spPr>
          <a:xfrm xmlns:a="http://schemas.openxmlformats.org/drawingml/2006/main">
            <a:off x="7242048" y="3840480"/>
            <a:ext cx="39319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6B46C7"/>
                </a:solidFill>
                <a:latin typeface="Calibri"/>
                <a:ea typeface="Calibri"/>
                <a:cs typeface="Calibri"/>
              </a:rPr>
              <a:t>LE COÛT D'UNE ERREUR DE PRÉVISION</a:t>
            </a:r>
            <a:endParaRPr sz="950"/>
          </a:p>
        </p:txBody>
      </p:sp>
      <p:sp>
        <p:nvSpPr>
          <p:cNvPr id="34" name="Text 32">
            <a:extLst xmlns:a="http://schemas.openxmlformats.org/drawingml/2006/main">
              <a:ext uri="{FF2B5EF4-FFF2-40B4-BE49-F238E27FC236}">
                <a16:creationId xmlns:a16="http://schemas.microsoft.com/office/drawing/2014/main" id="{0CE68A75-DAA6-4A21-8431-2917319DF09D}"/>
              </a:ext>
            </a:extLst>
          </p:cNvPr>
          <p:cNvSpPr>
            <a:spLocks xmlns:a="http://schemas.openxmlformats.org/drawingml/2006/main" noGrp="1"/>
          </p:cNvSpPr>
          <p:nvPr/>
        </p:nvSpPr>
        <p:spPr>
          <a:xfrm xmlns:a="http://schemas.openxmlformats.org/drawingml/2006/main">
            <a:off x="7242048" y="4133088"/>
            <a:ext cx="3931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41230"/>
                </a:solidFill>
                <a:latin typeface="Cambria"/>
                <a:ea typeface="Cambria"/>
                <a:cs typeface="Cambria"/>
              </a:rPr>
              <a:t>Surestimation</a:t>
            </a:r>
            <a:endParaRPr sz="1450"/>
          </a:p>
        </p:txBody>
      </p:sp>
      <p:sp>
        <p:nvSpPr>
          <p:cNvPr id="35" name="Text 33">
            <a:extLst xmlns:a="http://schemas.openxmlformats.org/drawingml/2006/main">
              <a:ext uri="{FF2B5EF4-FFF2-40B4-BE49-F238E27FC236}">
                <a16:creationId xmlns:a16="http://schemas.microsoft.com/office/drawing/2014/main" id="{014E8944-9DAC-40FF-810D-140894A58F26}"/>
              </a:ext>
            </a:extLst>
          </p:cNvPr>
          <p:cNvSpPr>
            <a:spLocks xmlns:a="http://schemas.openxmlformats.org/drawingml/2006/main" noGrp="1"/>
          </p:cNvSpPr>
          <p:nvPr/>
        </p:nvSpPr>
        <p:spPr>
          <a:xfrm xmlns:a="http://schemas.openxmlformats.org/drawingml/2006/main">
            <a:off x="7242048" y="4425696"/>
            <a:ext cx="3931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050">
                <a:solidFill>
                  <a:srgbClr val="6E6A88"/>
                </a:solidFill>
                <a:latin typeface="Calibri"/>
                <a:ea typeface="Calibri"/>
                <a:cs typeface="Calibri"/>
              </a:rPr>
              <a:t>Des engagements budgétaires que les revenus réalisés ne couvriront pas.</a:t>
            </a:r>
            <a:endParaRPr sz="1050"/>
          </a:p>
        </p:txBody>
      </p:sp>
      <p:sp>
        <p:nvSpPr>
          <p:cNvPr id="36" name="Text 34">
            <a:extLst xmlns:a="http://schemas.openxmlformats.org/drawingml/2006/main">
              <a:ext uri="{FF2B5EF4-FFF2-40B4-BE49-F238E27FC236}">
                <a16:creationId xmlns:a16="http://schemas.microsoft.com/office/drawing/2014/main" id="{EBB456DA-3C5E-4EB1-A228-C2AF09713BF7}"/>
              </a:ext>
            </a:extLst>
          </p:cNvPr>
          <p:cNvSpPr>
            <a:spLocks xmlns:a="http://schemas.openxmlformats.org/drawingml/2006/main" noGrp="1"/>
          </p:cNvSpPr>
          <p:nvPr/>
        </p:nvSpPr>
        <p:spPr>
          <a:xfrm xmlns:a="http://schemas.openxmlformats.org/drawingml/2006/main">
            <a:off x="7242048" y="4956048"/>
            <a:ext cx="3931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50" b="1">
                <a:solidFill>
                  <a:srgbClr val="141230"/>
                </a:solidFill>
                <a:latin typeface="Cambria"/>
                <a:ea typeface="Cambria"/>
                <a:cs typeface="Cambria"/>
              </a:rPr>
              <a:t>Sous-estimation</a:t>
            </a:r>
            <a:endParaRPr sz="1450"/>
          </a:p>
        </p:txBody>
      </p:sp>
      <p:sp>
        <p:nvSpPr>
          <p:cNvPr id="37" name="Text 35">
            <a:extLst xmlns:a="http://schemas.openxmlformats.org/drawingml/2006/main">
              <a:ext uri="{FF2B5EF4-FFF2-40B4-BE49-F238E27FC236}">
                <a16:creationId xmlns:a16="http://schemas.microsoft.com/office/drawing/2014/main" id="{D7812D80-3F65-4F40-BA4C-5FC46EE4DD3B}"/>
              </a:ext>
            </a:extLst>
          </p:cNvPr>
          <p:cNvSpPr>
            <a:spLocks xmlns:a="http://schemas.openxmlformats.org/drawingml/2006/main" noGrp="1"/>
          </p:cNvSpPr>
          <p:nvPr/>
        </p:nvSpPr>
        <p:spPr>
          <a:xfrm xmlns:a="http://schemas.openxmlformats.org/drawingml/2006/main">
            <a:off x="7242048" y="5248656"/>
            <a:ext cx="39319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050">
                <a:solidFill>
                  <a:srgbClr val="6E6A88"/>
                </a:solidFill>
                <a:latin typeface="Calibri"/>
                <a:ea typeface="Calibri"/>
                <a:cs typeface="Calibri"/>
              </a:rPr>
              <a:t>Une allocation de ressources insuffisante, des investissements bridés.</a:t>
            </a:r>
            <a:endParaRPr sz="1050"/>
          </a:p>
        </p:txBody>
      </p:sp>
      <p:sp>
        <p:nvSpPr>
          <p:cNvPr id="38" name="!!footer_label">
            <a:extLst xmlns:a="http://schemas.openxmlformats.org/drawingml/2006/main">
              <a:ext uri="{FF2B5EF4-FFF2-40B4-BE49-F238E27FC236}">
                <a16:creationId xmlns:a16="http://schemas.microsoft.com/office/drawing/2014/main" id="{586C271B-E5B8-442A-AF9A-7ED579F19460}"/>
              </a:ext>
            </a:extLst>
          </p:cNvPr>
          <p:cNvSpPr>
            <a:spLocks xmlns:a="http://schemas.openxmlformats.org/drawingml/2006/main" noGrp="1"/>
          </p:cNvSpPr>
          <p:nvPr/>
        </p:nvSpPr>
        <p:spPr>
          <a:xfrm xmlns:a="http://schemas.openxmlformats.org/drawingml/2006/main">
            <a:off x="713232" y="6345936"/>
            <a:ext cx="7315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spc="60">
                <a:solidFill>
                  <a:srgbClr val="A5A1B8"/>
                </a:solidFill>
                <a:latin typeface="Calibri"/>
                <a:ea typeface="Calibri"/>
                <a:cs typeface="Calibri"/>
              </a:rPr>
              <a:t>01 · Contexte &amp; problématique</a:t>
            </a:r>
            <a:endParaRPr sz="900"/>
          </a:p>
        </p:txBody>
      </p:sp>
      <p:sp>
        <p:nvSpPr>
          <p:cNvPr id="39" name="!!footer_page">
            <a:extLst xmlns:a="http://schemas.openxmlformats.org/drawingml/2006/main">
              <a:ext uri="{FF2B5EF4-FFF2-40B4-BE49-F238E27FC236}">
                <a16:creationId xmlns:a16="http://schemas.microsoft.com/office/drawing/2014/main" id="{7E64F8B8-4235-4ACC-ABE1-0CC8E30979A3}"/>
              </a:ext>
            </a:extLst>
          </p:cNvPr>
          <p:cNvSpPr>
            <a:spLocks xmlns:a="http://schemas.openxmlformats.org/drawingml/2006/main" noGrp="1"/>
          </p:cNvSpPr>
          <p:nvPr/>
        </p:nvSpPr>
        <p:spPr>
          <a:xfrm xmlns:a="http://schemas.openxmlformats.org/drawingml/2006/main">
            <a:off x="10972800" y="6345936"/>
            <a:ext cx="502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50" b="1">
                <a:solidFill>
                  <a:srgbClr val="6B46C7"/>
                </a:solidFill>
                <a:latin typeface="Calibri"/>
                <a:ea typeface="Calibri"/>
                <a:cs typeface="Calibri"/>
              </a:rPr>
              <a:t>2</a:t>
            </a:r>
            <a:endParaRPr sz="950"/>
          </a:p>
        </p:txBody>
      </p:sp>
    </p:spTree>
    <p:extLst>
      <p:ext uri="{BB962C8B-B14F-4D97-AF65-F5344CB8AC3E}">
        <p14:creationId xmlns:p14="http://schemas.microsoft.com/office/powerpoint/2010/main" val="390768607"/>
      </p:ext>
    </p:extLst>
  </p:cSld>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sld>
</file>

<file path=ppt/slides/slide3.xml><?xml version="1.0" encoding="utf-8"?>
<p:sld xmlns:p="http://schemas.openxmlformats.org/presentationml/2006/main">
  <p:cSld>
    <p:bg>
      <p:bgPr>
        <a:blipFill xmlns:a="http://schemas.openxmlformats.org/drawingml/2006/main" rotWithShape="1">
          <a:blip xmlns:r="http://schemas.openxmlformats.org/officeDocument/2006/relationships" r:embed="R520815e290d8486a">
            <a:lum/>
          </a:blip>
          <a:srcRect l="0" t="0" r="0" b="0"/>
          <a:stretch>
            <a:fillRect l="0" t="0" r="0" b="0"/>
          </a:stretch>
        </a:blip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A4CD727-F4D2-40CD-BED7-07577BC9D135}"/>
              </a:ext>
            </a:extLst>
          </p:cNvPr>
          <p:cNvSpPr>
            <a:spLocks xmlns:a="http://schemas.openxmlformats.org/drawingml/2006/main" noGrp="1"/>
          </p:cNvSpPr>
          <p:nvPr/>
        </p:nvSpPr>
        <p:spPr>
          <a:xfrm xmlns:a="http://schemas.openxmlformats.org/drawingml/2006/main">
            <a:off x="658368" y="1463040"/>
            <a:ext cx="2743200" cy="1645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600" b="1">
                <a:solidFill>
                  <a:srgbClr val="D8CEF5"/>
                </a:solidFill>
                <a:latin typeface="Cambria"/>
                <a:ea typeface="Cambria"/>
                <a:cs typeface="Cambria"/>
              </a:rPr>
              <a:t>02</a:t>
            </a:r>
            <a:endParaRPr sz="9600"/>
          </a:p>
        </p:txBody>
      </p:sp>
      <p:sp>
        <p:nvSpPr>
          <p:cNvPr id="3" name="Text 1">
            <a:extLst xmlns:a="http://schemas.openxmlformats.org/drawingml/2006/main">
              <a:ext uri="{FF2B5EF4-FFF2-40B4-BE49-F238E27FC236}">
                <a16:creationId xmlns:a16="http://schemas.microsoft.com/office/drawing/2014/main" id="{62166B91-DC36-4C2D-BD5C-E2FB6CBEA0E5}"/>
              </a:ext>
            </a:extLst>
          </p:cNvPr>
          <p:cNvSpPr>
            <a:spLocks xmlns:a="http://schemas.openxmlformats.org/drawingml/2006/main" noGrp="1"/>
          </p:cNvSpPr>
          <p:nvPr/>
        </p:nvSpPr>
        <p:spPr>
          <a:xfrm xmlns:a="http://schemas.openxmlformats.org/drawingml/2006/main">
            <a:off x="713232" y="3154680"/>
            <a:ext cx="768096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300" b="1">
                <a:solidFill>
                  <a:srgbClr val="141230"/>
                </a:solidFill>
                <a:latin typeface="Cambria"/>
                <a:ea typeface="Cambria"/>
                <a:cs typeface="Cambria"/>
              </a:rPr>
              <a:t>Ma mission et ma démarche financière</a:t>
            </a:r>
            <a:endParaRPr sz="3300"/>
          </a:p>
        </p:txBody>
      </p:sp>
      <p:sp>
        <p:nvSpPr>
          <p:cNvPr id="4" name="Text 2">
            <a:extLst xmlns:a="http://schemas.openxmlformats.org/drawingml/2006/main">
              <a:ext uri="{FF2B5EF4-FFF2-40B4-BE49-F238E27FC236}">
                <a16:creationId xmlns:a16="http://schemas.microsoft.com/office/drawing/2014/main" id="{AEDBA796-BC23-4497-83E9-8C3252A49B37}"/>
              </a:ext>
            </a:extLst>
          </p:cNvPr>
          <p:cNvSpPr>
            <a:spLocks xmlns:a="http://schemas.openxmlformats.org/drawingml/2006/main" noGrp="1"/>
          </p:cNvSpPr>
          <p:nvPr/>
        </p:nvSpPr>
        <p:spPr>
          <a:xfrm xmlns:a="http://schemas.openxmlformats.org/drawingml/2006/main">
            <a:off x="713232" y="3950208"/>
            <a:ext cx="67665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350">
                <a:solidFill>
                  <a:srgbClr val="6E6A88"/>
                </a:solidFill>
                <a:latin typeface="Calibri"/>
                <a:ea typeface="Calibri"/>
                <a:cs typeface="Calibri"/>
              </a:rPr>
              <a:t>Évaluer si un modèle de Machine Learning peut améliorer la prévision du chiffre d’affaires par rapport à une méthode financière simple, robuste et explicable.</a:t>
            </a:r>
            <a:endParaRPr sz="1350"/>
          </a:p>
        </p:txBody>
      </p:sp>
      <p:sp>
        <p:nvSpPr>
          <p:cNvPr id="5" name="Shape 3">
            <a:extLst xmlns:a="http://schemas.openxmlformats.org/drawingml/2006/main">
              <a:ext uri="{FF2B5EF4-FFF2-40B4-BE49-F238E27FC236}">
                <a16:creationId xmlns:a16="http://schemas.microsoft.com/office/drawing/2014/main" id="{915E8FA3-D190-4296-B436-5D56EF3F2122}"/>
              </a:ext>
            </a:extLst>
          </p:cNvPr>
          <p:cNvSpPr>
            <a:spLocks xmlns:a="http://schemas.openxmlformats.org/drawingml/2006/main" noGrp="1"/>
          </p:cNvSpPr>
          <p:nvPr/>
        </p:nvSpPr>
        <p:spPr>
          <a:xfrm xmlns:a="http://schemas.openxmlformats.org/drawingml/2006/main">
            <a:off x="8732520" y="1975104"/>
            <a:ext cx="109728" cy="109728"/>
          </a:xfrm>
          <a:prstGeom xmlns:a="http://schemas.openxmlformats.org/drawingml/2006/main" prst="ellipse">
            <a:avLst/>
          </a:prstGeom>
          <a:solidFill xmlns:a="http://schemas.openxmlformats.org/drawingml/2006/main">
            <a:srgbClr val="6B46C7"/>
          </a:solidFill>
        </p:spPr>
      </p:sp>
      <p:sp>
        <p:nvSpPr>
          <p:cNvPr id="6" name="Text 4">
            <a:extLst xmlns:a="http://schemas.openxmlformats.org/drawingml/2006/main">
              <a:ext uri="{FF2B5EF4-FFF2-40B4-BE49-F238E27FC236}">
                <a16:creationId xmlns:a16="http://schemas.microsoft.com/office/drawing/2014/main" id="{9CB2B23C-99D6-4904-AB93-5A36489C21A0}"/>
              </a:ext>
            </a:extLst>
          </p:cNvPr>
          <p:cNvSpPr>
            <a:spLocks xmlns:a="http://schemas.openxmlformats.org/drawingml/2006/main" noGrp="1"/>
          </p:cNvSpPr>
          <p:nvPr/>
        </p:nvSpPr>
        <p:spPr>
          <a:xfrm xmlns:a="http://schemas.openxmlformats.org/drawingml/2006/main">
            <a:off x="9006840" y="1874520"/>
            <a:ext cx="2743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26233D"/>
                </a:solidFill>
                <a:latin typeface="Calibri"/>
                <a:ea typeface="Calibri"/>
                <a:cs typeface="Calibri"/>
              </a:rPr>
              <a:t>Cadrer le besoin de prévision financière</a:t>
            </a:r>
            <a:endParaRPr sz="1200"/>
          </a:p>
        </p:txBody>
      </p:sp>
      <p:sp>
        <p:nvSpPr>
          <p:cNvPr id="7" name="Shape 5">
            <a:extLst xmlns:a="http://schemas.openxmlformats.org/drawingml/2006/main">
              <a:ext uri="{FF2B5EF4-FFF2-40B4-BE49-F238E27FC236}">
                <a16:creationId xmlns:a16="http://schemas.microsoft.com/office/drawing/2014/main" id="{022F6E1C-5E1C-4BD9-9B98-F9C067D6D887}"/>
              </a:ext>
            </a:extLst>
          </p:cNvPr>
          <p:cNvSpPr>
            <a:spLocks xmlns:a="http://schemas.openxmlformats.org/drawingml/2006/main" noGrp="1"/>
          </p:cNvSpPr>
          <p:nvPr/>
        </p:nvSpPr>
        <p:spPr>
          <a:xfrm xmlns:a="http://schemas.openxmlformats.org/drawingml/2006/main">
            <a:off x="8732520" y="2450592"/>
            <a:ext cx="109728" cy="109728"/>
          </a:xfrm>
          <a:prstGeom xmlns:a="http://schemas.openxmlformats.org/drawingml/2006/main" prst="ellipse">
            <a:avLst/>
          </a:prstGeom>
          <a:solidFill xmlns:a="http://schemas.openxmlformats.org/drawingml/2006/main">
            <a:srgbClr val="6B46C7"/>
          </a:solidFill>
        </p:spPr>
      </p:sp>
      <p:sp>
        <p:nvSpPr>
          <p:cNvPr id="8" name="Text 6">
            <a:extLst xmlns:a="http://schemas.openxmlformats.org/drawingml/2006/main">
              <a:ext uri="{FF2B5EF4-FFF2-40B4-BE49-F238E27FC236}">
                <a16:creationId xmlns:a16="http://schemas.microsoft.com/office/drawing/2014/main" id="{D01F7141-E05E-494A-9B2C-661E12B448B5}"/>
              </a:ext>
            </a:extLst>
          </p:cNvPr>
          <p:cNvSpPr>
            <a:spLocks xmlns:a="http://schemas.openxmlformats.org/drawingml/2006/main" noGrp="1"/>
          </p:cNvSpPr>
          <p:nvPr/>
        </p:nvSpPr>
        <p:spPr>
          <a:xfrm xmlns:a="http://schemas.openxmlformats.org/drawingml/2006/main">
            <a:off x="9006840" y="2350008"/>
            <a:ext cx="2743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26233D"/>
                </a:solidFill>
                <a:latin typeface="Calibri"/>
                <a:ea typeface="Calibri"/>
                <a:cs typeface="Calibri"/>
              </a:rPr>
              <a:t>Construire une baseline de référence</a:t>
            </a:r>
            <a:endParaRPr sz="1200"/>
          </a:p>
        </p:txBody>
      </p:sp>
      <p:sp>
        <p:nvSpPr>
          <p:cNvPr id="9" name="Shape 7">
            <a:extLst xmlns:a="http://schemas.openxmlformats.org/drawingml/2006/main">
              <a:ext uri="{FF2B5EF4-FFF2-40B4-BE49-F238E27FC236}">
                <a16:creationId xmlns:a16="http://schemas.microsoft.com/office/drawing/2014/main" id="{203B18EF-961A-4A0A-BE59-10706AAC8AD3}"/>
              </a:ext>
            </a:extLst>
          </p:cNvPr>
          <p:cNvSpPr>
            <a:spLocks xmlns:a="http://schemas.openxmlformats.org/drawingml/2006/main" noGrp="1"/>
          </p:cNvSpPr>
          <p:nvPr/>
        </p:nvSpPr>
        <p:spPr>
          <a:xfrm xmlns:a="http://schemas.openxmlformats.org/drawingml/2006/main">
            <a:off x="8732520" y="2926080"/>
            <a:ext cx="109728" cy="109728"/>
          </a:xfrm>
          <a:prstGeom xmlns:a="http://schemas.openxmlformats.org/drawingml/2006/main" prst="ellipse">
            <a:avLst/>
          </a:prstGeom>
          <a:solidFill xmlns:a="http://schemas.openxmlformats.org/drawingml/2006/main">
            <a:srgbClr val="6B46C7"/>
          </a:solidFill>
        </p:spPr>
      </p:sp>
      <p:sp>
        <p:nvSpPr>
          <p:cNvPr id="10" name="Text 8">
            <a:extLst xmlns:a="http://schemas.openxmlformats.org/drawingml/2006/main">
              <a:ext uri="{FF2B5EF4-FFF2-40B4-BE49-F238E27FC236}">
                <a16:creationId xmlns:a16="http://schemas.microsoft.com/office/drawing/2014/main" id="{0DF63CB3-1B8A-489A-BB74-E279F9ABA790}"/>
              </a:ext>
            </a:extLst>
          </p:cNvPr>
          <p:cNvSpPr>
            <a:spLocks xmlns:a="http://schemas.openxmlformats.org/drawingml/2006/main" noGrp="1"/>
          </p:cNvSpPr>
          <p:nvPr/>
        </p:nvSpPr>
        <p:spPr>
          <a:xfrm xmlns:a="http://schemas.openxmlformats.org/drawingml/2006/main">
            <a:off x="9006840" y="2825496"/>
            <a:ext cx="2743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26233D"/>
                </a:solidFill>
                <a:latin typeface="Calibri"/>
                <a:ea typeface="Calibri"/>
                <a:cs typeface="Calibri"/>
              </a:rPr>
              <a:t>Contrôler et préparer les données</a:t>
            </a:r>
            <a:endParaRPr sz="1200"/>
          </a:p>
        </p:txBody>
      </p:sp>
      <p:sp>
        <p:nvSpPr>
          <p:cNvPr id="11" name="Shape 9">
            <a:extLst xmlns:a="http://schemas.openxmlformats.org/drawingml/2006/main">
              <a:ext uri="{FF2B5EF4-FFF2-40B4-BE49-F238E27FC236}">
                <a16:creationId xmlns:a16="http://schemas.microsoft.com/office/drawing/2014/main" id="{BAAD689D-DCEA-4805-AE6D-4229FF2302CC}"/>
              </a:ext>
            </a:extLst>
          </p:cNvPr>
          <p:cNvSpPr>
            <a:spLocks xmlns:a="http://schemas.openxmlformats.org/drawingml/2006/main" noGrp="1"/>
          </p:cNvSpPr>
          <p:nvPr/>
        </p:nvSpPr>
        <p:spPr>
          <a:xfrm xmlns:a="http://schemas.openxmlformats.org/drawingml/2006/main">
            <a:off x="8732520" y="3401568"/>
            <a:ext cx="109728" cy="109728"/>
          </a:xfrm>
          <a:prstGeom xmlns:a="http://schemas.openxmlformats.org/drawingml/2006/main" prst="ellipse">
            <a:avLst/>
          </a:prstGeom>
          <a:solidFill xmlns:a="http://schemas.openxmlformats.org/drawingml/2006/main">
            <a:srgbClr val="6B46C7"/>
          </a:solidFill>
        </p:spPr>
      </p:sp>
      <p:sp>
        <p:nvSpPr>
          <p:cNvPr id="12" name="Text 10">
            <a:extLst xmlns:a="http://schemas.openxmlformats.org/drawingml/2006/main">
              <a:ext uri="{FF2B5EF4-FFF2-40B4-BE49-F238E27FC236}">
                <a16:creationId xmlns:a16="http://schemas.microsoft.com/office/drawing/2014/main" id="{205802E0-689C-43CA-A139-A5DDBEBAA5B1}"/>
              </a:ext>
            </a:extLst>
          </p:cNvPr>
          <p:cNvSpPr>
            <a:spLocks xmlns:a="http://schemas.openxmlformats.org/drawingml/2006/main" noGrp="1"/>
          </p:cNvSpPr>
          <p:nvPr/>
        </p:nvSpPr>
        <p:spPr>
          <a:xfrm xmlns:a="http://schemas.openxmlformats.org/drawingml/2006/main">
            <a:off x="9006840" y="3300984"/>
            <a:ext cx="2743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26233D"/>
                </a:solidFill>
                <a:latin typeface="Calibri"/>
                <a:ea typeface="Calibri"/>
                <a:cs typeface="Calibri"/>
              </a:rPr>
              <a:t>Comparer les modèles par backtesting temporel</a:t>
            </a:r>
            <a:endParaRPr sz="1200"/>
          </a:p>
        </p:txBody>
      </p:sp>
      <p:sp>
        <p:nvSpPr>
          <p:cNvPr id="13" name="!!footer_label">
            <a:extLst xmlns:a="http://schemas.openxmlformats.org/drawingml/2006/main">
              <a:ext uri="{FF2B5EF4-FFF2-40B4-BE49-F238E27FC236}">
                <a16:creationId xmlns:a16="http://schemas.microsoft.com/office/drawing/2014/main" id="{29CA0141-8C6C-4EC9-8768-80060A09E749}"/>
              </a:ext>
            </a:extLst>
          </p:cNvPr>
          <p:cNvSpPr>
            <a:spLocks xmlns:a="http://schemas.openxmlformats.org/drawingml/2006/main" noGrp="1"/>
          </p:cNvSpPr>
          <p:nvPr/>
        </p:nvSpPr>
        <p:spPr>
          <a:xfrm xmlns:a="http://schemas.openxmlformats.org/drawingml/2006/main">
            <a:off x="713232" y="6345936"/>
            <a:ext cx="7315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900"/>
          </a:p>
        </p:txBody>
      </p:sp>
      <p:sp>
        <p:nvSpPr>
          <p:cNvPr id="14" name="!!footer_page">
            <a:extLst xmlns:a="http://schemas.openxmlformats.org/drawingml/2006/main">
              <a:ext uri="{FF2B5EF4-FFF2-40B4-BE49-F238E27FC236}">
                <a16:creationId xmlns:a16="http://schemas.microsoft.com/office/drawing/2014/main" id="{0E116D58-82D1-4EE2-A2A7-926B856F72FE}"/>
              </a:ext>
            </a:extLst>
          </p:cNvPr>
          <p:cNvSpPr>
            <a:spLocks xmlns:a="http://schemas.openxmlformats.org/drawingml/2006/main" noGrp="1"/>
          </p:cNvSpPr>
          <p:nvPr/>
        </p:nvSpPr>
        <p:spPr>
          <a:xfrm xmlns:a="http://schemas.openxmlformats.org/drawingml/2006/main">
            <a:off x="10972800" y="6345936"/>
            <a:ext cx="502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50" b="1">
                <a:solidFill>
                  <a:srgbClr val="6B46C7"/>
                </a:solidFill>
                <a:latin typeface="Calibri"/>
                <a:ea typeface="Calibri"/>
                <a:cs typeface="Calibri"/>
              </a:rPr>
              <a:t>6</a:t>
            </a:r>
            <a:endParaRPr sz="950"/>
          </a:p>
        </p:txBody>
      </p:sp>
      <p:sp>
        <p:nvSpPr>
          <p:cNvPr id="30" name="Shape 11">
            <a:extLst xmlns:a="http://schemas.openxmlformats.org/drawingml/2006/main">
              <a:ext uri="{FF2B5EF4-FFF2-40B4-BE49-F238E27FC236}">
                <a16:creationId xmlns:a16="http://schemas.microsoft.com/office/drawing/2014/main" id="{8859108D-AE63-4B54-984E-6A3A4FEA9B37}"/>
              </a:ext>
            </a:extLst>
          </p:cNvPr>
          <p:cNvSpPr>
            <a:spLocks xmlns:a="http://schemas.openxmlformats.org/drawingml/2006/main" noGrp="1"/>
          </p:cNvSpPr>
          <p:nvPr/>
        </p:nvSpPr>
        <p:spPr>
          <a:xfrm xmlns:a="http://schemas.openxmlformats.org/drawingml/2006/main">
            <a:off x="8732520" y="3877056"/>
            <a:ext cx="109728" cy="109728"/>
          </a:xfrm>
          <a:prstGeom xmlns:a="http://schemas.openxmlformats.org/drawingml/2006/main" prst="ellipse">
            <a:avLst/>
          </a:prstGeom>
          <a:solidFill xmlns:a="http://schemas.openxmlformats.org/drawingml/2006/main">
            <a:srgbClr val="6B46C7"/>
          </a:solidFill>
        </p:spPr>
      </p:sp>
      <p:sp>
        <p:nvSpPr>
          <p:cNvPr id="31" name="Text 12">
            <a:extLst xmlns:a="http://schemas.openxmlformats.org/drawingml/2006/main">
              <a:ext uri="{FF2B5EF4-FFF2-40B4-BE49-F238E27FC236}">
                <a16:creationId xmlns:a16="http://schemas.microsoft.com/office/drawing/2014/main" id="{136E07FF-2911-4674-AD66-BB689D3FD58B}"/>
              </a:ext>
            </a:extLst>
          </p:cNvPr>
          <p:cNvSpPr>
            <a:spLocks xmlns:a="http://schemas.openxmlformats.org/drawingml/2006/main" noGrp="1"/>
          </p:cNvSpPr>
          <p:nvPr/>
        </p:nvSpPr>
        <p:spPr>
          <a:xfrm xmlns:a="http://schemas.openxmlformats.org/drawingml/2006/main">
            <a:off x="9006840" y="3776472"/>
            <a:ext cx="2743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26233D"/>
                </a:solidFill>
                <a:latin typeface="Calibri"/>
                <a:ea typeface="Calibri"/>
                <a:cs typeface="Calibri"/>
              </a:rPr>
              <a:t>Traduire les résultats en recommandation</a:t>
            </a:r>
            <a:endParaRPr sz="1200"/>
          </a:p>
        </p:txBody>
      </p:sp>
      <p:sp>
        <p:nvSpPr>
          <p:cNvPr id="32" name="Text 13">
            <a:extLst xmlns:a="http://schemas.openxmlformats.org/drawingml/2006/main">
              <a:ext uri="{FF2B5EF4-FFF2-40B4-BE49-F238E27FC236}">
                <a16:creationId xmlns:a16="http://schemas.microsoft.com/office/drawing/2014/main" id="{F727A38B-6E9C-4D8B-B8CF-A48F7B56054F}"/>
              </a:ext>
            </a:extLst>
          </p:cNvPr>
          <p:cNvSpPr>
            <a:spLocks xmlns:a="http://schemas.openxmlformats.org/drawingml/2006/main" noGrp="1"/>
          </p:cNvSpPr>
          <p:nvPr/>
        </p:nvSpPr>
        <p:spPr>
          <a:xfrm xmlns:a="http://schemas.openxmlformats.org/drawingml/2006/main">
            <a:off x="9006840" y="1508760"/>
            <a:ext cx="27432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spc="180" b="1">
                <a:solidFill>
                  <a:srgbClr val="6B46C7"/>
                </a:solidFill>
                <a:latin typeface="Calibri"/>
                <a:ea typeface="Calibri"/>
                <a:cs typeface="Calibri"/>
              </a:rPr>
              <a:t>MA DÉMARCHE EN CINQ ÉTAPES</a:t>
            </a:r>
            <a:endParaRPr sz="900"/>
          </a:p>
        </p:txBody>
      </p:sp>
      <p:sp>
        <p:nvSpPr>
          <p:cNvPr id="33" name="Text 14">
            <a:extLst xmlns:a="http://schemas.openxmlformats.org/drawingml/2006/main">
              <a:ext uri="{FF2B5EF4-FFF2-40B4-BE49-F238E27FC236}">
                <a16:creationId xmlns:a16="http://schemas.microsoft.com/office/drawing/2014/main" id="{D0AEDF20-0F28-4AEF-BEF7-740149EC8A66}"/>
              </a:ext>
            </a:extLst>
          </p:cNvPr>
          <p:cNvSpPr>
            <a:spLocks xmlns:a="http://schemas.openxmlformats.org/drawingml/2006/main" noGrp="1"/>
          </p:cNvSpPr>
          <p:nvPr/>
        </p:nvSpPr>
        <p:spPr>
          <a:xfrm xmlns:a="http://schemas.openxmlformats.org/drawingml/2006/main">
            <a:off x="713232" y="4681728"/>
            <a:ext cx="676656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250" b="1">
                <a:solidFill>
                  <a:srgbClr val="4B2FA0"/>
                </a:solidFill>
                <a:latin typeface="Calibri"/>
                <a:ea typeface="Calibri"/>
                <a:cs typeface="Calibri"/>
              </a:rPr>
              <a:t>Privilégier la robustesse décisionnelle à la complexité algorithmique.</a:t>
            </a:r>
            <a:endParaRPr sz="1250"/>
          </a:p>
        </p:txBody>
      </p:sp>
    </p:spTree>
    <p:extLst>
      <p:ext uri="{BB962C8B-B14F-4D97-AF65-F5344CB8AC3E}">
        <p14:creationId xmlns:p14="http://schemas.microsoft.com/office/powerpoint/2010/main" val="1252097111"/>
      </p:ext>
    </p:extLst>
  </p:cSld>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eyebrow">
            <a:extLst xmlns:a="http://schemas.openxmlformats.org/drawingml/2006/main">
              <a:ext uri="{FF2B5EF4-FFF2-40B4-BE49-F238E27FC236}">
                <a16:creationId xmlns:a16="http://schemas.microsoft.com/office/drawing/2014/main" id="{EB7C7080-CAA1-4A06-9E48-9F0C4BA3E447}"/>
              </a:ext>
            </a:extLst>
          </p:cNvPr>
          <p:cNvSpPr>
            <a:spLocks xmlns:a="http://schemas.openxmlformats.org/drawingml/2006/main" noGrp="1"/>
          </p:cNvSpPr>
          <p:nvPr/>
        </p:nvSpPr>
        <p:spPr>
          <a:xfrm xmlns:a="http://schemas.openxmlformats.org/drawingml/2006/main">
            <a:off x="713232" y="384048"/>
            <a:ext cx="107899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220">
                <a:solidFill>
                  <a:srgbClr val="6B46C7"/>
                </a:solidFill>
                <a:latin typeface="Calibri"/>
                <a:ea typeface="Calibri"/>
                <a:cs typeface="Calibri"/>
              </a:rPr>
              <a:t>DÉMARCHE</a:t>
            </a:r>
            <a:endParaRPr sz="1000"/>
          </a:p>
        </p:txBody>
      </p:sp>
      <p:sp>
        <p:nvSpPr>
          <p:cNvPr id="3" name="!!title">
            <a:extLst xmlns:a="http://schemas.openxmlformats.org/drawingml/2006/main">
              <a:ext uri="{FF2B5EF4-FFF2-40B4-BE49-F238E27FC236}">
                <a16:creationId xmlns:a16="http://schemas.microsoft.com/office/drawing/2014/main" id="{C4E950B7-BB4B-475C-A125-B4A3D1ECE5A8}"/>
              </a:ext>
            </a:extLst>
          </p:cNvPr>
          <p:cNvSpPr>
            <a:spLocks xmlns:a="http://schemas.openxmlformats.org/drawingml/2006/main" noGrp="1"/>
          </p:cNvSpPr>
          <p:nvPr/>
        </p:nvSpPr>
        <p:spPr>
          <a:xfrm xmlns:a="http://schemas.openxmlformats.org/drawingml/2006/main">
            <a:off x="713232" y="621792"/>
            <a:ext cx="105156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41230"/>
                </a:solidFill>
                <a:latin typeface="Cambria"/>
                <a:ea typeface="Cambria"/>
                <a:cs typeface="Cambria"/>
              </a:rPr>
              <a:t>De la donnée brute à la décision financière</a:t>
            </a:r>
            <a:endParaRPr sz="2700"/>
          </a:p>
        </p:txBody>
      </p:sp>
      <p:sp>
        <p:nvSpPr>
          <p:cNvPr id="4" name="!!subtitle">
            <a:extLst xmlns:a="http://schemas.openxmlformats.org/drawingml/2006/main">
              <a:ext uri="{FF2B5EF4-FFF2-40B4-BE49-F238E27FC236}">
                <a16:creationId xmlns:a16="http://schemas.microsoft.com/office/drawing/2014/main" id="{115C7016-BB4B-4E87-89DE-65F4CE112FB8}"/>
              </a:ext>
            </a:extLst>
          </p:cNvPr>
          <p:cNvSpPr>
            <a:spLocks xmlns:a="http://schemas.openxmlformats.org/drawingml/2006/main" noGrp="1"/>
          </p:cNvSpPr>
          <p:nvPr/>
        </p:nvSpPr>
        <p:spPr>
          <a:xfrm xmlns:a="http://schemas.openxmlformats.org/drawingml/2006/main">
            <a:off x="713232" y="1188720"/>
            <a:ext cx="96926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300">
                <a:solidFill>
                  <a:srgbClr val="6E6A88"/>
                </a:solidFill>
                <a:latin typeface="Calibri"/>
                <a:ea typeface="Calibri"/>
                <a:cs typeface="Calibri"/>
              </a:rPr>
              <a:t>Chaque maillon produit un livrable vérifiable, et le pipeline est protégé de bout en bout contre la fuite d'information.</a:t>
            </a:r>
            <a:endParaRPr sz="1300"/>
          </a:p>
        </p:txBody>
      </p:sp>
      <p:sp>
        <p:nvSpPr>
          <p:cNvPr id="5" name="Shape 3">
            <a:extLst xmlns:a="http://schemas.openxmlformats.org/drawingml/2006/main">
              <a:ext uri="{FF2B5EF4-FFF2-40B4-BE49-F238E27FC236}">
                <a16:creationId xmlns:a16="http://schemas.microsoft.com/office/drawing/2014/main" id="{1297B97F-F9CF-473F-AA45-868C8964B687}"/>
              </a:ext>
            </a:extLst>
          </p:cNvPr>
          <p:cNvSpPr>
            <a:spLocks xmlns:a="http://schemas.openxmlformats.org/drawingml/2006/main" noGrp="1"/>
          </p:cNvSpPr>
          <p:nvPr/>
        </p:nvSpPr>
        <p:spPr>
          <a:xfrm xmlns:a="http://schemas.openxmlformats.org/drawingml/2006/main">
            <a:off x="713232" y="1783080"/>
            <a:ext cx="1691640" cy="1783080"/>
          </a:xfrm>
          <a:prstGeom xmlns:a="http://schemas.openxmlformats.org/drawingml/2006/main" prst="roundRect">
            <a:avLst>
              <a:gd name="adj" fmla="val 5405"/>
            </a:avLst>
          </a:prstGeom>
          <a:solidFill xmlns:a="http://schemas.openxmlformats.org/drawingml/2006/main">
            <a:srgbClr val="FFFFFF"/>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01203022-62F7-475D-9951-9A2ED3C5B6C1}"/>
              </a:ext>
            </a:extLst>
          </p:cNvPr>
          <p:cNvSpPr>
            <a:spLocks xmlns:a="http://schemas.openxmlformats.org/drawingml/2006/main" noGrp="1"/>
          </p:cNvSpPr>
          <p:nvPr/>
        </p:nvSpPr>
        <p:spPr>
          <a:xfrm xmlns:a="http://schemas.openxmlformats.org/drawingml/2006/main">
            <a:off x="914400" y="1947672"/>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20">
                <a:solidFill>
                  <a:srgbClr val="A78BFA"/>
                </a:solidFill>
                <a:latin typeface="Calibri"/>
                <a:ea typeface="Calibri"/>
                <a:cs typeface="Calibri"/>
              </a:rPr>
              <a:t>01</a:t>
            </a:r>
            <a:endParaRPr sz="1000"/>
          </a:p>
        </p:txBody>
      </p:sp>
      <p:sp>
        <p:nvSpPr>
          <p:cNvPr id="7" name="Text 5">
            <a:extLst xmlns:a="http://schemas.openxmlformats.org/drawingml/2006/main">
              <a:ext uri="{FF2B5EF4-FFF2-40B4-BE49-F238E27FC236}">
                <a16:creationId xmlns:a16="http://schemas.microsoft.com/office/drawing/2014/main" id="{92792832-30CB-4819-901A-28B0B7CA876B}"/>
              </a:ext>
            </a:extLst>
          </p:cNvPr>
          <p:cNvSpPr>
            <a:spLocks xmlns:a="http://schemas.openxmlformats.org/drawingml/2006/main" noGrp="1"/>
          </p:cNvSpPr>
          <p:nvPr/>
        </p:nvSpPr>
        <p:spPr>
          <a:xfrm xmlns:a="http://schemas.openxmlformats.org/drawingml/2006/main">
            <a:off x="914400" y="2267712"/>
            <a:ext cx="128930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300" b="1">
                <a:solidFill>
                  <a:srgbClr val="141230"/>
                </a:solidFill>
                <a:latin typeface="Cambria"/>
                <a:ea typeface="Cambria"/>
                <a:cs typeface="Cambria"/>
              </a:rPr>
              <a:t>Données brutes</a:t>
            </a:r>
            <a:endParaRPr sz="1300"/>
          </a:p>
        </p:txBody>
      </p:sp>
      <p:sp>
        <p:nvSpPr>
          <p:cNvPr id="8" name="Text 6">
            <a:extLst xmlns:a="http://schemas.openxmlformats.org/drawingml/2006/main">
              <a:ext uri="{FF2B5EF4-FFF2-40B4-BE49-F238E27FC236}">
                <a16:creationId xmlns:a16="http://schemas.microsoft.com/office/drawing/2014/main" id="{8FA18DE4-8D7F-46C7-BEF2-EE888FA4FE25}"/>
              </a:ext>
            </a:extLst>
          </p:cNvPr>
          <p:cNvSpPr>
            <a:spLocks xmlns:a="http://schemas.openxmlformats.org/drawingml/2006/main" noGrp="1"/>
          </p:cNvSpPr>
          <p:nvPr/>
        </p:nvSpPr>
        <p:spPr>
          <a:xfrm xmlns:a="http://schemas.openxmlformats.org/drawingml/2006/main">
            <a:off x="914400" y="2834640"/>
            <a:ext cx="12893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6E6A88"/>
                </a:solidFill>
                <a:latin typeface="Calibri"/>
                <a:ea typeface="Calibri"/>
                <a:cs typeface="Calibri"/>
              </a:rPr>
              <a:t>Grand livre des ventes</a:t>
            </a:r>
            <a:endParaRPr sz="1000"/>
          </a:p>
        </p:txBody>
      </p:sp>
      <p:sp>
        <p:nvSpPr>
          <p:cNvPr id="9" name="Text 7">
            <a:extLst xmlns:a="http://schemas.openxmlformats.org/drawingml/2006/main">
              <a:ext uri="{FF2B5EF4-FFF2-40B4-BE49-F238E27FC236}">
                <a16:creationId xmlns:a16="http://schemas.microsoft.com/office/drawing/2014/main" id="{2D76C784-097F-4619-B678-24618E96AA2C}"/>
              </a:ext>
            </a:extLst>
          </p:cNvPr>
          <p:cNvSpPr>
            <a:spLocks xmlns:a="http://schemas.openxmlformats.org/drawingml/2006/main" noGrp="1"/>
          </p:cNvSpPr>
          <p:nvPr/>
        </p:nvSpPr>
        <p:spPr>
          <a:xfrm xmlns:a="http://schemas.openxmlformats.org/drawingml/2006/main">
            <a:off x="2404872" y="1783080"/>
            <a:ext cx="128016" cy="1783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A78BFA"/>
                </a:solidFill>
                <a:latin typeface="Calibri"/>
                <a:ea typeface="Calibri"/>
                <a:cs typeface="Calibri"/>
              </a:rPr>
              <a:t>›</a:t>
            </a:r>
            <a:endParaRPr sz="1500"/>
          </a:p>
        </p:txBody>
      </p:sp>
      <p:sp>
        <p:nvSpPr>
          <p:cNvPr id="10" name="Shape 8">
            <a:extLst xmlns:a="http://schemas.openxmlformats.org/drawingml/2006/main">
              <a:ext uri="{FF2B5EF4-FFF2-40B4-BE49-F238E27FC236}">
                <a16:creationId xmlns:a16="http://schemas.microsoft.com/office/drawing/2014/main" id="{2FED7FD2-386D-4CB9-BB40-6F447BA5CAAF}"/>
              </a:ext>
            </a:extLst>
          </p:cNvPr>
          <p:cNvSpPr>
            <a:spLocks xmlns:a="http://schemas.openxmlformats.org/drawingml/2006/main" noGrp="1"/>
          </p:cNvSpPr>
          <p:nvPr/>
        </p:nvSpPr>
        <p:spPr>
          <a:xfrm xmlns:a="http://schemas.openxmlformats.org/drawingml/2006/main">
            <a:off x="2532888" y="1783080"/>
            <a:ext cx="1691640" cy="1783080"/>
          </a:xfrm>
          <a:prstGeom xmlns:a="http://schemas.openxmlformats.org/drawingml/2006/main" prst="roundRect">
            <a:avLst>
              <a:gd name="adj" fmla="val 5405"/>
            </a:avLst>
          </a:prstGeom>
          <a:solidFill xmlns:a="http://schemas.openxmlformats.org/drawingml/2006/main">
            <a:srgbClr val="FFFFFF"/>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11" name="Text 9">
            <a:extLst xmlns:a="http://schemas.openxmlformats.org/drawingml/2006/main">
              <a:ext uri="{FF2B5EF4-FFF2-40B4-BE49-F238E27FC236}">
                <a16:creationId xmlns:a16="http://schemas.microsoft.com/office/drawing/2014/main" id="{30D704B2-8078-440C-B8CC-D8CBCB064DF7}"/>
              </a:ext>
            </a:extLst>
          </p:cNvPr>
          <p:cNvSpPr>
            <a:spLocks xmlns:a="http://schemas.openxmlformats.org/drawingml/2006/main" noGrp="1"/>
          </p:cNvSpPr>
          <p:nvPr/>
        </p:nvSpPr>
        <p:spPr>
          <a:xfrm xmlns:a="http://schemas.openxmlformats.org/drawingml/2006/main">
            <a:off x="2734056" y="1947672"/>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20">
                <a:solidFill>
                  <a:srgbClr val="A78BFA"/>
                </a:solidFill>
                <a:latin typeface="Calibri"/>
                <a:ea typeface="Calibri"/>
                <a:cs typeface="Calibri"/>
              </a:rPr>
              <a:t>02</a:t>
            </a:r>
            <a:endParaRPr sz="1000"/>
          </a:p>
        </p:txBody>
      </p:sp>
      <p:sp>
        <p:nvSpPr>
          <p:cNvPr id="12" name="Text 10">
            <a:extLst xmlns:a="http://schemas.openxmlformats.org/drawingml/2006/main">
              <a:ext uri="{FF2B5EF4-FFF2-40B4-BE49-F238E27FC236}">
                <a16:creationId xmlns:a16="http://schemas.microsoft.com/office/drawing/2014/main" id="{B4C51862-E163-4DCE-B1C6-46E1484F717C}"/>
              </a:ext>
            </a:extLst>
          </p:cNvPr>
          <p:cNvSpPr>
            <a:spLocks xmlns:a="http://schemas.openxmlformats.org/drawingml/2006/main" noGrp="1"/>
          </p:cNvSpPr>
          <p:nvPr/>
        </p:nvSpPr>
        <p:spPr>
          <a:xfrm xmlns:a="http://schemas.openxmlformats.org/drawingml/2006/main">
            <a:off x="2734056" y="2267712"/>
            <a:ext cx="128930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300" b="1">
                <a:solidFill>
                  <a:srgbClr val="141230"/>
                </a:solidFill>
                <a:latin typeface="Cambria"/>
                <a:ea typeface="Cambria"/>
                <a:cs typeface="Cambria"/>
              </a:rPr>
              <a:t>Base analytique</a:t>
            </a:r>
            <a:endParaRPr sz="1300"/>
          </a:p>
        </p:txBody>
      </p:sp>
      <p:sp>
        <p:nvSpPr>
          <p:cNvPr id="13" name="Text 11">
            <a:extLst xmlns:a="http://schemas.openxmlformats.org/drawingml/2006/main">
              <a:ext uri="{FF2B5EF4-FFF2-40B4-BE49-F238E27FC236}">
                <a16:creationId xmlns:a16="http://schemas.microsoft.com/office/drawing/2014/main" id="{8617C56C-0DD9-4166-BDC9-89F9FFEC7514}"/>
              </a:ext>
            </a:extLst>
          </p:cNvPr>
          <p:cNvSpPr>
            <a:spLocks xmlns:a="http://schemas.openxmlformats.org/drawingml/2006/main" noGrp="1"/>
          </p:cNvSpPr>
          <p:nvPr/>
        </p:nvSpPr>
        <p:spPr>
          <a:xfrm xmlns:a="http://schemas.openxmlformats.org/drawingml/2006/main">
            <a:off x="2734056" y="2834640"/>
            <a:ext cx="12893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6E6A88"/>
                </a:solidFill>
                <a:latin typeface="Calibri"/>
                <a:ea typeface="Calibri"/>
                <a:cs typeface="Calibri"/>
              </a:rPr>
              <a:t>Six contrôles — 25 sections × 12 mois</a:t>
            </a:r>
            <a:endParaRPr sz="1000"/>
          </a:p>
        </p:txBody>
      </p:sp>
      <p:sp>
        <p:nvSpPr>
          <p:cNvPr id="14" name="Text 12">
            <a:extLst xmlns:a="http://schemas.openxmlformats.org/drawingml/2006/main">
              <a:ext uri="{FF2B5EF4-FFF2-40B4-BE49-F238E27FC236}">
                <a16:creationId xmlns:a16="http://schemas.microsoft.com/office/drawing/2014/main" id="{CE44E7F9-9BB3-455A-BA7C-58810059439C}"/>
              </a:ext>
            </a:extLst>
          </p:cNvPr>
          <p:cNvSpPr>
            <a:spLocks xmlns:a="http://schemas.openxmlformats.org/drawingml/2006/main" noGrp="1"/>
          </p:cNvSpPr>
          <p:nvPr/>
        </p:nvSpPr>
        <p:spPr>
          <a:xfrm xmlns:a="http://schemas.openxmlformats.org/drawingml/2006/main">
            <a:off x="4224528" y="1783080"/>
            <a:ext cx="128016" cy="1783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A78BFA"/>
                </a:solidFill>
                <a:latin typeface="Calibri"/>
                <a:ea typeface="Calibri"/>
                <a:cs typeface="Calibri"/>
              </a:rPr>
              <a:t>›</a:t>
            </a:r>
            <a:endParaRPr sz="1500"/>
          </a:p>
        </p:txBody>
      </p:sp>
      <p:sp>
        <p:nvSpPr>
          <p:cNvPr id="15" name="Shape 13">
            <a:extLst xmlns:a="http://schemas.openxmlformats.org/drawingml/2006/main">
              <a:ext uri="{FF2B5EF4-FFF2-40B4-BE49-F238E27FC236}">
                <a16:creationId xmlns:a16="http://schemas.microsoft.com/office/drawing/2014/main" id="{3C27144B-39B5-4BD6-8E37-D7F4F658D58A}"/>
              </a:ext>
            </a:extLst>
          </p:cNvPr>
          <p:cNvSpPr>
            <a:spLocks xmlns:a="http://schemas.openxmlformats.org/drawingml/2006/main" noGrp="1"/>
          </p:cNvSpPr>
          <p:nvPr/>
        </p:nvSpPr>
        <p:spPr>
          <a:xfrm xmlns:a="http://schemas.openxmlformats.org/drawingml/2006/main">
            <a:off x="4352544" y="1783080"/>
            <a:ext cx="1691640" cy="1783080"/>
          </a:xfrm>
          <a:prstGeom xmlns:a="http://schemas.openxmlformats.org/drawingml/2006/main" prst="roundRect">
            <a:avLst>
              <a:gd name="adj" fmla="val 5405"/>
            </a:avLst>
          </a:prstGeom>
          <a:solidFill xmlns:a="http://schemas.openxmlformats.org/drawingml/2006/main">
            <a:srgbClr val="FFFFFF"/>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16" name="Text 14">
            <a:extLst xmlns:a="http://schemas.openxmlformats.org/drawingml/2006/main">
              <a:ext uri="{FF2B5EF4-FFF2-40B4-BE49-F238E27FC236}">
                <a16:creationId xmlns:a16="http://schemas.microsoft.com/office/drawing/2014/main" id="{D1E3DAEF-01F1-42E3-A4C5-7D4D4D18B75E}"/>
              </a:ext>
            </a:extLst>
          </p:cNvPr>
          <p:cNvSpPr>
            <a:spLocks xmlns:a="http://schemas.openxmlformats.org/drawingml/2006/main" noGrp="1"/>
          </p:cNvSpPr>
          <p:nvPr/>
        </p:nvSpPr>
        <p:spPr>
          <a:xfrm xmlns:a="http://schemas.openxmlformats.org/drawingml/2006/main">
            <a:off x="4553712" y="1947672"/>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20">
                <a:solidFill>
                  <a:srgbClr val="A78BFA"/>
                </a:solidFill>
                <a:latin typeface="Calibri"/>
                <a:ea typeface="Calibri"/>
                <a:cs typeface="Calibri"/>
              </a:rPr>
              <a:t>03</a:t>
            </a:r>
            <a:endParaRPr sz="1000"/>
          </a:p>
        </p:txBody>
      </p:sp>
      <p:sp>
        <p:nvSpPr>
          <p:cNvPr id="17" name="Text 15">
            <a:extLst xmlns:a="http://schemas.openxmlformats.org/drawingml/2006/main">
              <a:ext uri="{FF2B5EF4-FFF2-40B4-BE49-F238E27FC236}">
                <a16:creationId xmlns:a16="http://schemas.microsoft.com/office/drawing/2014/main" id="{D4B5B56B-A3AA-4229-A194-F3CF819456C2}"/>
              </a:ext>
            </a:extLst>
          </p:cNvPr>
          <p:cNvSpPr>
            <a:spLocks xmlns:a="http://schemas.openxmlformats.org/drawingml/2006/main" noGrp="1"/>
          </p:cNvSpPr>
          <p:nvPr/>
        </p:nvSpPr>
        <p:spPr>
          <a:xfrm xmlns:a="http://schemas.openxmlformats.org/drawingml/2006/main">
            <a:off x="4553712" y="2267712"/>
            <a:ext cx="128930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300" b="1">
                <a:solidFill>
                  <a:srgbClr val="141230"/>
                </a:solidFill>
                <a:latin typeface="Cambria"/>
                <a:ea typeface="Cambria"/>
                <a:cs typeface="Cambria"/>
              </a:rPr>
              <a:t>Analyse financière</a:t>
            </a:r>
            <a:endParaRPr sz="1300"/>
          </a:p>
        </p:txBody>
      </p:sp>
      <p:sp>
        <p:nvSpPr>
          <p:cNvPr id="18" name="Text 16">
            <a:extLst xmlns:a="http://schemas.openxmlformats.org/drawingml/2006/main">
              <a:ext uri="{FF2B5EF4-FFF2-40B4-BE49-F238E27FC236}">
                <a16:creationId xmlns:a16="http://schemas.microsoft.com/office/drawing/2014/main" id="{A3B2DA6A-F15E-4162-BE59-8845DC925CFC}"/>
              </a:ext>
            </a:extLst>
          </p:cNvPr>
          <p:cNvSpPr>
            <a:spLocks xmlns:a="http://schemas.openxmlformats.org/drawingml/2006/main" noGrp="1"/>
          </p:cNvSpPr>
          <p:nvPr/>
        </p:nvSpPr>
        <p:spPr>
          <a:xfrm xmlns:a="http://schemas.openxmlformats.org/drawingml/2006/main">
            <a:off x="4553712" y="2834640"/>
            <a:ext cx="12893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6E6A88"/>
                </a:solidFill>
                <a:latin typeface="Calibri"/>
                <a:ea typeface="Calibri"/>
                <a:cs typeface="Calibri"/>
              </a:rPr>
              <a:t>Croissance, concentration, volatilité</a:t>
            </a:r>
            <a:endParaRPr sz="1000"/>
          </a:p>
        </p:txBody>
      </p:sp>
      <p:sp>
        <p:nvSpPr>
          <p:cNvPr id="19" name="Text 17">
            <a:extLst xmlns:a="http://schemas.openxmlformats.org/drawingml/2006/main">
              <a:ext uri="{FF2B5EF4-FFF2-40B4-BE49-F238E27FC236}">
                <a16:creationId xmlns:a16="http://schemas.microsoft.com/office/drawing/2014/main" id="{D69638D2-27A8-4834-BFCA-0C2123DF2A29}"/>
              </a:ext>
            </a:extLst>
          </p:cNvPr>
          <p:cNvSpPr>
            <a:spLocks xmlns:a="http://schemas.openxmlformats.org/drawingml/2006/main" noGrp="1"/>
          </p:cNvSpPr>
          <p:nvPr/>
        </p:nvSpPr>
        <p:spPr>
          <a:xfrm xmlns:a="http://schemas.openxmlformats.org/drawingml/2006/main">
            <a:off x="6044184" y="1783080"/>
            <a:ext cx="128016" cy="1783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A78BFA"/>
                </a:solidFill>
                <a:latin typeface="Calibri"/>
                <a:ea typeface="Calibri"/>
                <a:cs typeface="Calibri"/>
              </a:rPr>
              <a:t>›</a:t>
            </a:r>
            <a:endParaRPr sz="1500"/>
          </a:p>
        </p:txBody>
      </p:sp>
      <p:sp>
        <p:nvSpPr>
          <p:cNvPr id="20" name="Shape 18">
            <a:extLst xmlns:a="http://schemas.openxmlformats.org/drawingml/2006/main">
              <a:ext uri="{FF2B5EF4-FFF2-40B4-BE49-F238E27FC236}">
                <a16:creationId xmlns:a16="http://schemas.microsoft.com/office/drawing/2014/main" id="{62B83896-F116-4B15-BF28-1B82780C180A}"/>
              </a:ext>
            </a:extLst>
          </p:cNvPr>
          <p:cNvSpPr>
            <a:spLocks xmlns:a="http://schemas.openxmlformats.org/drawingml/2006/main" noGrp="1"/>
          </p:cNvSpPr>
          <p:nvPr/>
        </p:nvSpPr>
        <p:spPr>
          <a:xfrm xmlns:a="http://schemas.openxmlformats.org/drawingml/2006/main">
            <a:off x="6172200" y="1783080"/>
            <a:ext cx="1691640" cy="1783080"/>
          </a:xfrm>
          <a:prstGeom xmlns:a="http://schemas.openxmlformats.org/drawingml/2006/main" prst="roundRect">
            <a:avLst>
              <a:gd name="adj" fmla="val 5405"/>
            </a:avLst>
          </a:prstGeom>
          <a:solidFill xmlns:a="http://schemas.openxmlformats.org/drawingml/2006/main">
            <a:srgbClr val="FFFFFF"/>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21" name="Text 19">
            <a:extLst xmlns:a="http://schemas.openxmlformats.org/drawingml/2006/main">
              <a:ext uri="{FF2B5EF4-FFF2-40B4-BE49-F238E27FC236}">
                <a16:creationId xmlns:a16="http://schemas.microsoft.com/office/drawing/2014/main" id="{4D3682EC-5DB4-4FDF-9D84-59493986877A}"/>
              </a:ext>
            </a:extLst>
          </p:cNvPr>
          <p:cNvSpPr>
            <a:spLocks xmlns:a="http://schemas.openxmlformats.org/drawingml/2006/main" noGrp="1"/>
          </p:cNvSpPr>
          <p:nvPr/>
        </p:nvSpPr>
        <p:spPr>
          <a:xfrm xmlns:a="http://schemas.openxmlformats.org/drawingml/2006/main">
            <a:off x="6373368" y="1947672"/>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20">
                <a:solidFill>
                  <a:srgbClr val="A78BFA"/>
                </a:solidFill>
                <a:latin typeface="Calibri"/>
                <a:ea typeface="Calibri"/>
                <a:cs typeface="Calibri"/>
              </a:rPr>
              <a:t>04</a:t>
            </a:r>
            <a:endParaRPr sz="1000"/>
          </a:p>
        </p:txBody>
      </p:sp>
      <p:sp>
        <p:nvSpPr>
          <p:cNvPr id="22" name="Text 20">
            <a:extLst xmlns:a="http://schemas.openxmlformats.org/drawingml/2006/main">
              <a:ext uri="{FF2B5EF4-FFF2-40B4-BE49-F238E27FC236}">
                <a16:creationId xmlns:a16="http://schemas.microsoft.com/office/drawing/2014/main" id="{D3EE0641-EBCD-455B-BE9B-F1EEF2BE2924}"/>
              </a:ext>
            </a:extLst>
          </p:cNvPr>
          <p:cNvSpPr>
            <a:spLocks xmlns:a="http://schemas.openxmlformats.org/drawingml/2006/main" noGrp="1"/>
          </p:cNvSpPr>
          <p:nvPr/>
        </p:nvSpPr>
        <p:spPr>
          <a:xfrm xmlns:a="http://schemas.openxmlformats.org/drawingml/2006/main">
            <a:off x="6373368" y="2267712"/>
            <a:ext cx="128930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300" b="1">
                <a:solidFill>
                  <a:srgbClr val="141230"/>
                </a:solidFill>
                <a:latin typeface="Cambria"/>
                <a:ea typeface="Cambria"/>
                <a:cs typeface="Cambria"/>
              </a:rPr>
              <a:t>Prévision</a:t>
            </a:r>
            <a:endParaRPr sz="1300"/>
          </a:p>
        </p:txBody>
      </p:sp>
      <p:sp>
        <p:nvSpPr>
          <p:cNvPr id="23" name="Text 21">
            <a:extLst xmlns:a="http://schemas.openxmlformats.org/drawingml/2006/main">
              <a:ext uri="{FF2B5EF4-FFF2-40B4-BE49-F238E27FC236}">
                <a16:creationId xmlns:a16="http://schemas.microsoft.com/office/drawing/2014/main" id="{F123E768-7B16-43E4-B7DF-915785CC3034}"/>
              </a:ext>
            </a:extLst>
          </p:cNvPr>
          <p:cNvSpPr>
            <a:spLocks xmlns:a="http://schemas.openxmlformats.org/drawingml/2006/main" noGrp="1"/>
          </p:cNvSpPr>
          <p:nvPr/>
        </p:nvSpPr>
        <p:spPr>
          <a:xfrm xmlns:a="http://schemas.openxmlformats.org/drawingml/2006/main">
            <a:off x="6373368" y="2834640"/>
            <a:ext cx="12893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6E6A88"/>
                </a:solidFill>
                <a:latin typeface="Calibri"/>
                <a:ea typeface="Calibri"/>
                <a:cs typeface="Calibri"/>
              </a:rPr>
              <a:t>Méthode naïve vs XGBoost</a:t>
            </a:r>
            <a:endParaRPr sz="1000"/>
          </a:p>
        </p:txBody>
      </p:sp>
      <p:sp>
        <p:nvSpPr>
          <p:cNvPr id="24" name="Text 22">
            <a:extLst xmlns:a="http://schemas.openxmlformats.org/drawingml/2006/main">
              <a:ext uri="{FF2B5EF4-FFF2-40B4-BE49-F238E27FC236}">
                <a16:creationId xmlns:a16="http://schemas.microsoft.com/office/drawing/2014/main" id="{E7ACF30E-3810-4B84-A869-5621AA3CFBBD}"/>
              </a:ext>
            </a:extLst>
          </p:cNvPr>
          <p:cNvSpPr>
            <a:spLocks xmlns:a="http://schemas.openxmlformats.org/drawingml/2006/main" noGrp="1"/>
          </p:cNvSpPr>
          <p:nvPr/>
        </p:nvSpPr>
        <p:spPr>
          <a:xfrm xmlns:a="http://schemas.openxmlformats.org/drawingml/2006/main">
            <a:off x="7863840" y="1783080"/>
            <a:ext cx="128016" cy="1783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A78BFA"/>
                </a:solidFill>
                <a:latin typeface="Calibri"/>
                <a:ea typeface="Calibri"/>
                <a:cs typeface="Calibri"/>
              </a:rPr>
              <a:t>›</a:t>
            </a:r>
            <a:endParaRPr sz="1500"/>
          </a:p>
        </p:txBody>
      </p:sp>
      <p:sp>
        <p:nvSpPr>
          <p:cNvPr id="25" name="Shape 23">
            <a:extLst xmlns:a="http://schemas.openxmlformats.org/drawingml/2006/main">
              <a:ext uri="{FF2B5EF4-FFF2-40B4-BE49-F238E27FC236}">
                <a16:creationId xmlns:a16="http://schemas.microsoft.com/office/drawing/2014/main" id="{9839B5D6-F3CA-4BD7-86FA-14EFA6C39D66}"/>
              </a:ext>
            </a:extLst>
          </p:cNvPr>
          <p:cNvSpPr>
            <a:spLocks xmlns:a="http://schemas.openxmlformats.org/drawingml/2006/main" noGrp="1"/>
          </p:cNvSpPr>
          <p:nvPr/>
        </p:nvSpPr>
        <p:spPr>
          <a:xfrm xmlns:a="http://schemas.openxmlformats.org/drawingml/2006/main">
            <a:off x="7991856" y="1783080"/>
            <a:ext cx="1691640" cy="1783080"/>
          </a:xfrm>
          <a:prstGeom xmlns:a="http://schemas.openxmlformats.org/drawingml/2006/main" prst="roundRect">
            <a:avLst>
              <a:gd name="adj" fmla="val 5405"/>
            </a:avLst>
          </a:prstGeom>
          <a:solidFill xmlns:a="http://schemas.openxmlformats.org/drawingml/2006/main">
            <a:srgbClr val="FFFFFF"/>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26" name="Text 24">
            <a:extLst xmlns:a="http://schemas.openxmlformats.org/drawingml/2006/main">
              <a:ext uri="{FF2B5EF4-FFF2-40B4-BE49-F238E27FC236}">
                <a16:creationId xmlns:a16="http://schemas.microsoft.com/office/drawing/2014/main" id="{CC56F7C1-D506-4BAB-A154-9FA4FC0778C9}"/>
              </a:ext>
            </a:extLst>
          </p:cNvPr>
          <p:cNvSpPr>
            <a:spLocks xmlns:a="http://schemas.openxmlformats.org/drawingml/2006/main" noGrp="1"/>
          </p:cNvSpPr>
          <p:nvPr/>
        </p:nvSpPr>
        <p:spPr>
          <a:xfrm xmlns:a="http://schemas.openxmlformats.org/drawingml/2006/main">
            <a:off x="8193024" y="1947672"/>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20">
                <a:solidFill>
                  <a:srgbClr val="A78BFA"/>
                </a:solidFill>
                <a:latin typeface="Calibri"/>
                <a:ea typeface="Calibri"/>
                <a:cs typeface="Calibri"/>
              </a:rPr>
              <a:t>05</a:t>
            </a:r>
            <a:endParaRPr sz="1000"/>
          </a:p>
        </p:txBody>
      </p:sp>
      <p:sp>
        <p:nvSpPr>
          <p:cNvPr id="27" name="Text 25">
            <a:extLst xmlns:a="http://schemas.openxmlformats.org/drawingml/2006/main">
              <a:ext uri="{FF2B5EF4-FFF2-40B4-BE49-F238E27FC236}">
                <a16:creationId xmlns:a16="http://schemas.microsoft.com/office/drawing/2014/main" id="{F7C73BD2-4A17-4FE6-988C-B20977F82174}"/>
              </a:ext>
            </a:extLst>
          </p:cNvPr>
          <p:cNvSpPr>
            <a:spLocks xmlns:a="http://schemas.openxmlformats.org/drawingml/2006/main" noGrp="1"/>
          </p:cNvSpPr>
          <p:nvPr/>
        </p:nvSpPr>
        <p:spPr>
          <a:xfrm xmlns:a="http://schemas.openxmlformats.org/drawingml/2006/main">
            <a:off x="8193024" y="2267712"/>
            <a:ext cx="128930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300" b="1">
                <a:solidFill>
                  <a:srgbClr val="141230"/>
                </a:solidFill>
                <a:latin typeface="Cambria"/>
                <a:ea typeface="Cambria"/>
                <a:cs typeface="Cambria"/>
              </a:rPr>
              <a:t>Risque d'erreur</a:t>
            </a:r>
            <a:endParaRPr sz="1300"/>
          </a:p>
        </p:txBody>
      </p:sp>
      <p:sp>
        <p:nvSpPr>
          <p:cNvPr id="28" name="Text 26">
            <a:extLst xmlns:a="http://schemas.openxmlformats.org/drawingml/2006/main">
              <a:ext uri="{FF2B5EF4-FFF2-40B4-BE49-F238E27FC236}">
                <a16:creationId xmlns:a16="http://schemas.microsoft.com/office/drawing/2014/main" id="{10A8F171-C66B-42EB-8D26-497CC5A47F92}"/>
              </a:ext>
            </a:extLst>
          </p:cNvPr>
          <p:cNvSpPr>
            <a:spLocks xmlns:a="http://schemas.openxmlformats.org/drawingml/2006/main" noGrp="1"/>
          </p:cNvSpPr>
          <p:nvPr/>
        </p:nvSpPr>
        <p:spPr>
          <a:xfrm xmlns:a="http://schemas.openxmlformats.org/drawingml/2006/main">
            <a:off x="8193024" y="2834640"/>
            <a:ext cx="12893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6E6A88"/>
                </a:solidFill>
                <a:latin typeface="Calibri"/>
                <a:ea typeface="Calibri"/>
                <a:cs typeface="Calibri"/>
              </a:rPr>
              <a:t>MAE, RMSE, MAPE, biais</a:t>
            </a:r>
            <a:endParaRPr sz="1000"/>
          </a:p>
        </p:txBody>
      </p:sp>
      <p:sp>
        <p:nvSpPr>
          <p:cNvPr id="29" name="Text 27">
            <a:extLst xmlns:a="http://schemas.openxmlformats.org/drawingml/2006/main">
              <a:ext uri="{FF2B5EF4-FFF2-40B4-BE49-F238E27FC236}">
                <a16:creationId xmlns:a16="http://schemas.microsoft.com/office/drawing/2014/main" id="{EC374BA4-9CC7-4B6E-9591-4FEEE6730C75}"/>
              </a:ext>
            </a:extLst>
          </p:cNvPr>
          <p:cNvSpPr>
            <a:spLocks xmlns:a="http://schemas.openxmlformats.org/drawingml/2006/main" noGrp="1"/>
          </p:cNvSpPr>
          <p:nvPr/>
        </p:nvSpPr>
        <p:spPr>
          <a:xfrm xmlns:a="http://schemas.openxmlformats.org/drawingml/2006/main">
            <a:off x="9683496" y="1783080"/>
            <a:ext cx="128016" cy="1783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500" b="1">
                <a:solidFill>
                  <a:srgbClr val="A78BFA"/>
                </a:solidFill>
                <a:latin typeface="Calibri"/>
                <a:ea typeface="Calibri"/>
                <a:cs typeface="Calibri"/>
              </a:rPr>
              <a:t>›</a:t>
            </a:r>
            <a:endParaRPr sz="1500"/>
          </a:p>
        </p:txBody>
      </p:sp>
      <p:sp>
        <p:nvSpPr>
          <p:cNvPr id="30" name="Shape 28">
            <a:extLst xmlns:a="http://schemas.openxmlformats.org/drawingml/2006/main">
              <a:ext uri="{FF2B5EF4-FFF2-40B4-BE49-F238E27FC236}">
                <a16:creationId xmlns:a16="http://schemas.microsoft.com/office/drawing/2014/main" id="{35AA23C7-35A0-4E14-98B4-3CF57008197A}"/>
              </a:ext>
            </a:extLst>
          </p:cNvPr>
          <p:cNvSpPr>
            <a:spLocks xmlns:a="http://schemas.openxmlformats.org/drawingml/2006/main" noGrp="1"/>
          </p:cNvSpPr>
          <p:nvPr/>
        </p:nvSpPr>
        <p:spPr>
          <a:xfrm xmlns:a="http://schemas.openxmlformats.org/drawingml/2006/main">
            <a:off x="9811512" y="1783080"/>
            <a:ext cx="1691640" cy="1783080"/>
          </a:xfrm>
          <a:prstGeom xmlns:a="http://schemas.openxmlformats.org/drawingml/2006/main" prst="roundRect">
            <a:avLst>
              <a:gd name="adj" fmla="val 5405"/>
            </a:avLst>
          </a:prstGeom>
          <a:solidFill xmlns:a="http://schemas.openxmlformats.org/drawingml/2006/main">
            <a:srgbClr val="6B46C7"/>
          </a:solidFill>
          <a:ln xmlns:a="http://schemas.openxmlformats.org/drawingml/2006/main" w="9525">
            <a:solidFill>
              <a:srgbClr val="6B46C7"/>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31" name="Text 29">
            <a:extLst xmlns:a="http://schemas.openxmlformats.org/drawingml/2006/main">
              <a:ext uri="{FF2B5EF4-FFF2-40B4-BE49-F238E27FC236}">
                <a16:creationId xmlns:a16="http://schemas.microsoft.com/office/drawing/2014/main" id="{F74B7038-A7C4-4E1E-8B23-13070347B7FE}"/>
              </a:ext>
            </a:extLst>
          </p:cNvPr>
          <p:cNvSpPr>
            <a:spLocks xmlns:a="http://schemas.openxmlformats.org/drawingml/2006/main" noGrp="1"/>
          </p:cNvSpPr>
          <p:nvPr/>
        </p:nvSpPr>
        <p:spPr>
          <a:xfrm xmlns:a="http://schemas.openxmlformats.org/drawingml/2006/main">
            <a:off x="10012680" y="1947672"/>
            <a:ext cx="914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120">
                <a:solidFill>
                  <a:srgbClr val="D6C9FF"/>
                </a:solidFill>
                <a:latin typeface="Calibri"/>
                <a:ea typeface="Calibri"/>
                <a:cs typeface="Calibri"/>
              </a:rPr>
              <a:t>06</a:t>
            </a:r>
            <a:endParaRPr sz="1000"/>
          </a:p>
        </p:txBody>
      </p:sp>
      <p:sp>
        <p:nvSpPr>
          <p:cNvPr id="32" name="Text 30">
            <a:extLst xmlns:a="http://schemas.openxmlformats.org/drawingml/2006/main">
              <a:ext uri="{FF2B5EF4-FFF2-40B4-BE49-F238E27FC236}">
                <a16:creationId xmlns:a16="http://schemas.microsoft.com/office/drawing/2014/main" id="{2500CFB8-AD16-4E9F-A2C7-87B03CCAC7FE}"/>
              </a:ext>
            </a:extLst>
          </p:cNvPr>
          <p:cNvSpPr>
            <a:spLocks xmlns:a="http://schemas.openxmlformats.org/drawingml/2006/main" noGrp="1"/>
          </p:cNvSpPr>
          <p:nvPr/>
        </p:nvSpPr>
        <p:spPr>
          <a:xfrm xmlns:a="http://schemas.openxmlformats.org/drawingml/2006/main">
            <a:off x="10012680" y="2267712"/>
            <a:ext cx="1289304"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300" b="1">
                <a:solidFill>
                  <a:srgbClr val="FFFFFF"/>
                </a:solidFill>
                <a:latin typeface="Cambria"/>
                <a:ea typeface="Cambria"/>
                <a:cs typeface="Cambria"/>
              </a:rPr>
              <a:t>Décision FP&amp;A</a:t>
            </a:r>
            <a:endParaRPr sz="1300"/>
          </a:p>
        </p:txBody>
      </p:sp>
      <p:sp>
        <p:nvSpPr>
          <p:cNvPr id="33" name="Text 31">
            <a:extLst xmlns:a="http://schemas.openxmlformats.org/drawingml/2006/main">
              <a:ext uri="{FF2B5EF4-FFF2-40B4-BE49-F238E27FC236}">
                <a16:creationId xmlns:a16="http://schemas.microsoft.com/office/drawing/2014/main" id="{8ADA6E9B-3CFA-4C9D-A9CD-2D7E6C386FE7}"/>
              </a:ext>
            </a:extLst>
          </p:cNvPr>
          <p:cNvSpPr>
            <a:spLocks xmlns:a="http://schemas.openxmlformats.org/drawingml/2006/main" noGrp="1"/>
          </p:cNvSpPr>
          <p:nvPr/>
        </p:nvSpPr>
        <p:spPr>
          <a:xfrm xmlns:a="http://schemas.openxmlformats.org/drawingml/2006/main">
            <a:off x="10012680" y="2834640"/>
            <a:ext cx="128930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000">
                <a:solidFill>
                  <a:srgbClr val="E4DAFF"/>
                </a:solidFill>
                <a:latin typeface="Calibri"/>
                <a:ea typeface="Calibri"/>
                <a:cs typeface="Calibri"/>
              </a:rPr>
              <a:t>Pilotage, budget, arbitrages</a:t>
            </a:r>
            <a:endParaRPr sz="1000"/>
          </a:p>
        </p:txBody>
      </p:sp>
      <p:sp>
        <p:nvSpPr>
          <p:cNvPr id="34" name="Shape 32">
            <a:extLst xmlns:a="http://schemas.openxmlformats.org/drawingml/2006/main">
              <a:ext uri="{FF2B5EF4-FFF2-40B4-BE49-F238E27FC236}">
                <a16:creationId xmlns:a16="http://schemas.microsoft.com/office/drawing/2014/main" id="{CEF97AE8-ADD3-4DC2-ABD0-5CE03A4E4DC7}"/>
              </a:ext>
            </a:extLst>
          </p:cNvPr>
          <p:cNvSpPr>
            <a:spLocks xmlns:a="http://schemas.openxmlformats.org/drawingml/2006/main" noGrp="1"/>
          </p:cNvSpPr>
          <p:nvPr/>
        </p:nvSpPr>
        <p:spPr>
          <a:xfrm xmlns:a="http://schemas.openxmlformats.org/drawingml/2006/main">
            <a:off x="713232" y="3794760"/>
            <a:ext cx="5943600" cy="2103120"/>
          </a:xfrm>
          <a:prstGeom xmlns:a="http://schemas.openxmlformats.org/drawingml/2006/main" prst="roundRect">
            <a:avLst>
              <a:gd name="adj" fmla="val 4348"/>
            </a:avLst>
          </a:prstGeom>
          <a:solidFill xmlns:a="http://schemas.openxmlformats.org/drawingml/2006/main">
            <a:srgbClr val="EFEBFA"/>
          </a:solidFill>
          <a:ln xmlns:a="http://schemas.openxmlformats.org/drawingml/2006/main" w="9525">
            <a:solidFill>
              <a:srgbClr val="D9D2F1"/>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35" name="Text 33">
            <a:extLst xmlns:a="http://schemas.openxmlformats.org/drawingml/2006/main">
              <a:ext uri="{FF2B5EF4-FFF2-40B4-BE49-F238E27FC236}">
                <a16:creationId xmlns:a16="http://schemas.microsoft.com/office/drawing/2014/main" id="{989BA303-8E73-4488-BDAC-5C094A935C96}"/>
              </a:ext>
            </a:extLst>
          </p:cNvPr>
          <p:cNvSpPr>
            <a:spLocks xmlns:a="http://schemas.openxmlformats.org/drawingml/2006/main" noGrp="1"/>
          </p:cNvSpPr>
          <p:nvPr/>
        </p:nvSpPr>
        <p:spPr>
          <a:xfrm xmlns:a="http://schemas.openxmlformats.org/drawingml/2006/main">
            <a:off x="1005840" y="4005072"/>
            <a:ext cx="539496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6B46C7"/>
                </a:solidFill>
                <a:latin typeface="Calibri"/>
                <a:ea typeface="Calibri"/>
                <a:cs typeface="Calibri"/>
              </a:rPr>
              <a:t>PRÉVENTION DE LA FUITE D'INFORMATION</a:t>
            </a:r>
            <a:endParaRPr sz="950"/>
          </a:p>
        </p:txBody>
      </p:sp>
      <p:sp>
        <p:nvSpPr>
          <p:cNvPr id="36" name="Shape 34">
            <a:extLst xmlns:a="http://schemas.openxmlformats.org/drawingml/2006/main">
              <a:ext uri="{FF2B5EF4-FFF2-40B4-BE49-F238E27FC236}">
                <a16:creationId xmlns:a16="http://schemas.microsoft.com/office/drawing/2014/main" id="{7F9E9147-3F29-4CA5-B2D3-75D8601FBFEA}"/>
              </a:ext>
            </a:extLst>
          </p:cNvPr>
          <p:cNvSpPr>
            <a:spLocks xmlns:a="http://schemas.openxmlformats.org/drawingml/2006/main" noGrp="1"/>
          </p:cNvSpPr>
          <p:nvPr/>
        </p:nvSpPr>
        <p:spPr>
          <a:xfrm xmlns:a="http://schemas.openxmlformats.org/drawingml/2006/main">
            <a:off x="1024128" y="4407408"/>
            <a:ext cx="91440" cy="91440"/>
          </a:xfrm>
          <a:prstGeom xmlns:a="http://schemas.openxmlformats.org/drawingml/2006/main" prst="ellipse">
            <a:avLst/>
          </a:prstGeom>
          <a:solidFill xmlns:a="http://schemas.openxmlformats.org/drawingml/2006/main">
            <a:srgbClr val="6B46C7"/>
          </a:solidFill>
        </p:spPr>
      </p:sp>
      <p:sp>
        <p:nvSpPr>
          <p:cNvPr id="37" name="Text 35">
            <a:extLst xmlns:a="http://schemas.openxmlformats.org/drawingml/2006/main">
              <a:ext uri="{FF2B5EF4-FFF2-40B4-BE49-F238E27FC236}">
                <a16:creationId xmlns:a16="http://schemas.microsoft.com/office/drawing/2014/main" id="{EEC38266-3BAA-4A7A-8B0B-D2AD704AC2BF}"/>
              </a:ext>
            </a:extLst>
          </p:cNvPr>
          <p:cNvSpPr>
            <a:spLocks xmlns:a="http://schemas.openxmlformats.org/drawingml/2006/main" noGrp="1"/>
          </p:cNvSpPr>
          <p:nvPr/>
        </p:nvSpPr>
        <p:spPr>
          <a:xfrm xmlns:a="http://schemas.openxmlformats.org/drawingml/2006/main">
            <a:off x="1261872" y="4315968"/>
            <a:ext cx="51206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6233D"/>
                </a:solidFill>
                <a:latin typeface="Calibri"/>
                <a:ea typeface="Calibri"/>
                <a:cs typeface="Calibri"/>
              </a:rPr>
              <a:t>Découpage entraînement / test exclusivement chronologique</a:t>
            </a:r>
            <a:endParaRPr sz="1100"/>
          </a:p>
        </p:txBody>
      </p:sp>
      <p:sp>
        <p:nvSpPr>
          <p:cNvPr id="38" name="Shape 36">
            <a:extLst xmlns:a="http://schemas.openxmlformats.org/drawingml/2006/main">
              <a:ext uri="{FF2B5EF4-FFF2-40B4-BE49-F238E27FC236}">
                <a16:creationId xmlns:a16="http://schemas.microsoft.com/office/drawing/2014/main" id="{EF51F362-7BA9-4D68-B28F-1C80A21B82F8}"/>
              </a:ext>
            </a:extLst>
          </p:cNvPr>
          <p:cNvSpPr>
            <a:spLocks xmlns:a="http://schemas.openxmlformats.org/drawingml/2006/main" noGrp="1"/>
          </p:cNvSpPr>
          <p:nvPr/>
        </p:nvSpPr>
        <p:spPr>
          <a:xfrm xmlns:a="http://schemas.openxmlformats.org/drawingml/2006/main">
            <a:off x="1024128" y="4764024"/>
            <a:ext cx="91440" cy="91440"/>
          </a:xfrm>
          <a:prstGeom xmlns:a="http://schemas.openxmlformats.org/drawingml/2006/main" prst="ellipse">
            <a:avLst/>
          </a:prstGeom>
          <a:solidFill xmlns:a="http://schemas.openxmlformats.org/drawingml/2006/main">
            <a:srgbClr val="6B46C7"/>
          </a:solidFill>
        </p:spPr>
      </p:sp>
      <p:sp>
        <p:nvSpPr>
          <p:cNvPr id="39" name="Text 37">
            <a:extLst xmlns:a="http://schemas.openxmlformats.org/drawingml/2006/main">
              <a:ext uri="{FF2B5EF4-FFF2-40B4-BE49-F238E27FC236}">
                <a16:creationId xmlns:a16="http://schemas.microsoft.com/office/drawing/2014/main" id="{FFEA96EA-60CD-41F1-86A9-B44D885E42A5}"/>
              </a:ext>
            </a:extLst>
          </p:cNvPr>
          <p:cNvSpPr>
            <a:spLocks xmlns:a="http://schemas.openxmlformats.org/drawingml/2006/main" noGrp="1"/>
          </p:cNvSpPr>
          <p:nvPr/>
        </p:nvSpPr>
        <p:spPr>
          <a:xfrm xmlns:a="http://schemas.openxmlformats.org/drawingml/2006/main">
            <a:off x="1261872" y="4672584"/>
            <a:ext cx="51206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6233D"/>
                </a:solidFill>
                <a:latin typeface="Calibri"/>
                <a:ea typeface="Calibri"/>
                <a:cs typeface="Calibri"/>
              </a:rPr>
              <a:t>Variables historiques et ratios systématiquement décalés</a:t>
            </a:r>
            <a:endParaRPr sz="1100"/>
          </a:p>
        </p:txBody>
      </p:sp>
      <p:sp>
        <p:nvSpPr>
          <p:cNvPr id="40" name="Shape 38">
            <a:extLst xmlns:a="http://schemas.openxmlformats.org/drawingml/2006/main">
              <a:ext uri="{FF2B5EF4-FFF2-40B4-BE49-F238E27FC236}">
                <a16:creationId xmlns:a16="http://schemas.microsoft.com/office/drawing/2014/main" id="{8E637864-1C90-4716-AF1C-9B094F8F29A3}"/>
              </a:ext>
            </a:extLst>
          </p:cNvPr>
          <p:cNvSpPr>
            <a:spLocks xmlns:a="http://schemas.openxmlformats.org/drawingml/2006/main" noGrp="1"/>
          </p:cNvSpPr>
          <p:nvPr/>
        </p:nvSpPr>
        <p:spPr>
          <a:xfrm xmlns:a="http://schemas.openxmlformats.org/drawingml/2006/main">
            <a:off x="1024128" y="5120640"/>
            <a:ext cx="91440" cy="91440"/>
          </a:xfrm>
          <a:prstGeom xmlns:a="http://schemas.openxmlformats.org/drawingml/2006/main" prst="ellipse">
            <a:avLst/>
          </a:prstGeom>
          <a:solidFill xmlns:a="http://schemas.openxmlformats.org/drawingml/2006/main">
            <a:srgbClr val="6B46C7"/>
          </a:solidFill>
        </p:spPr>
      </p:sp>
      <p:sp>
        <p:nvSpPr>
          <p:cNvPr id="41" name="Text 39">
            <a:extLst xmlns:a="http://schemas.openxmlformats.org/drawingml/2006/main">
              <a:ext uri="{FF2B5EF4-FFF2-40B4-BE49-F238E27FC236}">
                <a16:creationId xmlns:a16="http://schemas.microsoft.com/office/drawing/2014/main" id="{10F06EED-C163-4318-9BB9-BBD61E952332}"/>
              </a:ext>
            </a:extLst>
          </p:cNvPr>
          <p:cNvSpPr>
            <a:spLocks xmlns:a="http://schemas.openxmlformats.org/drawingml/2006/main" noGrp="1"/>
          </p:cNvSpPr>
          <p:nvPr/>
        </p:nvSpPr>
        <p:spPr>
          <a:xfrm xmlns:a="http://schemas.openxmlformats.org/drawingml/2006/main">
            <a:off x="1261872" y="5029200"/>
            <a:ext cx="51206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6233D"/>
                </a:solidFill>
                <a:latin typeface="Calibri"/>
                <a:ea typeface="Calibri"/>
                <a:cs typeface="Calibri"/>
              </a:rPr>
              <a:t>Moyennes mobiles calculées sur les seules périodes passées</a:t>
            </a:r>
            <a:endParaRPr sz="1100"/>
          </a:p>
        </p:txBody>
      </p:sp>
      <p:sp>
        <p:nvSpPr>
          <p:cNvPr id="42" name="Shape 40">
            <a:extLst xmlns:a="http://schemas.openxmlformats.org/drawingml/2006/main">
              <a:ext uri="{FF2B5EF4-FFF2-40B4-BE49-F238E27FC236}">
                <a16:creationId xmlns:a16="http://schemas.microsoft.com/office/drawing/2014/main" id="{7B848D46-BB00-4CFF-B9BF-8F37E665297E}"/>
              </a:ext>
            </a:extLst>
          </p:cNvPr>
          <p:cNvSpPr>
            <a:spLocks xmlns:a="http://schemas.openxmlformats.org/drawingml/2006/main" noGrp="1"/>
          </p:cNvSpPr>
          <p:nvPr/>
        </p:nvSpPr>
        <p:spPr>
          <a:xfrm xmlns:a="http://schemas.openxmlformats.org/drawingml/2006/main">
            <a:off x="1024128" y="5477256"/>
            <a:ext cx="91440" cy="91440"/>
          </a:xfrm>
          <a:prstGeom xmlns:a="http://schemas.openxmlformats.org/drawingml/2006/main" prst="ellipse">
            <a:avLst/>
          </a:prstGeom>
          <a:solidFill xmlns:a="http://schemas.openxmlformats.org/drawingml/2006/main">
            <a:srgbClr val="6B46C7"/>
          </a:solidFill>
        </p:spPr>
      </p:sp>
      <p:sp>
        <p:nvSpPr>
          <p:cNvPr id="43" name="Text 41">
            <a:extLst xmlns:a="http://schemas.openxmlformats.org/drawingml/2006/main">
              <a:ext uri="{FF2B5EF4-FFF2-40B4-BE49-F238E27FC236}">
                <a16:creationId xmlns:a16="http://schemas.microsoft.com/office/drawing/2014/main" id="{862B8A3B-589F-4620-BA1A-9D6354AD3598}"/>
              </a:ext>
            </a:extLst>
          </p:cNvPr>
          <p:cNvSpPr>
            <a:spLocks xmlns:a="http://schemas.openxmlformats.org/drawingml/2006/main" noGrp="1"/>
          </p:cNvSpPr>
          <p:nvPr/>
        </p:nvSpPr>
        <p:spPr>
          <a:xfrm xmlns:a="http://schemas.openxmlformats.org/drawingml/2006/main">
            <a:off x="1261872" y="5385816"/>
            <a:ext cx="51206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26233D"/>
                </a:solidFill>
                <a:latin typeface="Calibri"/>
                <a:ea typeface="Calibri"/>
                <a:cs typeface="Calibri"/>
              </a:rPr>
              <a:t>Tests automatisés vérifiant la conformité des décalages</a:t>
            </a:r>
            <a:endParaRPr sz="1100"/>
          </a:p>
        </p:txBody>
      </p:sp>
      <p:sp>
        <p:nvSpPr>
          <p:cNvPr id="44" name="Shape 42">
            <a:extLst xmlns:a="http://schemas.openxmlformats.org/drawingml/2006/main">
              <a:ext uri="{FF2B5EF4-FFF2-40B4-BE49-F238E27FC236}">
                <a16:creationId xmlns:a16="http://schemas.microsoft.com/office/drawing/2014/main" id="{37DEFD7B-C14F-4797-B55D-FC5CBD583B73}"/>
              </a:ext>
            </a:extLst>
          </p:cNvPr>
          <p:cNvSpPr>
            <a:spLocks xmlns:a="http://schemas.openxmlformats.org/drawingml/2006/main" noGrp="1"/>
          </p:cNvSpPr>
          <p:nvPr/>
        </p:nvSpPr>
        <p:spPr>
          <a:xfrm xmlns:a="http://schemas.openxmlformats.org/drawingml/2006/main">
            <a:off x="6949440" y="3794760"/>
            <a:ext cx="4526280" cy="2103120"/>
          </a:xfrm>
          <a:prstGeom xmlns:a="http://schemas.openxmlformats.org/drawingml/2006/main" prst="roundRect">
            <a:avLst>
              <a:gd name="adj" fmla="val 4348"/>
            </a:avLst>
          </a:prstGeom>
          <a:solidFill xmlns:a="http://schemas.openxmlformats.org/drawingml/2006/main">
            <a:srgbClr val="F6F5FB"/>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45" name="Text 43">
            <a:extLst xmlns:a="http://schemas.openxmlformats.org/drawingml/2006/main">
              <a:ext uri="{FF2B5EF4-FFF2-40B4-BE49-F238E27FC236}">
                <a16:creationId xmlns:a16="http://schemas.microsoft.com/office/drawing/2014/main" id="{4BA0C329-0128-4DA3-85AA-CCB0287EDB9A}"/>
              </a:ext>
            </a:extLst>
          </p:cNvPr>
          <p:cNvSpPr>
            <a:spLocks xmlns:a="http://schemas.openxmlformats.org/drawingml/2006/main" noGrp="1"/>
          </p:cNvSpPr>
          <p:nvPr/>
        </p:nvSpPr>
        <p:spPr>
          <a:xfrm xmlns:a="http://schemas.openxmlformats.org/drawingml/2006/main">
            <a:off x="7242048" y="4041648"/>
            <a:ext cx="3931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4B2FA0"/>
                </a:solidFill>
                <a:latin typeface="Cambria"/>
                <a:ea typeface="Cambria"/>
                <a:cs typeface="Cambria"/>
              </a:rPr>
              <a:t>Contrôle de robustesse</a:t>
            </a:r>
            <a:endParaRPr sz="1400"/>
          </a:p>
        </p:txBody>
      </p:sp>
      <p:sp>
        <p:nvSpPr>
          <p:cNvPr id="46" name="Text 44">
            <a:extLst xmlns:a="http://schemas.openxmlformats.org/drawingml/2006/main">
              <a:ext uri="{FF2B5EF4-FFF2-40B4-BE49-F238E27FC236}">
                <a16:creationId xmlns:a16="http://schemas.microsoft.com/office/drawing/2014/main" id="{D59184E9-3C21-4835-85C4-E2FF179FAFFE}"/>
              </a:ext>
            </a:extLst>
          </p:cNvPr>
          <p:cNvSpPr>
            <a:spLocks xmlns:a="http://schemas.openxmlformats.org/drawingml/2006/main" noGrp="1"/>
          </p:cNvSpPr>
          <p:nvPr/>
        </p:nvSpPr>
        <p:spPr>
          <a:xfrm xmlns:a="http://schemas.openxmlformats.org/drawingml/2006/main">
            <a:off x="7242048" y="4334256"/>
            <a:ext cx="393192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050">
                <a:solidFill>
                  <a:srgbClr val="6E6A88"/>
                </a:solidFill>
                <a:latin typeface="Calibri"/>
                <a:ea typeface="Calibri"/>
                <a:cs typeface="Calibri"/>
              </a:rPr>
              <a:t>Prévisions traçables et résultats comparables à chaque cycle.</a:t>
            </a:r>
            <a:endParaRPr sz="1050"/>
          </a:p>
        </p:txBody>
      </p:sp>
      <p:sp>
        <p:nvSpPr>
          <p:cNvPr id="47" name="Text 45">
            <a:extLst xmlns:a="http://schemas.openxmlformats.org/drawingml/2006/main">
              <a:ext uri="{FF2B5EF4-FFF2-40B4-BE49-F238E27FC236}">
                <a16:creationId xmlns:a16="http://schemas.microsoft.com/office/drawing/2014/main" id="{7F7F50E6-CB9E-41A0-B783-7A0427624668}"/>
              </a:ext>
            </a:extLst>
          </p:cNvPr>
          <p:cNvSpPr>
            <a:spLocks xmlns:a="http://schemas.openxmlformats.org/drawingml/2006/main" noGrp="1"/>
          </p:cNvSpPr>
          <p:nvPr/>
        </p:nvSpPr>
        <p:spPr>
          <a:xfrm xmlns:a="http://schemas.openxmlformats.org/drawingml/2006/main">
            <a:off x="7242048" y="4974336"/>
            <a:ext cx="39319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4B2FA0"/>
                </a:solidFill>
                <a:latin typeface="Cambria"/>
                <a:ea typeface="Cambria"/>
                <a:cs typeface="Cambria"/>
              </a:rPr>
              <a:t>Arbitrage financier</a:t>
            </a:r>
            <a:endParaRPr sz="1400"/>
          </a:p>
        </p:txBody>
      </p:sp>
      <p:sp>
        <p:nvSpPr>
          <p:cNvPr id="48" name="Text 46">
            <a:extLst xmlns:a="http://schemas.openxmlformats.org/drawingml/2006/main">
              <a:ext uri="{FF2B5EF4-FFF2-40B4-BE49-F238E27FC236}">
                <a16:creationId xmlns:a16="http://schemas.microsoft.com/office/drawing/2014/main" id="{E6186115-7070-4333-B999-100A82953816}"/>
              </a:ext>
            </a:extLst>
          </p:cNvPr>
          <p:cNvSpPr>
            <a:spLocks xmlns:a="http://schemas.openxmlformats.org/drawingml/2006/main" noGrp="1"/>
          </p:cNvSpPr>
          <p:nvPr/>
        </p:nvSpPr>
        <p:spPr>
          <a:xfrm xmlns:a="http://schemas.openxmlformats.org/drawingml/2006/main">
            <a:off x="7242048" y="5266944"/>
            <a:ext cx="3931920" cy="60350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050">
                <a:solidFill>
                  <a:srgbClr val="6E6A88"/>
                </a:solidFill>
                <a:latin typeface="Calibri"/>
                <a:ea typeface="Calibri"/>
                <a:cs typeface="Calibri"/>
              </a:rPr>
              <a:t>Un modèle n’est retenu que si son gain sur la baseline est stable, significatif et économiquement utile.</a:t>
            </a:r>
            <a:endParaRPr sz="1050"/>
          </a:p>
        </p:txBody>
      </p:sp>
      <p:sp>
        <p:nvSpPr>
          <p:cNvPr id="49" name="!!footer_label">
            <a:extLst xmlns:a="http://schemas.openxmlformats.org/drawingml/2006/main">
              <a:ext uri="{FF2B5EF4-FFF2-40B4-BE49-F238E27FC236}">
                <a16:creationId xmlns:a16="http://schemas.microsoft.com/office/drawing/2014/main" id="{D871C506-A89F-4BA9-8B6D-2EF825176887}"/>
              </a:ext>
            </a:extLst>
          </p:cNvPr>
          <p:cNvSpPr>
            <a:spLocks xmlns:a="http://schemas.openxmlformats.org/drawingml/2006/main" noGrp="1"/>
          </p:cNvSpPr>
          <p:nvPr/>
        </p:nvSpPr>
        <p:spPr>
          <a:xfrm xmlns:a="http://schemas.openxmlformats.org/drawingml/2006/main">
            <a:off x="713232" y="6345936"/>
            <a:ext cx="7315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spc="60">
                <a:solidFill>
                  <a:srgbClr val="A5A1B8"/>
                </a:solidFill>
                <a:latin typeface="Calibri"/>
                <a:ea typeface="Calibri"/>
                <a:cs typeface="Calibri"/>
              </a:rPr>
              <a:t>02 · Démarche &amp; contrôle financier</a:t>
            </a:r>
            <a:endParaRPr sz="900"/>
          </a:p>
        </p:txBody>
      </p:sp>
      <p:sp>
        <p:nvSpPr>
          <p:cNvPr id="50" name="!!footer_page">
            <a:extLst xmlns:a="http://schemas.openxmlformats.org/drawingml/2006/main">
              <a:ext uri="{FF2B5EF4-FFF2-40B4-BE49-F238E27FC236}">
                <a16:creationId xmlns:a16="http://schemas.microsoft.com/office/drawing/2014/main" id="{CE54B66A-3C0C-4D33-AD6F-2A48E3E391DE}"/>
              </a:ext>
            </a:extLst>
          </p:cNvPr>
          <p:cNvSpPr>
            <a:spLocks xmlns:a="http://schemas.openxmlformats.org/drawingml/2006/main" noGrp="1"/>
          </p:cNvSpPr>
          <p:nvPr/>
        </p:nvSpPr>
        <p:spPr>
          <a:xfrm xmlns:a="http://schemas.openxmlformats.org/drawingml/2006/main">
            <a:off x="10972800" y="6345936"/>
            <a:ext cx="502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50" b="1">
                <a:solidFill>
                  <a:srgbClr val="6B46C7"/>
                </a:solidFill>
                <a:latin typeface="Calibri"/>
                <a:ea typeface="Calibri"/>
                <a:cs typeface="Calibri"/>
              </a:rPr>
              <a:t>7</a:t>
            </a:r>
            <a:endParaRPr sz="950"/>
          </a:p>
        </p:txBody>
      </p:sp>
    </p:spTree>
    <p:extLst>
      <p:ext uri="{BB962C8B-B14F-4D97-AF65-F5344CB8AC3E}">
        <p14:creationId xmlns:p14="http://schemas.microsoft.com/office/powerpoint/2010/main" val="1060813041"/>
      </p:ext>
    </p:extLst>
  </p:cSld>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eyebrow">
            <a:extLst xmlns:a="http://schemas.openxmlformats.org/drawingml/2006/main">
              <a:ext uri="{FF2B5EF4-FFF2-40B4-BE49-F238E27FC236}">
                <a16:creationId xmlns:a16="http://schemas.microsoft.com/office/drawing/2014/main" id="{4E4E85BE-EBB9-4D8F-A5BD-3F0BEA24F5E5}"/>
              </a:ext>
            </a:extLst>
          </p:cNvPr>
          <p:cNvSpPr>
            <a:spLocks xmlns:a="http://schemas.openxmlformats.org/drawingml/2006/main" noGrp="1"/>
          </p:cNvSpPr>
          <p:nvPr/>
        </p:nvSpPr>
        <p:spPr>
          <a:xfrm xmlns:a="http://schemas.openxmlformats.org/drawingml/2006/main">
            <a:off x="713232" y="384048"/>
            <a:ext cx="107899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220">
                <a:solidFill>
                  <a:srgbClr val="6B46C7"/>
                </a:solidFill>
                <a:latin typeface="Calibri"/>
                <a:ea typeface="Calibri"/>
                <a:cs typeface="Calibri"/>
              </a:rPr>
              <a:t>CONTRÔLE DU FORECAST</a:t>
            </a:r>
            <a:endParaRPr sz="1000"/>
          </a:p>
        </p:txBody>
      </p:sp>
      <p:sp>
        <p:nvSpPr>
          <p:cNvPr id="3" name="!!title">
            <a:extLst xmlns:a="http://schemas.openxmlformats.org/drawingml/2006/main">
              <a:ext uri="{FF2B5EF4-FFF2-40B4-BE49-F238E27FC236}">
                <a16:creationId xmlns:a16="http://schemas.microsoft.com/office/drawing/2014/main" id="{14E4A436-D4E0-480A-8214-86EBAB5D6466}"/>
              </a:ext>
            </a:extLst>
          </p:cNvPr>
          <p:cNvSpPr>
            <a:spLocks xmlns:a="http://schemas.openxmlformats.org/drawingml/2006/main" noGrp="1"/>
          </p:cNvSpPr>
          <p:nvPr/>
        </p:nvSpPr>
        <p:spPr>
          <a:xfrm xmlns:a="http://schemas.openxmlformats.org/drawingml/2006/main">
            <a:off x="713232" y="621792"/>
            <a:ext cx="105156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41230"/>
                </a:solidFill>
                <a:latin typeface="Cambria"/>
                <a:ea typeface="Cambria"/>
                <a:cs typeface="Cambria"/>
              </a:rPr>
              <a:t>Contrôle de robustesse des forecasts</a:t>
            </a:r>
            <a:endParaRPr sz="2700"/>
          </a:p>
        </p:txBody>
      </p:sp>
      <p:sp>
        <p:nvSpPr>
          <p:cNvPr id="4" name="!!subtitle">
            <a:extLst xmlns:a="http://schemas.openxmlformats.org/drawingml/2006/main">
              <a:ext uri="{FF2B5EF4-FFF2-40B4-BE49-F238E27FC236}">
                <a16:creationId xmlns:a16="http://schemas.microsoft.com/office/drawing/2014/main" id="{81C8D603-FC06-4C3B-B559-56ACA1CA114A}"/>
              </a:ext>
            </a:extLst>
          </p:cNvPr>
          <p:cNvSpPr>
            <a:spLocks xmlns:a="http://schemas.openxmlformats.org/drawingml/2006/main" noGrp="1"/>
          </p:cNvSpPr>
          <p:nvPr/>
        </p:nvSpPr>
        <p:spPr>
          <a:xfrm xmlns:a="http://schemas.openxmlformats.org/drawingml/2006/main">
            <a:off x="713232" y="1188720"/>
            <a:ext cx="96926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300">
                <a:solidFill>
                  <a:srgbClr val="6E6A88"/>
                </a:solidFill>
                <a:latin typeface="Calibri"/>
                <a:ea typeface="Calibri"/>
                <a:cs typeface="Calibri"/>
              </a:rPr>
              <a:t>Trois exercices de prévision reproduisent le rolling forecast et vérifient que la conclusion ne dépend pas d’un mois favorable.</a:t>
            </a:r>
            <a:endParaRPr sz="1300"/>
          </a:p>
        </p:txBody>
      </p:sp>
      <p:sp>
        <p:nvSpPr>
          <p:cNvPr id="5" name="Shape 3">
            <a:extLst xmlns:a="http://schemas.openxmlformats.org/drawingml/2006/main">
              <a:ext uri="{FF2B5EF4-FFF2-40B4-BE49-F238E27FC236}">
                <a16:creationId xmlns:a16="http://schemas.microsoft.com/office/drawing/2014/main" id="{5593E383-2B4C-4E95-BF0A-7EFE93EC8B06}"/>
              </a:ext>
            </a:extLst>
          </p:cNvPr>
          <p:cNvSpPr>
            <a:spLocks xmlns:a="http://schemas.openxmlformats.org/drawingml/2006/main" noGrp="1"/>
          </p:cNvSpPr>
          <p:nvPr/>
        </p:nvSpPr>
        <p:spPr>
          <a:xfrm xmlns:a="http://schemas.openxmlformats.org/drawingml/2006/main">
            <a:off x="713232" y="1965960"/>
            <a:ext cx="6903720" cy="960120"/>
          </a:xfrm>
          <a:prstGeom xmlns:a="http://schemas.openxmlformats.org/drawingml/2006/main" prst="roundRect">
            <a:avLst>
              <a:gd name="adj" fmla="val 9524"/>
            </a:avLst>
          </a:prstGeom>
          <a:solidFill xmlns:a="http://schemas.openxmlformats.org/drawingml/2006/main">
            <a:srgbClr val="FFFFFF"/>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6" name="Shape 4">
            <a:extLst xmlns:a="http://schemas.openxmlformats.org/drawingml/2006/main">
              <a:ext uri="{FF2B5EF4-FFF2-40B4-BE49-F238E27FC236}">
                <a16:creationId xmlns:a16="http://schemas.microsoft.com/office/drawing/2014/main" id="{6E0AB43C-7B82-4721-AA27-46EA94C4B552}"/>
              </a:ext>
            </a:extLst>
          </p:cNvPr>
          <p:cNvSpPr>
            <a:spLocks xmlns:a="http://schemas.openxmlformats.org/drawingml/2006/main" noGrp="1"/>
          </p:cNvSpPr>
          <p:nvPr/>
        </p:nvSpPr>
        <p:spPr>
          <a:xfrm xmlns:a="http://schemas.openxmlformats.org/drawingml/2006/main">
            <a:off x="1005840" y="2276856"/>
            <a:ext cx="347472" cy="347472"/>
          </a:xfrm>
          <a:prstGeom xmlns:a="http://schemas.openxmlformats.org/drawingml/2006/main" prst="roundRect">
            <a:avLst>
              <a:gd name="adj" fmla="val 18421"/>
            </a:avLst>
          </a:prstGeom>
          <a:solidFill xmlns:a="http://schemas.openxmlformats.org/drawingml/2006/main">
            <a:srgbClr val="6B46C7"/>
          </a:solidFill>
        </p:spPr>
      </p:sp>
      <p:sp>
        <p:nvSpPr>
          <p:cNvPr id="7" name="Text 5">
            <a:extLst xmlns:a="http://schemas.openxmlformats.org/drawingml/2006/main">
              <a:ext uri="{FF2B5EF4-FFF2-40B4-BE49-F238E27FC236}">
                <a16:creationId xmlns:a16="http://schemas.microsoft.com/office/drawing/2014/main" id="{86995E75-F1B1-4859-8224-6F833F93950F}"/>
              </a:ext>
            </a:extLst>
          </p:cNvPr>
          <p:cNvSpPr>
            <a:spLocks xmlns:a="http://schemas.openxmlformats.org/drawingml/2006/main" noGrp="1"/>
          </p:cNvSpPr>
          <p:nvPr/>
        </p:nvSpPr>
        <p:spPr>
          <a:xfrm xmlns:a="http://schemas.openxmlformats.org/drawingml/2006/main">
            <a:off x="1005840" y="2276856"/>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1</a:t>
            </a:r>
            <a:endParaRPr sz="1200"/>
          </a:p>
        </p:txBody>
      </p:sp>
      <p:sp>
        <p:nvSpPr>
          <p:cNvPr id="8" name="Text 6">
            <a:extLst xmlns:a="http://schemas.openxmlformats.org/drawingml/2006/main">
              <a:ext uri="{FF2B5EF4-FFF2-40B4-BE49-F238E27FC236}">
                <a16:creationId xmlns:a16="http://schemas.microsoft.com/office/drawing/2014/main" id="{3723A5E1-C422-4247-A498-920DFBAA3444}"/>
              </a:ext>
            </a:extLst>
          </p:cNvPr>
          <p:cNvSpPr>
            <a:spLocks xmlns:a="http://schemas.openxmlformats.org/drawingml/2006/main" noGrp="1"/>
          </p:cNvSpPr>
          <p:nvPr/>
        </p:nvSpPr>
        <p:spPr>
          <a:xfrm xmlns:a="http://schemas.openxmlformats.org/drawingml/2006/main">
            <a:off x="1517904" y="2130552"/>
            <a:ext cx="1371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40">
                <a:solidFill>
                  <a:srgbClr val="6B46C7"/>
                </a:solidFill>
                <a:latin typeface="Calibri"/>
                <a:ea typeface="Calibri"/>
                <a:cs typeface="Calibri"/>
              </a:rPr>
              <a:t>Origine 1</a:t>
            </a:r>
            <a:endParaRPr sz="950"/>
          </a:p>
        </p:txBody>
      </p:sp>
      <p:sp>
        <p:nvSpPr>
          <p:cNvPr id="9" name="Text 7">
            <a:extLst xmlns:a="http://schemas.openxmlformats.org/drawingml/2006/main">
              <a:ext uri="{FF2B5EF4-FFF2-40B4-BE49-F238E27FC236}">
                <a16:creationId xmlns:a16="http://schemas.microsoft.com/office/drawing/2014/main" id="{A4066334-CA43-462A-A706-EB326140C9B3}"/>
              </a:ext>
            </a:extLst>
          </p:cNvPr>
          <p:cNvSpPr>
            <a:spLocks xmlns:a="http://schemas.openxmlformats.org/drawingml/2006/main" noGrp="1"/>
          </p:cNvSpPr>
          <p:nvPr/>
        </p:nvSpPr>
        <p:spPr>
          <a:xfrm xmlns:a="http://schemas.openxmlformats.org/drawingml/2006/main">
            <a:off x="1517904" y="2404872"/>
            <a:ext cx="292608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26233D"/>
                </a:solidFill>
                <a:latin typeface="Calibri"/>
                <a:ea typeface="Calibri"/>
                <a:cs typeface="Calibri"/>
              </a:rPr>
              <a:t>Entraînement janv. → sept.</a:t>
            </a:r>
            <a:endParaRPr sz="1250"/>
          </a:p>
        </p:txBody>
      </p:sp>
      <p:sp>
        <p:nvSpPr>
          <p:cNvPr id="10" name="Text 8">
            <a:extLst xmlns:a="http://schemas.openxmlformats.org/drawingml/2006/main">
              <a:ext uri="{FF2B5EF4-FFF2-40B4-BE49-F238E27FC236}">
                <a16:creationId xmlns:a16="http://schemas.microsoft.com/office/drawing/2014/main" id="{CFF27167-D03F-4E9D-9B36-1130C03A6A03}"/>
              </a:ext>
            </a:extLst>
          </p:cNvPr>
          <p:cNvSpPr>
            <a:spLocks xmlns:a="http://schemas.openxmlformats.org/drawingml/2006/main" noGrp="1"/>
          </p:cNvSpPr>
          <p:nvPr/>
        </p:nvSpPr>
        <p:spPr>
          <a:xfrm xmlns:a="http://schemas.openxmlformats.org/drawingml/2006/main">
            <a:off x="4434840" y="2404872"/>
            <a:ext cx="9144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E6A88"/>
                </a:solidFill>
                <a:latin typeface="Calibri"/>
                <a:ea typeface="Calibri"/>
                <a:cs typeface="Calibri"/>
              </a:rPr>
              <a:t>225 obs.</a:t>
            </a:r>
            <a:endParaRPr sz="1100"/>
          </a:p>
        </p:txBody>
      </p:sp>
      <p:sp>
        <p:nvSpPr>
          <p:cNvPr id="11" name="Text 9">
            <a:extLst xmlns:a="http://schemas.openxmlformats.org/drawingml/2006/main">
              <a:ext uri="{FF2B5EF4-FFF2-40B4-BE49-F238E27FC236}">
                <a16:creationId xmlns:a16="http://schemas.microsoft.com/office/drawing/2014/main" id="{A905A0B0-85FB-4702-89A0-E7D45F05DDC2}"/>
              </a:ext>
            </a:extLst>
          </p:cNvPr>
          <p:cNvSpPr>
            <a:spLocks xmlns:a="http://schemas.openxmlformats.org/drawingml/2006/main" noGrp="1"/>
          </p:cNvSpPr>
          <p:nvPr/>
        </p:nvSpPr>
        <p:spPr>
          <a:xfrm xmlns:a="http://schemas.openxmlformats.org/drawingml/2006/main">
            <a:off x="5349240" y="2368296"/>
            <a:ext cx="3200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A78BFA"/>
                </a:solidFill>
                <a:latin typeface="Calibri"/>
                <a:ea typeface="Calibri"/>
                <a:cs typeface="Calibri"/>
              </a:rPr>
              <a:t>→</a:t>
            </a:r>
            <a:endParaRPr sz="1400"/>
          </a:p>
        </p:txBody>
      </p:sp>
      <p:sp>
        <p:nvSpPr>
          <p:cNvPr id="12" name="Text 10">
            <a:extLst xmlns:a="http://schemas.openxmlformats.org/drawingml/2006/main">
              <a:ext uri="{FF2B5EF4-FFF2-40B4-BE49-F238E27FC236}">
                <a16:creationId xmlns:a16="http://schemas.microsoft.com/office/drawing/2014/main" id="{E1FEEA37-0505-4BF2-88AC-9E035308A130}"/>
              </a:ext>
            </a:extLst>
          </p:cNvPr>
          <p:cNvSpPr>
            <a:spLocks xmlns:a="http://schemas.openxmlformats.org/drawingml/2006/main" noGrp="1"/>
          </p:cNvSpPr>
          <p:nvPr/>
        </p:nvSpPr>
        <p:spPr>
          <a:xfrm xmlns:a="http://schemas.openxmlformats.org/drawingml/2006/main">
            <a:off x="5669280" y="2404872"/>
            <a:ext cx="19202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4B2FA0"/>
                </a:solidFill>
                <a:latin typeface="Calibri"/>
                <a:ea typeface="Calibri"/>
                <a:cs typeface="Calibri"/>
              </a:rPr>
              <a:t>Prévision : octobre 2025</a:t>
            </a:r>
            <a:endParaRPr sz="1150"/>
          </a:p>
        </p:txBody>
      </p:sp>
      <p:sp>
        <p:nvSpPr>
          <p:cNvPr id="13" name="Shape 11">
            <a:extLst xmlns:a="http://schemas.openxmlformats.org/drawingml/2006/main">
              <a:ext uri="{FF2B5EF4-FFF2-40B4-BE49-F238E27FC236}">
                <a16:creationId xmlns:a16="http://schemas.microsoft.com/office/drawing/2014/main" id="{ACECA120-6841-4339-A2AA-9CCFE6256323}"/>
              </a:ext>
            </a:extLst>
          </p:cNvPr>
          <p:cNvSpPr>
            <a:spLocks xmlns:a="http://schemas.openxmlformats.org/drawingml/2006/main" noGrp="1"/>
          </p:cNvSpPr>
          <p:nvPr/>
        </p:nvSpPr>
        <p:spPr>
          <a:xfrm xmlns:a="http://schemas.openxmlformats.org/drawingml/2006/main">
            <a:off x="713232" y="3081528"/>
            <a:ext cx="6903720" cy="960120"/>
          </a:xfrm>
          <a:prstGeom xmlns:a="http://schemas.openxmlformats.org/drawingml/2006/main" prst="roundRect">
            <a:avLst>
              <a:gd name="adj" fmla="val 9524"/>
            </a:avLst>
          </a:prstGeom>
          <a:solidFill xmlns:a="http://schemas.openxmlformats.org/drawingml/2006/main">
            <a:srgbClr val="FFFFFF"/>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14" name="Shape 12">
            <a:extLst xmlns:a="http://schemas.openxmlformats.org/drawingml/2006/main">
              <a:ext uri="{FF2B5EF4-FFF2-40B4-BE49-F238E27FC236}">
                <a16:creationId xmlns:a16="http://schemas.microsoft.com/office/drawing/2014/main" id="{63B5FA6D-3A84-411D-A3A5-5CBB5E1FA1D2}"/>
              </a:ext>
            </a:extLst>
          </p:cNvPr>
          <p:cNvSpPr>
            <a:spLocks xmlns:a="http://schemas.openxmlformats.org/drawingml/2006/main" noGrp="1"/>
          </p:cNvSpPr>
          <p:nvPr/>
        </p:nvSpPr>
        <p:spPr>
          <a:xfrm xmlns:a="http://schemas.openxmlformats.org/drawingml/2006/main">
            <a:off x="1005840" y="3392424"/>
            <a:ext cx="347472" cy="347472"/>
          </a:xfrm>
          <a:prstGeom xmlns:a="http://schemas.openxmlformats.org/drawingml/2006/main" prst="roundRect">
            <a:avLst>
              <a:gd name="adj" fmla="val 18421"/>
            </a:avLst>
          </a:prstGeom>
          <a:solidFill xmlns:a="http://schemas.openxmlformats.org/drawingml/2006/main">
            <a:srgbClr val="6B46C7"/>
          </a:solidFill>
        </p:spPr>
      </p:sp>
      <p:sp>
        <p:nvSpPr>
          <p:cNvPr id="15" name="Text 13">
            <a:extLst xmlns:a="http://schemas.openxmlformats.org/drawingml/2006/main">
              <a:ext uri="{FF2B5EF4-FFF2-40B4-BE49-F238E27FC236}">
                <a16:creationId xmlns:a16="http://schemas.microsoft.com/office/drawing/2014/main" id="{D4E2FC29-AD22-457A-A139-87C7E2742789}"/>
              </a:ext>
            </a:extLst>
          </p:cNvPr>
          <p:cNvSpPr>
            <a:spLocks xmlns:a="http://schemas.openxmlformats.org/drawingml/2006/main" noGrp="1"/>
          </p:cNvSpPr>
          <p:nvPr/>
        </p:nvSpPr>
        <p:spPr>
          <a:xfrm xmlns:a="http://schemas.openxmlformats.org/drawingml/2006/main">
            <a:off x="1005840" y="3392424"/>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2</a:t>
            </a:r>
            <a:endParaRPr sz="1200"/>
          </a:p>
        </p:txBody>
      </p:sp>
      <p:sp>
        <p:nvSpPr>
          <p:cNvPr id="16" name="Text 14">
            <a:extLst xmlns:a="http://schemas.openxmlformats.org/drawingml/2006/main">
              <a:ext uri="{FF2B5EF4-FFF2-40B4-BE49-F238E27FC236}">
                <a16:creationId xmlns:a16="http://schemas.microsoft.com/office/drawing/2014/main" id="{205C8868-4EB2-41FF-BCE9-9D5706FE0F7C}"/>
              </a:ext>
            </a:extLst>
          </p:cNvPr>
          <p:cNvSpPr>
            <a:spLocks xmlns:a="http://schemas.openxmlformats.org/drawingml/2006/main" noGrp="1"/>
          </p:cNvSpPr>
          <p:nvPr/>
        </p:nvSpPr>
        <p:spPr>
          <a:xfrm xmlns:a="http://schemas.openxmlformats.org/drawingml/2006/main">
            <a:off x="1517904" y="3246120"/>
            <a:ext cx="1371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40">
                <a:solidFill>
                  <a:srgbClr val="6B46C7"/>
                </a:solidFill>
                <a:latin typeface="Calibri"/>
                <a:ea typeface="Calibri"/>
                <a:cs typeface="Calibri"/>
              </a:rPr>
              <a:t>Origine 2</a:t>
            </a:r>
            <a:endParaRPr sz="950"/>
          </a:p>
        </p:txBody>
      </p:sp>
      <p:sp>
        <p:nvSpPr>
          <p:cNvPr id="17" name="Text 15">
            <a:extLst xmlns:a="http://schemas.openxmlformats.org/drawingml/2006/main">
              <a:ext uri="{FF2B5EF4-FFF2-40B4-BE49-F238E27FC236}">
                <a16:creationId xmlns:a16="http://schemas.microsoft.com/office/drawing/2014/main" id="{28DCCC44-F14A-4B9C-BCAD-09E64E1CB300}"/>
              </a:ext>
            </a:extLst>
          </p:cNvPr>
          <p:cNvSpPr>
            <a:spLocks xmlns:a="http://schemas.openxmlformats.org/drawingml/2006/main" noGrp="1"/>
          </p:cNvSpPr>
          <p:nvPr/>
        </p:nvSpPr>
        <p:spPr>
          <a:xfrm xmlns:a="http://schemas.openxmlformats.org/drawingml/2006/main">
            <a:off x="1517904" y="3520440"/>
            <a:ext cx="292608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26233D"/>
                </a:solidFill>
                <a:latin typeface="Calibri"/>
                <a:ea typeface="Calibri"/>
                <a:cs typeface="Calibri"/>
              </a:rPr>
              <a:t>Entraînement janv. → oct.</a:t>
            </a:r>
            <a:endParaRPr sz="1250"/>
          </a:p>
        </p:txBody>
      </p:sp>
      <p:sp>
        <p:nvSpPr>
          <p:cNvPr id="18" name="Text 16">
            <a:extLst xmlns:a="http://schemas.openxmlformats.org/drawingml/2006/main">
              <a:ext uri="{FF2B5EF4-FFF2-40B4-BE49-F238E27FC236}">
                <a16:creationId xmlns:a16="http://schemas.microsoft.com/office/drawing/2014/main" id="{A00C34D6-3F67-41DE-9828-CEECE00E50A9}"/>
              </a:ext>
            </a:extLst>
          </p:cNvPr>
          <p:cNvSpPr>
            <a:spLocks xmlns:a="http://schemas.openxmlformats.org/drawingml/2006/main" noGrp="1"/>
          </p:cNvSpPr>
          <p:nvPr/>
        </p:nvSpPr>
        <p:spPr>
          <a:xfrm xmlns:a="http://schemas.openxmlformats.org/drawingml/2006/main">
            <a:off x="4434840" y="3520440"/>
            <a:ext cx="9144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E6A88"/>
                </a:solidFill>
                <a:latin typeface="Calibri"/>
                <a:ea typeface="Calibri"/>
                <a:cs typeface="Calibri"/>
              </a:rPr>
              <a:t>250 obs.</a:t>
            </a:r>
            <a:endParaRPr sz="1100"/>
          </a:p>
        </p:txBody>
      </p:sp>
      <p:sp>
        <p:nvSpPr>
          <p:cNvPr id="19" name="Text 17">
            <a:extLst xmlns:a="http://schemas.openxmlformats.org/drawingml/2006/main">
              <a:ext uri="{FF2B5EF4-FFF2-40B4-BE49-F238E27FC236}">
                <a16:creationId xmlns:a16="http://schemas.microsoft.com/office/drawing/2014/main" id="{4CDE9E1E-ACBA-4A28-8098-0BB1024DF173}"/>
              </a:ext>
            </a:extLst>
          </p:cNvPr>
          <p:cNvSpPr>
            <a:spLocks xmlns:a="http://schemas.openxmlformats.org/drawingml/2006/main" noGrp="1"/>
          </p:cNvSpPr>
          <p:nvPr/>
        </p:nvSpPr>
        <p:spPr>
          <a:xfrm xmlns:a="http://schemas.openxmlformats.org/drawingml/2006/main">
            <a:off x="5349240" y="3483864"/>
            <a:ext cx="3200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A78BFA"/>
                </a:solidFill>
                <a:latin typeface="Calibri"/>
                <a:ea typeface="Calibri"/>
                <a:cs typeface="Calibri"/>
              </a:rPr>
              <a:t>→</a:t>
            </a:r>
            <a:endParaRPr sz="1400"/>
          </a:p>
        </p:txBody>
      </p:sp>
      <p:sp>
        <p:nvSpPr>
          <p:cNvPr id="20" name="Text 18">
            <a:extLst xmlns:a="http://schemas.openxmlformats.org/drawingml/2006/main">
              <a:ext uri="{FF2B5EF4-FFF2-40B4-BE49-F238E27FC236}">
                <a16:creationId xmlns:a16="http://schemas.microsoft.com/office/drawing/2014/main" id="{430F25BE-B139-4A04-A42A-3D68B6C8F750}"/>
              </a:ext>
            </a:extLst>
          </p:cNvPr>
          <p:cNvSpPr>
            <a:spLocks xmlns:a="http://schemas.openxmlformats.org/drawingml/2006/main" noGrp="1"/>
          </p:cNvSpPr>
          <p:nvPr/>
        </p:nvSpPr>
        <p:spPr>
          <a:xfrm xmlns:a="http://schemas.openxmlformats.org/drawingml/2006/main">
            <a:off x="5669280" y="3520440"/>
            <a:ext cx="19202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4B2FA0"/>
                </a:solidFill>
                <a:latin typeface="Calibri"/>
                <a:ea typeface="Calibri"/>
                <a:cs typeface="Calibri"/>
              </a:rPr>
              <a:t>Prévision : novembre 2025</a:t>
            </a:r>
            <a:endParaRPr sz="1150"/>
          </a:p>
        </p:txBody>
      </p:sp>
      <p:sp>
        <p:nvSpPr>
          <p:cNvPr id="21" name="Shape 19">
            <a:extLst xmlns:a="http://schemas.openxmlformats.org/drawingml/2006/main">
              <a:ext uri="{FF2B5EF4-FFF2-40B4-BE49-F238E27FC236}">
                <a16:creationId xmlns:a16="http://schemas.microsoft.com/office/drawing/2014/main" id="{E692D24A-95D6-4071-9F86-9E7E5C87F625}"/>
              </a:ext>
            </a:extLst>
          </p:cNvPr>
          <p:cNvSpPr>
            <a:spLocks xmlns:a="http://schemas.openxmlformats.org/drawingml/2006/main" noGrp="1"/>
          </p:cNvSpPr>
          <p:nvPr/>
        </p:nvSpPr>
        <p:spPr>
          <a:xfrm xmlns:a="http://schemas.openxmlformats.org/drawingml/2006/main">
            <a:off x="713232" y="4197096"/>
            <a:ext cx="6903720" cy="960120"/>
          </a:xfrm>
          <a:prstGeom xmlns:a="http://schemas.openxmlformats.org/drawingml/2006/main" prst="roundRect">
            <a:avLst>
              <a:gd name="adj" fmla="val 9524"/>
            </a:avLst>
          </a:prstGeom>
          <a:solidFill xmlns:a="http://schemas.openxmlformats.org/drawingml/2006/main">
            <a:srgbClr val="FFFFFF"/>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22" name="Shape 20">
            <a:extLst xmlns:a="http://schemas.openxmlformats.org/drawingml/2006/main">
              <a:ext uri="{FF2B5EF4-FFF2-40B4-BE49-F238E27FC236}">
                <a16:creationId xmlns:a16="http://schemas.microsoft.com/office/drawing/2014/main" id="{8CE0C8CD-E13F-428F-82CD-0693546B16C4}"/>
              </a:ext>
            </a:extLst>
          </p:cNvPr>
          <p:cNvSpPr>
            <a:spLocks xmlns:a="http://schemas.openxmlformats.org/drawingml/2006/main" noGrp="1"/>
          </p:cNvSpPr>
          <p:nvPr/>
        </p:nvSpPr>
        <p:spPr>
          <a:xfrm xmlns:a="http://schemas.openxmlformats.org/drawingml/2006/main">
            <a:off x="1005840" y="4507992"/>
            <a:ext cx="347472" cy="347472"/>
          </a:xfrm>
          <a:prstGeom xmlns:a="http://schemas.openxmlformats.org/drawingml/2006/main" prst="roundRect">
            <a:avLst>
              <a:gd name="adj" fmla="val 18421"/>
            </a:avLst>
          </a:prstGeom>
          <a:solidFill xmlns:a="http://schemas.openxmlformats.org/drawingml/2006/main">
            <a:srgbClr val="6B46C7"/>
          </a:solidFill>
        </p:spPr>
      </p:sp>
      <p:sp>
        <p:nvSpPr>
          <p:cNvPr id="23" name="Text 21">
            <a:extLst xmlns:a="http://schemas.openxmlformats.org/drawingml/2006/main">
              <a:ext uri="{FF2B5EF4-FFF2-40B4-BE49-F238E27FC236}">
                <a16:creationId xmlns:a16="http://schemas.microsoft.com/office/drawing/2014/main" id="{070BF4FB-EDF7-4F3F-9E07-27FF7B5392D8}"/>
              </a:ext>
            </a:extLst>
          </p:cNvPr>
          <p:cNvSpPr>
            <a:spLocks xmlns:a="http://schemas.openxmlformats.org/drawingml/2006/main" noGrp="1"/>
          </p:cNvSpPr>
          <p:nvPr/>
        </p:nvSpPr>
        <p:spPr>
          <a:xfrm xmlns:a="http://schemas.openxmlformats.org/drawingml/2006/main">
            <a:off x="1005840" y="4507992"/>
            <a:ext cx="347472" cy="34747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3</a:t>
            </a:r>
            <a:endParaRPr sz="1200"/>
          </a:p>
        </p:txBody>
      </p:sp>
      <p:sp>
        <p:nvSpPr>
          <p:cNvPr id="24" name="Text 22">
            <a:extLst xmlns:a="http://schemas.openxmlformats.org/drawingml/2006/main">
              <a:ext uri="{FF2B5EF4-FFF2-40B4-BE49-F238E27FC236}">
                <a16:creationId xmlns:a16="http://schemas.microsoft.com/office/drawing/2014/main" id="{A659BC9B-B53F-43DA-9773-F486879D650B}"/>
              </a:ext>
            </a:extLst>
          </p:cNvPr>
          <p:cNvSpPr>
            <a:spLocks xmlns:a="http://schemas.openxmlformats.org/drawingml/2006/main" noGrp="1"/>
          </p:cNvSpPr>
          <p:nvPr/>
        </p:nvSpPr>
        <p:spPr>
          <a:xfrm xmlns:a="http://schemas.openxmlformats.org/drawingml/2006/main">
            <a:off x="1517904" y="4361688"/>
            <a:ext cx="1371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40">
                <a:solidFill>
                  <a:srgbClr val="6B46C7"/>
                </a:solidFill>
                <a:latin typeface="Calibri"/>
                <a:ea typeface="Calibri"/>
                <a:cs typeface="Calibri"/>
              </a:rPr>
              <a:t>Origine 3</a:t>
            </a:r>
            <a:endParaRPr sz="950"/>
          </a:p>
        </p:txBody>
      </p:sp>
      <p:sp>
        <p:nvSpPr>
          <p:cNvPr id="25" name="Text 23">
            <a:extLst xmlns:a="http://schemas.openxmlformats.org/drawingml/2006/main">
              <a:ext uri="{FF2B5EF4-FFF2-40B4-BE49-F238E27FC236}">
                <a16:creationId xmlns:a16="http://schemas.microsoft.com/office/drawing/2014/main" id="{2B210BC7-8715-4F78-928A-D9DBEDAE928F}"/>
              </a:ext>
            </a:extLst>
          </p:cNvPr>
          <p:cNvSpPr>
            <a:spLocks xmlns:a="http://schemas.openxmlformats.org/drawingml/2006/main" noGrp="1"/>
          </p:cNvSpPr>
          <p:nvPr/>
        </p:nvSpPr>
        <p:spPr>
          <a:xfrm xmlns:a="http://schemas.openxmlformats.org/drawingml/2006/main">
            <a:off x="1517904" y="4636008"/>
            <a:ext cx="292608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a:solidFill>
                  <a:srgbClr val="26233D"/>
                </a:solidFill>
                <a:latin typeface="Calibri"/>
                <a:ea typeface="Calibri"/>
                <a:cs typeface="Calibri"/>
              </a:rPr>
              <a:t>Entraînement janv. → nov.</a:t>
            </a:r>
            <a:endParaRPr sz="1250"/>
          </a:p>
        </p:txBody>
      </p:sp>
      <p:sp>
        <p:nvSpPr>
          <p:cNvPr id="26" name="Text 24">
            <a:extLst xmlns:a="http://schemas.openxmlformats.org/drawingml/2006/main">
              <a:ext uri="{FF2B5EF4-FFF2-40B4-BE49-F238E27FC236}">
                <a16:creationId xmlns:a16="http://schemas.microsoft.com/office/drawing/2014/main" id="{581909E5-CE01-4419-896A-046AABAB5FBB}"/>
              </a:ext>
            </a:extLst>
          </p:cNvPr>
          <p:cNvSpPr>
            <a:spLocks xmlns:a="http://schemas.openxmlformats.org/drawingml/2006/main" noGrp="1"/>
          </p:cNvSpPr>
          <p:nvPr/>
        </p:nvSpPr>
        <p:spPr>
          <a:xfrm xmlns:a="http://schemas.openxmlformats.org/drawingml/2006/main">
            <a:off x="4434840" y="4636008"/>
            <a:ext cx="91440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6E6A88"/>
                </a:solidFill>
                <a:latin typeface="Calibri"/>
                <a:ea typeface="Calibri"/>
                <a:cs typeface="Calibri"/>
              </a:rPr>
              <a:t>275 obs.</a:t>
            </a:r>
            <a:endParaRPr sz="1100"/>
          </a:p>
        </p:txBody>
      </p:sp>
      <p:sp>
        <p:nvSpPr>
          <p:cNvPr id="27" name="Text 25">
            <a:extLst xmlns:a="http://schemas.openxmlformats.org/drawingml/2006/main">
              <a:ext uri="{FF2B5EF4-FFF2-40B4-BE49-F238E27FC236}">
                <a16:creationId xmlns:a16="http://schemas.microsoft.com/office/drawing/2014/main" id="{0739E3E6-D6F7-49A1-BDB6-121651C4C58E}"/>
              </a:ext>
            </a:extLst>
          </p:cNvPr>
          <p:cNvSpPr>
            <a:spLocks xmlns:a="http://schemas.openxmlformats.org/drawingml/2006/main" noGrp="1"/>
          </p:cNvSpPr>
          <p:nvPr/>
        </p:nvSpPr>
        <p:spPr>
          <a:xfrm xmlns:a="http://schemas.openxmlformats.org/drawingml/2006/main">
            <a:off x="5349240" y="4599432"/>
            <a:ext cx="3200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a:solidFill>
                  <a:srgbClr val="A78BFA"/>
                </a:solidFill>
                <a:latin typeface="Calibri"/>
                <a:ea typeface="Calibri"/>
                <a:cs typeface="Calibri"/>
              </a:rPr>
              <a:t>→</a:t>
            </a:r>
            <a:endParaRPr sz="1400"/>
          </a:p>
        </p:txBody>
      </p:sp>
      <p:sp>
        <p:nvSpPr>
          <p:cNvPr id="28" name="Text 26">
            <a:extLst xmlns:a="http://schemas.openxmlformats.org/drawingml/2006/main">
              <a:ext uri="{FF2B5EF4-FFF2-40B4-BE49-F238E27FC236}">
                <a16:creationId xmlns:a16="http://schemas.microsoft.com/office/drawing/2014/main" id="{B9589BE0-080A-4E16-B520-DCABC689BD7A}"/>
              </a:ext>
            </a:extLst>
          </p:cNvPr>
          <p:cNvSpPr>
            <a:spLocks xmlns:a="http://schemas.openxmlformats.org/drawingml/2006/main" noGrp="1"/>
          </p:cNvSpPr>
          <p:nvPr/>
        </p:nvSpPr>
        <p:spPr>
          <a:xfrm xmlns:a="http://schemas.openxmlformats.org/drawingml/2006/main">
            <a:off x="5669280" y="4636008"/>
            <a:ext cx="1920240" cy="31089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50" b="1">
                <a:solidFill>
                  <a:srgbClr val="4B2FA0"/>
                </a:solidFill>
                <a:latin typeface="Calibri"/>
                <a:ea typeface="Calibri"/>
                <a:cs typeface="Calibri"/>
              </a:rPr>
              <a:t>Prévision : décembre 2025</a:t>
            </a:r>
            <a:endParaRPr sz="1150"/>
          </a:p>
        </p:txBody>
      </p:sp>
      <p:sp>
        <p:nvSpPr>
          <p:cNvPr id="29" name="Shape 27">
            <a:extLst xmlns:a="http://schemas.openxmlformats.org/drawingml/2006/main">
              <a:ext uri="{FF2B5EF4-FFF2-40B4-BE49-F238E27FC236}">
                <a16:creationId xmlns:a16="http://schemas.microsoft.com/office/drawing/2014/main" id="{17D0128D-B36F-4E08-A35B-BC085CB71B5F}"/>
              </a:ext>
            </a:extLst>
          </p:cNvPr>
          <p:cNvSpPr>
            <a:spLocks xmlns:a="http://schemas.openxmlformats.org/drawingml/2006/main" noGrp="1"/>
          </p:cNvSpPr>
          <p:nvPr/>
        </p:nvSpPr>
        <p:spPr>
          <a:xfrm xmlns:a="http://schemas.openxmlformats.org/drawingml/2006/main">
            <a:off x="7882128" y="1965960"/>
            <a:ext cx="3593592" cy="3840480"/>
          </a:xfrm>
          <a:prstGeom xmlns:a="http://schemas.openxmlformats.org/drawingml/2006/main" prst="roundRect">
            <a:avLst>
              <a:gd name="adj" fmla="val 2545"/>
            </a:avLst>
          </a:prstGeom>
          <a:solidFill xmlns:a="http://schemas.openxmlformats.org/drawingml/2006/main">
            <a:srgbClr val="F6F5FB"/>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30" name="Text 28">
            <a:extLst xmlns:a="http://schemas.openxmlformats.org/drawingml/2006/main">
              <a:ext uri="{FF2B5EF4-FFF2-40B4-BE49-F238E27FC236}">
                <a16:creationId xmlns:a16="http://schemas.microsoft.com/office/drawing/2014/main" id="{0112E624-19FD-4F67-A74C-F4A524CC3304}"/>
              </a:ext>
            </a:extLst>
          </p:cNvPr>
          <p:cNvSpPr>
            <a:spLocks xmlns:a="http://schemas.openxmlformats.org/drawingml/2006/main" noGrp="1"/>
          </p:cNvSpPr>
          <p:nvPr/>
        </p:nvSpPr>
        <p:spPr>
          <a:xfrm xmlns:a="http://schemas.openxmlformats.org/drawingml/2006/main">
            <a:off x="8174736" y="2176272"/>
            <a:ext cx="3017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4B2FA0"/>
                </a:solidFill>
                <a:latin typeface="Cambria"/>
                <a:ea typeface="Cambria"/>
                <a:cs typeface="Cambria"/>
              </a:rPr>
              <a:t>Fidèle au terrain</a:t>
            </a:r>
            <a:endParaRPr sz="1350"/>
          </a:p>
        </p:txBody>
      </p:sp>
      <p:sp>
        <p:nvSpPr>
          <p:cNvPr id="31" name="Text 29">
            <a:extLst xmlns:a="http://schemas.openxmlformats.org/drawingml/2006/main">
              <a:ext uri="{FF2B5EF4-FFF2-40B4-BE49-F238E27FC236}">
                <a16:creationId xmlns:a16="http://schemas.microsoft.com/office/drawing/2014/main" id="{2406C3B9-CB00-4A50-ADFE-B6146AE53AD4}"/>
              </a:ext>
            </a:extLst>
          </p:cNvPr>
          <p:cNvSpPr>
            <a:spLocks xmlns:a="http://schemas.openxmlformats.org/drawingml/2006/main" noGrp="1"/>
          </p:cNvSpPr>
          <p:nvPr/>
        </p:nvSpPr>
        <p:spPr>
          <a:xfrm xmlns:a="http://schemas.openxmlformats.org/drawingml/2006/main">
            <a:off x="8174736" y="2468880"/>
            <a:ext cx="301752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050">
                <a:solidFill>
                  <a:srgbClr val="6E6A88"/>
                </a:solidFill>
                <a:latin typeface="Calibri"/>
                <a:ea typeface="Calibri"/>
                <a:cs typeface="Calibri"/>
              </a:rPr>
              <a:t>Chaque mois est prévu dans les conditions exactes d'une prévision produite en fin de mois précédent — c'est le fonctionnement réel d'un rolling forecast.</a:t>
            </a:r>
            <a:endParaRPr sz="1050"/>
          </a:p>
        </p:txBody>
      </p:sp>
      <p:sp>
        <p:nvSpPr>
          <p:cNvPr id="32" name="Text 30">
            <a:extLst xmlns:a="http://schemas.openxmlformats.org/drawingml/2006/main">
              <a:ext uri="{FF2B5EF4-FFF2-40B4-BE49-F238E27FC236}">
                <a16:creationId xmlns:a16="http://schemas.microsoft.com/office/drawing/2014/main" id="{115FDB7B-3438-4180-820D-53B0938824B8}"/>
              </a:ext>
            </a:extLst>
          </p:cNvPr>
          <p:cNvSpPr>
            <a:spLocks xmlns:a="http://schemas.openxmlformats.org/drawingml/2006/main" noGrp="1"/>
          </p:cNvSpPr>
          <p:nvPr/>
        </p:nvSpPr>
        <p:spPr>
          <a:xfrm xmlns:a="http://schemas.openxmlformats.org/drawingml/2006/main">
            <a:off x="8174736" y="3346704"/>
            <a:ext cx="3017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4B2FA0"/>
                </a:solidFill>
                <a:latin typeface="Cambria"/>
                <a:ea typeface="Cambria"/>
                <a:cs typeface="Cambria"/>
              </a:rPr>
              <a:t>Trois évaluations</a:t>
            </a:r>
            <a:endParaRPr sz="1350"/>
          </a:p>
        </p:txBody>
      </p:sp>
      <p:sp>
        <p:nvSpPr>
          <p:cNvPr id="33" name="Text 31">
            <a:extLst xmlns:a="http://schemas.openxmlformats.org/drawingml/2006/main">
              <a:ext uri="{FF2B5EF4-FFF2-40B4-BE49-F238E27FC236}">
                <a16:creationId xmlns:a16="http://schemas.microsoft.com/office/drawing/2014/main" id="{3C9754ED-CE5F-476F-971D-F968FB11C062}"/>
              </a:ext>
            </a:extLst>
          </p:cNvPr>
          <p:cNvSpPr>
            <a:spLocks xmlns:a="http://schemas.openxmlformats.org/drawingml/2006/main" noGrp="1"/>
          </p:cNvSpPr>
          <p:nvPr/>
        </p:nvSpPr>
        <p:spPr>
          <a:xfrm xmlns:a="http://schemas.openxmlformats.org/drawingml/2006/main">
            <a:off x="8174736" y="3639312"/>
            <a:ext cx="301752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050">
                <a:solidFill>
                  <a:srgbClr val="6E6A88"/>
                </a:solidFill>
                <a:latin typeface="Calibri"/>
                <a:ea typeface="Calibri"/>
                <a:cs typeface="Calibri"/>
              </a:rPr>
              <a:t>Au lieu d'une seule : on vérifie si la conclusion se maintient sur chaque origine ou si elle dépend d'une période particulière.</a:t>
            </a:r>
            <a:endParaRPr sz="1050"/>
          </a:p>
        </p:txBody>
      </p:sp>
      <p:sp>
        <p:nvSpPr>
          <p:cNvPr id="34" name="Text 32">
            <a:extLst xmlns:a="http://schemas.openxmlformats.org/drawingml/2006/main">
              <a:ext uri="{FF2B5EF4-FFF2-40B4-BE49-F238E27FC236}">
                <a16:creationId xmlns:a16="http://schemas.microsoft.com/office/drawing/2014/main" id="{B4C826D4-DBCB-400B-90A2-8035F3DEE526}"/>
              </a:ext>
            </a:extLst>
          </p:cNvPr>
          <p:cNvSpPr>
            <a:spLocks xmlns:a="http://schemas.openxmlformats.org/drawingml/2006/main" noGrp="1"/>
          </p:cNvSpPr>
          <p:nvPr/>
        </p:nvSpPr>
        <p:spPr>
          <a:xfrm xmlns:a="http://schemas.openxmlformats.org/drawingml/2006/main">
            <a:off x="8174736" y="4517136"/>
            <a:ext cx="30175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50" b="1">
                <a:solidFill>
                  <a:srgbClr val="4B2FA0"/>
                </a:solidFill>
                <a:latin typeface="Cambria"/>
                <a:ea typeface="Cambria"/>
                <a:cs typeface="Cambria"/>
              </a:rPr>
              <a:t>Réglage sans fuite</a:t>
            </a:r>
            <a:endParaRPr sz="1350"/>
          </a:p>
        </p:txBody>
      </p:sp>
      <p:sp>
        <p:nvSpPr>
          <p:cNvPr id="35" name="Text 33">
            <a:extLst xmlns:a="http://schemas.openxmlformats.org/drawingml/2006/main">
              <a:ext uri="{FF2B5EF4-FFF2-40B4-BE49-F238E27FC236}">
                <a16:creationId xmlns:a16="http://schemas.microsoft.com/office/drawing/2014/main" id="{C2AEFB9A-9776-41D8-B70B-69508B7854D1}"/>
              </a:ext>
            </a:extLst>
          </p:cNvPr>
          <p:cNvSpPr>
            <a:spLocks xmlns:a="http://schemas.openxmlformats.org/drawingml/2006/main" noGrp="1"/>
          </p:cNvSpPr>
          <p:nvPr/>
        </p:nvSpPr>
        <p:spPr>
          <a:xfrm xmlns:a="http://schemas.openxmlformats.org/drawingml/2006/main">
            <a:off x="8174736" y="4809744"/>
            <a:ext cx="3017520" cy="8686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050">
                <a:solidFill>
                  <a:srgbClr val="6E6A88"/>
                </a:solidFill>
                <a:latin typeface="Calibri"/>
                <a:ea typeface="Calibri"/>
                <a:cs typeface="Calibri"/>
              </a:rPr>
              <a:t>Cherchés à l'intérieur de chaque origine, sur les seuls mois antérieurs. Les configurations retenues varient fortement d'une origine à l'autre : signature d'un échantillon insuffisant.</a:t>
            </a:r>
            <a:endParaRPr sz="1050"/>
          </a:p>
        </p:txBody>
      </p:sp>
      <p:sp>
        <p:nvSpPr>
          <p:cNvPr id="36" name="!!footer_label">
            <a:extLst xmlns:a="http://schemas.openxmlformats.org/drawingml/2006/main">
              <a:ext uri="{FF2B5EF4-FFF2-40B4-BE49-F238E27FC236}">
                <a16:creationId xmlns:a16="http://schemas.microsoft.com/office/drawing/2014/main" id="{79541513-F2E2-4DCC-87BC-017723DFD092}"/>
              </a:ext>
            </a:extLst>
          </p:cNvPr>
          <p:cNvSpPr>
            <a:spLocks xmlns:a="http://schemas.openxmlformats.org/drawingml/2006/main" noGrp="1"/>
          </p:cNvSpPr>
          <p:nvPr/>
        </p:nvSpPr>
        <p:spPr>
          <a:xfrm xmlns:a="http://schemas.openxmlformats.org/drawingml/2006/main">
            <a:off x="713232" y="6345936"/>
            <a:ext cx="7315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spc="60">
                <a:solidFill>
                  <a:srgbClr val="A5A1B8"/>
                </a:solidFill>
                <a:latin typeface="Calibri"/>
                <a:ea typeface="Calibri"/>
                <a:cs typeface="Calibri"/>
              </a:rPr>
              <a:t>02 · Démarche &amp; contrôle financier</a:t>
            </a:r>
            <a:endParaRPr sz="900"/>
          </a:p>
        </p:txBody>
      </p:sp>
      <p:sp>
        <p:nvSpPr>
          <p:cNvPr id="37" name="!!footer_page">
            <a:extLst xmlns:a="http://schemas.openxmlformats.org/drawingml/2006/main">
              <a:ext uri="{FF2B5EF4-FFF2-40B4-BE49-F238E27FC236}">
                <a16:creationId xmlns:a16="http://schemas.microsoft.com/office/drawing/2014/main" id="{44281057-7A7F-4BB3-95F9-7BF4151C7047}"/>
              </a:ext>
            </a:extLst>
          </p:cNvPr>
          <p:cNvSpPr>
            <a:spLocks xmlns:a="http://schemas.openxmlformats.org/drawingml/2006/main" noGrp="1"/>
          </p:cNvSpPr>
          <p:nvPr/>
        </p:nvSpPr>
        <p:spPr>
          <a:xfrm xmlns:a="http://schemas.openxmlformats.org/drawingml/2006/main">
            <a:off x="10972800" y="6345936"/>
            <a:ext cx="502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50" b="1">
                <a:solidFill>
                  <a:srgbClr val="6B46C7"/>
                </a:solidFill>
                <a:latin typeface="Calibri"/>
                <a:ea typeface="Calibri"/>
                <a:cs typeface="Calibri"/>
              </a:rPr>
              <a:t>8</a:t>
            </a:r>
            <a:endParaRPr sz="950"/>
          </a:p>
        </p:txBody>
      </p:sp>
    </p:spTree>
    <p:extLst>
      <p:ext uri="{BB962C8B-B14F-4D97-AF65-F5344CB8AC3E}">
        <p14:creationId xmlns:p14="http://schemas.microsoft.com/office/powerpoint/2010/main" val="915089786"/>
      </p:ext>
    </p:extLst>
  </p:cSld>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eyebrow">
            <a:extLst xmlns:a="http://schemas.openxmlformats.org/drawingml/2006/main">
              <a:ext uri="{FF2B5EF4-FFF2-40B4-BE49-F238E27FC236}">
                <a16:creationId xmlns:a16="http://schemas.microsoft.com/office/drawing/2014/main" id="{C520A0C7-328C-41D8-8FF0-DD0D59F3CE8B}"/>
              </a:ext>
            </a:extLst>
          </p:cNvPr>
          <p:cNvSpPr>
            <a:spLocks xmlns:a="http://schemas.openxmlformats.org/drawingml/2006/main" noGrp="1"/>
          </p:cNvSpPr>
          <p:nvPr/>
        </p:nvSpPr>
        <p:spPr>
          <a:xfrm xmlns:a="http://schemas.openxmlformats.org/drawingml/2006/main">
            <a:off x="713232" y="384048"/>
            <a:ext cx="107899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220">
                <a:solidFill>
                  <a:srgbClr val="6B46C7"/>
                </a:solidFill>
                <a:latin typeface="Calibri"/>
                <a:ea typeface="Calibri"/>
                <a:cs typeface="Calibri"/>
              </a:rPr>
              <a:t>PILOTAGE FP&amp;A</a:t>
            </a:r>
            <a:endParaRPr sz="1000"/>
          </a:p>
        </p:txBody>
      </p:sp>
      <p:sp>
        <p:nvSpPr>
          <p:cNvPr id="3" name="!!title">
            <a:extLst xmlns:a="http://schemas.openxmlformats.org/drawingml/2006/main">
              <a:ext uri="{FF2B5EF4-FFF2-40B4-BE49-F238E27FC236}">
                <a16:creationId xmlns:a16="http://schemas.microsoft.com/office/drawing/2014/main" id="{50A30FDF-3286-45D0-81BD-32E4B2A3DC05}"/>
              </a:ext>
            </a:extLst>
          </p:cNvPr>
          <p:cNvSpPr>
            <a:spLocks xmlns:a="http://schemas.openxmlformats.org/drawingml/2006/main" noGrp="1"/>
          </p:cNvSpPr>
          <p:nvPr/>
        </p:nvSpPr>
        <p:spPr>
          <a:xfrm xmlns:a="http://schemas.openxmlformats.org/drawingml/2006/main">
            <a:off x="713232" y="621792"/>
            <a:ext cx="105156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41230"/>
                </a:solidFill>
                <a:latin typeface="Cambria"/>
                <a:ea typeface="Cambria"/>
                <a:cs typeface="Cambria"/>
              </a:rPr>
              <a:t>Un outil de pilotage FP&amp;A et un cadre de mesure</a:t>
            </a:r>
            <a:endParaRPr sz="2700"/>
          </a:p>
        </p:txBody>
      </p:sp>
      <p:sp>
        <p:nvSpPr>
          <p:cNvPr id="4" name="!!subtitle">
            <a:extLst xmlns:a="http://schemas.openxmlformats.org/drawingml/2006/main">
              <a:ext uri="{FF2B5EF4-FFF2-40B4-BE49-F238E27FC236}">
                <a16:creationId xmlns:a16="http://schemas.microsoft.com/office/drawing/2014/main" id="{97AA2AC9-6C5E-4BF3-82ED-ED2B0C111FB1}"/>
              </a:ext>
            </a:extLst>
          </p:cNvPr>
          <p:cNvSpPr>
            <a:spLocks xmlns:a="http://schemas.openxmlformats.org/drawingml/2006/main" noGrp="1"/>
          </p:cNvSpPr>
          <p:nvPr/>
        </p:nvSpPr>
        <p:spPr>
          <a:xfrm xmlns:a="http://schemas.openxmlformats.org/drawingml/2006/main">
            <a:off x="713232" y="1188720"/>
            <a:ext cx="96926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300">
                <a:solidFill>
                  <a:srgbClr val="6E6A88"/>
                </a:solidFill>
                <a:latin typeface="Calibri"/>
                <a:ea typeface="Calibri"/>
                <a:cs typeface="Calibri"/>
              </a:rPr>
              <a:t>Forecasts traçables, écarts mesurés par section et comparaison obligatoire à une baseline avant toute décision.</a:t>
            </a:r>
            <a:endParaRPr sz="1300"/>
          </a:p>
        </p:txBody>
      </p:sp>
      <p:graphicFrame>
        <p:nvGraphicFramePr>
          <p:cNvPr id="18" name="Table 0"/>
          <p:cNvGraphicFramePr/>
          <p:nvPr/>
        </p:nvGraphicFramePr>
        <p:xfrm>
          <a:off xmlns:a="http://schemas.openxmlformats.org/drawingml/2006/main" x="713232" y="1850000"/>
          <a:ext xmlns:a="http://schemas.openxmlformats.org/drawingml/2006/main" cx="10762488" cy="3920000"/>
        </p:xfrm>
        <a:graphic xmlns:a="http://schemas.openxmlformats.org/drawingml/2006/main">
          <a:graphicData uri="http://schemas.openxmlformats.org/drawingml/2006/table">
            <a:tbl>
              <a:tblPr/>
              <a:tblGrid>
                <a:gridCol w="2103120"/>
                <a:gridCol w="3977640"/>
                <a:gridCol w="4681728"/>
              </a:tblGrid>
              <a:tr h="560000">
                <a:tc>
                  <a:txBody>
                    <a:bodyPr/>
                    <a:lstStyle/>
                    <a:p>
                      <a:pPr marL="0" indent="0">
                        <a:buNone/>
                      </a:pPr>
                      <a:r>
                        <a:rPr sz="1235" b="1" spc="120">
                          <a:solidFill>
                            <a:srgbClr val="FFFFFF"/>
                          </a:solidFill>
                          <a:latin typeface="Calibri"/>
                          <a:ea typeface="Calibri"/>
                          <a:cs typeface="Calibri"/>
                        </a:rPr>
                        <a:t>DIMENSION</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6B46C7"/>
                    </a:solidFill>
                  </a:tcPr>
                </a:tc>
                <a:tc>
                  <a:txBody>
                    <a:bodyPr/>
                    <a:lstStyle/>
                    <a:p>
                      <a:pPr marL="0" indent="0">
                        <a:buNone/>
                      </a:pPr>
                      <a:r>
                        <a:rPr sz="1235" b="1" spc="120">
                          <a:solidFill>
                            <a:srgbClr val="FFFFFF"/>
                          </a:solidFill>
                          <a:latin typeface="Calibri"/>
                          <a:ea typeface="Calibri"/>
                          <a:cs typeface="Calibri"/>
                        </a:rPr>
                        <a:t>PROCESSUS ANTÉRIEUR — PÉRIMÈTRE DU STAGE</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6B46C7"/>
                    </a:solidFill>
                  </a:tcPr>
                </a:tc>
                <a:tc>
                  <a:txBody>
                    <a:bodyPr/>
                    <a:lstStyle/>
                    <a:p>
                      <a:pPr marL="0" indent="0">
                        <a:buNone/>
                      </a:pPr>
                      <a:r>
                        <a:rPr sz="1235" b="1" spc="120">
                          <a:solidFill>
                            <a:srgbClr val="FFFFFF"/>
                          </a:solidFill>
                          <a:latin typeface="Calibri"/>
                          <a:ea typeface="Calibri"/>
                          <a:cs typeface="Calibri"/>
                        </a:rPr>
                        <a:t>AVEC L'OUTIL DÉVELOPPÉ</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6B46C7"/>
                    </a:solidFill>
                  </a:tcPr>
                </a:tc>
              </a:tr>
              <a:tr h="560000">
                <a:tc>
                  <a:txBody>
                    <a:bodyPr/>
                    <a:lstStyle/>
                    <a:p>
                      <a:pPr marL="0" indent="0">
                        <a:buNone/>
                      </a:pPr>
                      <a:r>
                        <a:rPr sz="1300" b="1">
                          <a:solidFill>
                            <a:srgbClr val="26233D"/>
                          </a:solidFill>
                          <a:latin typeface="Calibri"/>
                          <a:ea typeface="Calibri"/>
                          <a:cs typeface="Calibri"/>
                        </a:rPr>
                        <a:t>Traçabilité</a:t>
                      </a:r>
                      <a:endParaRPr sz="100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FFFFF"/>
                    </a:solidFill>
                  </a:tcPr>
                </a:tc>
                <a:tc>
                  <a:txBody>
                    <a:bodyPr/>
                    <a:lstStyle/>
                    <a:p>
                      <a:pPr marL="0" indent="0">
                        <a:buNone/>
                      </a:pPr>
                      <a:r>
                        <a:rPr sz="1235">
                          <a:solidFill>
                            <a:srgbClr val="8B86A6"/>
                          </a:solidFill>
                          <a:latin typeface="Calibri"/>
                          <a:ea typeface="Calibri"/>
                          <a:cs typeface="Calibri"/>
                        </a:rPr>
                        <a:t>Aucune documentation permettant de reconstituer l'estimation</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FFFFF"/>
                    </a:solidFill>
                  </a:tcPr>
                </a:tc>
                <a:tc>
                  <a:txBody>
                    <a:bodyPr/>
                    <a:lstStyle/>
                    <a:p>
                      <a:pPr marL="0" indent="0">
                        <a:buNone/>
                      </a:pPr>
                      <a:r>
                        <a:rPr sz="1235" b="1">
                          <a:solidFill>
                            <a:srgbClr val="4B2FA0"/>
                          </a:solidFill>
                          <a:latin typeface="Calibri"/>
                          <a:ea typeface="Calibri"/>
                          <a:cs typeface="Calibri"/>
                        </a:rPr>
                        <a:t>Prévision horodatée, versionnée, reproductible au chiffre près</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FFFFF"/>
                    </a:solidFill>
                  </a:tcPr>
                </a:tc>
              </a:tr>
              <a:tr h="560000">
                <a:tc>
                  <a:txBody>
                    <a:bodyPr/>
                    <a:lstStyle/>
                    <a:p>
                      <a:pPr marL="0" indent="0">
                        <a:buNone/>
                      </a:pPr>
                      <a:r>
                        <a:rPr sz="1300" b="1">
                          <a:solidFill>
                            <a:srgbClr val="26233D"/>
                          </a:solidFill>
                          <a:latin typeface="Calibri"/>
                          <a:ea typeface="Calibri"/>
                          <a:cs typeface="Calibri"/>
                        </a:rPr>
                        <a:t>Mesure de l'erreur</a:t>
                      </a:r>
                      <a:endParaRPr sz="100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6F5FB"/>
                    </a:solidFill>
                  </a:tcPr>
                </a:tc>
                <a:tc>
                  <a:txBody>
                    <a:bodyPr/>
                    <a:lstStyle/>
                    <a:p>
                      <a:pPr marL="0" indent="0">
                        <a:buNone/>
                      </a:pPr>
                      <a:r>
                        <a:rPr sz="1235">
                          <a:solidFill>
                            <a:srgbClr val="8B86A6"/>
                          </a:solidFill>
                          <a:latin typeface="Calibri"/>
                          <a:ea typeface="Calibri"/>
                          <a:cs typeface="Calibri"/>
                        </a:rPr>
                        <a:t>Aucune comparaison systématique forecast / réalisé</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6F5FB"/>
                    </a:solidFill>
                  </a:tcPr>
                </a:tc>
                <a:tc>
                  <a:txBody>
                    <a:bodyPr/>
                    <a:lstStyle/>
                    <a:p>
                      <a:pPr marL="0" indent="0">
                        <a:buNone/>
                      </a:pPr>
                      <a:r>
                        <a:rPr sz="1235" b="1">
                          <a:solidFill>
                            <a:srgbClr val="4B2FA0"/>
                          </a:solidFill>
                          <a:latin typeface="Calibri"/>
                          <a:ea typeface="Calibri"/>
                          <a:cs typeface="Calibri"/>
                        </a:rPr>
                        <a:t>MAE, RMSE et R² calculés à chaque cycle, sur chaque section</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6F5FB"/>
                    </a:solidFill>
                  </a:tcPr>
                </a:tc>
              </a:tr>
              <a:tr h="560000">
                <a:tc>
                  <a:txBody>
                    <a:bodyPr/>
                    <a:lstStyle/>
                    <a:p>
                      <a:pPr marL="0" indent="0">
                        <a:buNone/>
                      </a:pPr>
                      <a:r>
                        <a:rPr sz="1300" b="1">
                          <a:solidFill>
                            <a:srgbClr val="26233D"/>
                          </a:solidFill>
                          <a:latin typeface="Calibri"/>
                          <a:ea typeface="Calibri"/>
                          <a:cs typeface="Calibri"/>
                        </a:rPr>
                        <a:t>Référence</a:t>
                      </a:r>
                      <a:endParaRPr sz="100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FFFFF"/>
                    </a:solidFill>
                  </a:tcPr>
                </a:tc>
                <a:tc>
                  <a:txBody>
                    <a:bodyPr/>
                    <a:lstStyle/>
                    <a:p>
                      <a:pPr marL="0" indent="0">
                        <a:buNone/>
                      </a:pPr>
                      <a:r>
                        <a:rPr sz="1235">
                          <a:solidFill>
                            <a:srgbClr val="8B86A6"/>
                          </a:solidFill>
                          <a:latin typeface="Calibri"/>
                          <a:ea typeface="Calibri"/>
                          <a:cs typeface="Calibri"/>
                        </a:rPr>
                        <a:t>Aucun référentiel quantitatif formalisé</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FFFFF"/>
                    </a:solidFill>
                  </a:tcPr>
                </a:tc>
                <a:tc>
                  <a:txBody>
                    <a:bodyPr/>
                    <a:lstStyle/>
                    <a:p>
                      <a:pPr marL="0" indent="0">
                        <a:buNone/>
                      </a:pPr>
                      <a:r>
                        <a:rPr sz="1235" b="1">
                          <a:solidFill>
                            <a:srgbClr val="4B2FA0"/>
                          </a:solidFill>
                          <a:latin typeface="Calibri"/>
                          <a:ea typeface="Calibri"/>
                          <a:cs typeface="Calibri"/>
                        </a:rPr>
                        <a:t>Comparaison obligatoire à une méthode naïve avant toute décision</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FFFFF"/>
                    </a:solidFill>
                  </a:tcPr>
                </a:tc>
              </a:tr>
              <a:tr h="560000">
                <a:tc>
                  <a:txBody>
                    <a:bodyPr/>
                    <a:lstStyle/>
                    <a:p>
                      <a:pPr marL="0" indent="0">
                        <a:buNone/>
                      </a:pPr>
                      <a:r>
                        <a:rPr sz="1300" b="1">
                          <a:solidFill>
                            <a:srgbClr val="26233D"/>
                          </a:solidFill>
                          <a:latin typeface="Calibri"/>
                          <a:ea typeface="Calibri"/>
                          <a:cs typeface="Calibri"/>
                        </a:rPr>
                        <a:t>Granularité</a:t>
                      </a:r>
                      <a:endParaRPr sz="100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6F5FB"/>
                    </a:solidFill>
                  </a:tcPr>
                </a:tc>
                <a:tc>
                  <a:txBody>
                    <a:bodyPr/>
                    <a:lstStyle/>
                    <a:p>
                      <a:pPr marL="0" indent="0">
                        <a:buNone/>
                      </a:pPr>
                      <a:r>
                        <a:rPr sz="1235">
                          <a:solidFill>
                            <a:srgbClr val="8B86A6"/>
                          </a:solidFill>
                          <a:latin typeface="Calibri"/>
                          <a:ea typeface="Calibri"/>
                          <a:cs typeface="Calibri"/>
                        </a:rPr>
                        <a:t>Généralement au niveau agrégé, faute de temps</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6F5FB"/>
                    </a:solidFill>
                  </a:tcPr>
                </a:tc>
                <a:tc>
                  <a:txBody>
                    <a:bodyPr/>
                    <a:lstStyle/>
                    <a:p>
                      <a:pPr marL="0" indent="0">
                        <a:buNone/>
                      </a:pPr>
                      <a:r>
                        <a:rPr sz="1235" b="1">
                          <a:solidFill>
                            <a:srgbClr val="4B2FA0"/>
                          </a:solidFill>
                          <a:latin typeface="Calibri"/>
                          <a:ea typeface="Calibri"/>
                          <a:cs typeface="Calibri"/>
                        </a:rPr>
                        <a:t>25 sections analytiques suivies individuellement</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6F5FB"/>
                    </a:solidFill>
                  </a:tcPr>
                </a:tc>
              </a:tr>
              <a:tr h="560000">
                <a:tc>
                  <a:txBody>
                    <a:bodyPr/>
                    <a:lstStyle/>
                    <a:p>
                      <a:pPr marL="0" indent="0">
                        <a:buNone/>
                      </a:pPr>
                      <a:r>
                        <a:rPr sz="1300" b="1">
                          <a:solidFill>
                            <a:srgbClr val="26233D"/>
                          </a:solidFill>
                          <a:latin typeface="Calibri"/>
                          <a:ea typeface="Calibri"/>
                          <a:cs typeface="Calibri"/>
                        </a:rPr>
                        <a:t>Reproductibilité</a:t>
                      </a:r>
                      <a:endParaRPr sz="100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6F5FB"/>
                    </a:solidFill>
                  </a:tcPr>
                </a:tc>
                <a:tc>
                  <a:txBody>
                    <a:bodyPr/>
                    <a:lstStyle/>
                    <a:p>
                      <a:pPr marL="0" indent="0">
                        <a:buNone/>
                      </a:pPr>
                      <a:r>
                        <a:rPr sz="1235">
                          <a:solidFill>
                            <a:srgbClr val="8B86A6"/>
                          </a:solidFill>
                          <a:latin typeface="Calibri"/>
                          <a:ea typeface="Calibri"/>
                          <a:cs typeface="Calibri"/>
                        </a:rPr>
                        <a:t>Liée à la personne produisant l'estimation</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6F5FB"/>
                    </a:solidFill>
                  </a:tcPr>
                </a:tc>
                <a:tc>
                  <a:txBody>
                    <a:bodyPr/>
                    <a:lstStyle/>
                    <a:p>
                      <a:pPr marL="0" indent="0">
                        <a:buNone/>
                      </a:pPr>
                      <a:r>
                        <a:rPr sz="1235" b="1">
                          <a:solidFill>
                            <a:srgbClr val="4B2FA0"/>
                          </a:solidFill>
                          <a:latin typeface="Calibri"/>
                          <a:ea typeface="Calibri"/>
                          <a:cs typeface="Calibri"/>
                        </a:rPr>
                        <a:t>Pipeline déterministe : graine fixe, exécution mono-thread</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6F5FB"/>
                    </a:solidFill>
                  </a:tcPr>
                </a:tc>
              </a:tr>
              <a:tr h="560000">
                <a:tc>
                  <a:txBody>
                    <a:bodyPr/>
                    <a:lstStyle/>
                    <a:p>
                      <a:pPr marL="0" indent="0">
                        <a:buNone/>
                      </a:pPr>
                      <a:r>
                        <a:rPr sz="1300" b="1">
                          <a:solidFill>
                            <a:srgbClr val="26233D"/>
                          </a:solidFill>
                          <a:latin typeface="Calibri"/>
                          <a:ea typeface="Calibri"/>
                          <a:cs typeface="Calibri"/>
                        </a:rPr>
                        <a:t>Explicabilité</a:t>
                      </a:r>
                      <a:endParaRPr sz="100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6F5FB"/>
                    </a:solidFill>
                  </a:tcPr>
                </a:tc>
                <a:tc>
                  <a:txBody>
                    <a:bodyPr/>
                    <a:lstStyle/>
                    <a:p>
                      <a:pPr marL="0" indent="0">
                        <a:buNone/>
                      </a:pPr>
                      <a:r>
                        <a:rPr sz="1235">
                          <a:solidFill>
                            <a:srgbClr val="8B86A6"/>
                          </a:solidFill>
                          <a:latin typeface="Calibri"/>
                          <a:ea typeface="Calibri"/>
                          <a:cs typeface="Calibri"/>
                        </a:rPr>
                        <a:t>Intuitive, non formalisée</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6F5FB"/>
                    </a:solidFill>
                  </a:tcPr>
                </a:tc>
                <a:tc>
                  <a:txBody>
                    <a:bodyPr/>
                    <a:lstStyle/>
                    <a:p>
                      <a:pPr marL="0" indent="0">
                        <a:buNone/>
                      </a:pPr>
                      <a:r>
                        <a:rPr sz="1235" b="1">
                          <a:solidFill>
                            <a:srgbClr val="4B2FA0"/>
                          </a:solidFill>
                          <a:latin typeface="Calibri"/>
                          <a:ea typeface="Calibri"/>
                          <a:cs typeface="Calibri"/>
                        </a:rPr>
                        <a:t>Objectivée par l'analyse d'importance des variables</a:t>
                      </a:r>
                      <a:endParaRPr sz="950">
                        <a:latin typeface="Calibri"/>
                        <a:ea typeface="Calibri"/>
                        <a:cs typeface="Calibri"/>
                      </a:endParaRPr>
                    </a:p>
                  </a:txBody>
                  <a:tcPr marL="127000" marR="127000" marT="19050" marB="19050" anchor="ctr">
                    <a:lnL w="9525" cmpd="sng">
                      <a:solidFill>
                        <a:srgbClr val="E2DEF0"/>
                      </a:solidFill>
                      <a:prstDash val="solid"/>
                    </a:lnL>
                    <a:lnR w="9525" cmpd="sng">
                      <a:solidFill>
                        <a:srgbClr val="E2DEF0"/>
                      </a:solidFill>
                      <a:prstDash val="solid"/>
                    </a:lnR>
                    <a:lnT w="9525" cmpd="sng">
                      <a:solidFill>
                        <a:srgbClr val="E2DEF0"/>
                      </a:solidFill>
                      <a:prstDash val="solid"/>
                    </a:lnT>
                    <a:lnB w="9525" cmpd="sng">
                      <a:solidFill>
                        <a:srgbClr val="E2DEF0"/>
                      </a:solidFill>
                      <a:prstDash val="solid"/>
                    </a:lnB>
                    <a:solidFill>
                      <a:srgbClr val="F6F5FB"/>
                    </a:solidFill>
                  </a:tcPr>
                </a:tc>
              </a:tr>
            </a:tbl>
          </a:graphicData>
        </a:graphic>
      </p:graphicFrame>
      <p:sp>
        <p:nvSpPr>
          <p:cNvPr id="8" name="Text 4">
            <a:extLst xmlns:a="http://schemas.openxmlformats.org/drawingml/2006/main">
              <a:ext uri="{FF2B5EF4-FFF2-40B4-BE49-F238E27FC236}">
                <a16:creationId xmlns:a16="http://schemas.microsoft.com/office/drawing/2014/main" id="{35A96EF9-5AC6-4CE4-9D1B-754BF919C314}"/>
              </a:ext>
            </a:extLst>
          </p:cNvPr>
          <p:cNvSpPr>
            <a:spLocks xmlns:a="http://schemas.openxmlformats.org/drawingml/2006/main" noGrp="1"/>
          </p:cNvSpPr>
          <p:nvPr/>
        </p:nvSpPr>
        <p:spPr>
          <a:xfrm xmlns:a="http://schemas.openxmlformats.org/drawingml/2006/main">
            <a:off x="749808" y="6053328"/>
            <a:ext cx="10607040" cy="29260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i="1">
                <a:solidFill>
                  <a:srgbClr val="6E6A88"/>
                </a:solidFill>
                <a:latin typeface="Calibri"/>
                <a:ea typeface="Calibri"/>
                <a:cs typeface="Calibri"/>
              </a:rPr>
              <a:t>L'outil ne remplace ni le jugement métier ni la méthode naïve : il fournit un point de comparaison objectif, à côté duquel le jugement métier conserve toute sa place.</a:t>
            </a:r>
            <a:endParaRPr sz="1100"/>
          </a:p>
        </p:txBody>
      </p:sp>
      <p:sp>
        <p:nvSpPr>
          <p:cNvPr id="9" name="!!footer_label">
            <a:extLst xmlns:a="http://schemas.openxmlformats.org/drawingml/2006/main">
              <a:ext uri="{FF2B5EF4-FFF2-40B4-BE49-F238E27FC236}">
                <a16:creationId xmlns:a16="http://schemas.microsoft.com/office/drawing/2014/main" id="{431485F4-4925-456D-BF47-9C843CD25723}"/>
              </a:ext>
            </a:extLst>
          </p:cNvPr>
          <p:cNvSpPr>
            <a:spLocks xmlns:a="http://schemas.openxmlformats.org/drawingml/2006/main" noGrp="1"/>
          </p:cNvSpPr>
          <p:nvPr/>
        </p:nvSpPr>
        <p:spPr>
          <a:xfrm xmlns:a="http://schemas.openxmlformats.org/drawingml/2006/main">
            <a:off x="713232" y="6345936"/>
            <a:ext cx="7315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spc="60">
                <a:solidFill>
                  <a:srgbClr val="A5A1B8"/>
                </a:solidFill>
                <a:latin typeface="Calibri"/>
                <a:ea typeface="Calibri"/>
                <a:cs typeface="Calibri"/>
              </a:rPr>
              <a:t>05 · Outil de pilotage FP&amp;A</a:t>
            </a:r>
            <a:endParaRPr sz="900"/>
          </a:p>
        </p:txBody>
      </p:sp>
      <p:sp>
        <p:nvSpPr>
          <p:cNvPr id="10" name="!!footer_page">
            <a:extLst xmlns:a="http://schemas.openxmlformats.org/drawingml/2006/main">
              <a:ext uri="{FF2B5EF4-FFF2-40B4-BE49-F238E27FC236}">
                <a16:creationId xmlns:a16="http://schemas.microsoft.com/office/drawing/2014/main" id="{883A8989-C828-46D5-8DF1-C3DDFA794045}"/>
              </a:ext>
            </a:extLst>
          </p:cNvPr>
          <p:cNvSpPr>
            <a:spLocks xmlns:a="http://schemas.openxmlformats.org/drawingml/2006/main" noGrp="1"/>
          </p:cNvSpPr>
          <p:nvPr/>
        </p:nvSpPr>
        <p:spPr>
          <a:xfrm xmlns:a="http://schemas.openxmlformats.org/drawingml/2006/main">
            <a:off x="10972800" y="6345936"/>
            <a:ext cx="502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50" b="1">
                <a:solidFill>
                  <a:srgbClr val="6B46C7"/>
                </a:solidFill>
                <a:latin typeface="Calibri"/>
                <a:ea typeface="Calibri"/>
                <a:cs typeface="Calibri"/>
              </a:rPr>
              <a:t>14</a:t>
            </a:r>
            <a:endParaRPr sz="950"/>
          </a:p>
        </p:txBody>
      </p:sp>
    </p:spTree>
    <p:extLst>
      <p:ext uri="{BB962C8B-B14F-4D97-AF65-F5344CB8AC3E}">
        <p14:creationId xmlns:p14="http://schemas.microsoft.com/office/powerpoint/2010/main" val="1935393689"/>
      </p:ext>
    </p:extLst>
  </p:cSld>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eyebrow">
            <a:extLst xmlns:a="http://schemas.openxmlformats.org/drawingml/2006/main">
              <a:ext uri="{FF2B5EF4-FFF2-40B4-BE49-F238E27FC236}">
                <a16:creationId xmlns:a16="http://schemas.microsoft.com/office/drawing/2014/main" id="{69BD6457-8195-46FA-9148-12841C9EDACE}"/>
              </a:ext>
            </a:extLst>
          </p:cNvPr>
          <p:cNvSpPr>
            <a:spLocks xmlns:a="http://schemas.openxmlformats.org/drawingml/2006/main" noGrp="1"/>
          </p:cNvSpPr>
          <p:nvPr/>
        </p:nvSpPr>
        <p:spPr>
          <a:xfrm xmlns:a="http://schemas.openxmlformats.org/drawingml/2006/main">
            <a:off x="713232" y="384048"/>
            <a:ext cx="1078992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b="1" spc="220">
                <a:solidFill>
                  <a:srgbClr val="6B46C7"/>
                </a:solidFill>
                <a:latin typeface="Calibri"/>
                <a:ea typeface="Calibri"/>
                <a:cs typeface="Calibri"/>
              </a:rPr>
              <a:t>RECOMMANDATION</a:t>
            </a:r>
            <a:endParaRPr sz="1000"/>
          </a:p>
        </p:txBody>
      </p:sp>
      <p:sp>
        <p:nvSpPr>
          <p:cNvPr id="3" name="!!title">
            <a:extLst xmlns:a="http://schemas.openxmlformats.org/drawingml/2006/main">
              <a:ext uri="{FF2B5EF4-FFF2-40B4-BE49-F238E27FC236}">
                <a16:creationId xmlns:a16="http://schemas.microsoft.com/office/drawing/2014/main" id="{471B1641-D828-4858-9514-E09243ED4519}"/>
              </a:ext>
            </a:extLst>
          </p:cNvPr>
          <p:cNvSpPr>
            <a:spLocks xmlns:a="http://schemas.openxmlformats.org/drawingml/2006/main" noGrp="1"/>
          </p:cNvSpPr>
          <p:nvPr/>
        </p:nvSpPr>
        <p:spPr>
          <a:xfrm xmlns:a="http://schemas.openxmlformats.org/drawingml/2006/main">
            <a:off x="713232" y="621792"/>
            <a:ext cx="10515600" cy="56692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700" b="1">
                <a:solidFill>
                  <a:srgbClr val="141230"/>
                </a:solidFill>
                <a:latin typeface="Cambria"/>
                <a:ea typeface="Cambria"/>
                <a:cs typeface="Cambria"/>
              </a:rPr>
              <a:t>Décision recommandée : sécuriser avant d’industrialiser</a:t>
            </a:r>
            <a:endParaRPr sz="2700"/>
          </a:p>
        </p:txBody>
      </p:sp>
      <p:sp>
        <p:nvSpPr>
          <p:cNvPr id="4" name="!!subtitle">
            <a:extLst xmlns:a="http://schemas.openxmlformats.org/drawingml/2006/main">
              <a:ext uri="{FF2B5EF4-FFF2-40B4-BE49-F238E27FC236}">
                <a16:creationId xmlns:a16="http://schemas.microsoft.com/office/drawing/2014/main" id="{C3D82906-4D15-4527-B648-7265F4820A8A}"/>
              </a:ext>
            </a:extLst>
          </p:cNvPr>
          <p:cNvSpPr>
            <a:spLocks xmlns:a="http://schemas.openxmlformats.org/drawingml/2006/main" noGrp="1"/>
          </p:cNvSpPr>
          <p:nvPr/>
        </p:nvSpPr>
        <p:spPr>
          <a:xfrm xmlns:a="http://schemas.openxmlformats.org/drawingml/2006/main">
            <a:off x="713232" y="1188720"/>
            <a:ext cx="9692640" cy="38404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2000"/>
              </a:lnSpc>
              <a:buNone/>
            </a:pPr>
            <a:r>
              <a:rPr sz="1300">
                <a:solidFill>
                  <a:srgbClr val="6E6A88"/>
                </a:solidFill>
                <a:latin typeface="Calibri"/>
                <a:ea typeface="Calibri"/>
                <a:cs typeface="Calibri"/>
              </a:rPr>
              <a:t>La feuille de route n’ouvre chaque étape qu’après validation sur données réelles.</a:t>
            </a:r>
            <a:endParaRPr sz="1300"/>
          </a:p>
        </p:txBody>
      </p:sp>
      <p:sp>
        <p:nvSpPr>
          <p:cNvPr id="5" name="Shape 3">
            <a:extLst xmlns:a="http://schemas.openxmlformats.org/drawingml/2006/main">
              <a:ext uri="{FF2B5EF4-FFF2-40B4-BE49-F238E27FC236}">
                <a16:creationId xmlns:a16="http://schemas.microsoft.com/office/drawing/2014/main" id="{5B18C48C-1144-48EB-AC34-E3426B8A5299}"/>
              </a:ext>
            </a:extLst>
          </p:cNvPr>
          <p:cNvSpPr>
            <a:spLocks xmlns:a="http://schemas.openxmlformats.org/drawingml/2006/main" noGrp="1"/>
          </p:cNvSpPr>
          <p:nvPr/>
        </p:nvSpPr>
        <p:spPr>
          <a:xfrm xmlns:a="http://schemas.openxmlformats.org/drawingml/2006/main">
            <a:off x="713232" y="1783080"/>
            <a:ext cx="3383280" cy="3886200"/>
          </a:xfrm>
          <a:prstGeom xmlns:a="http://schemas.openxmlformats.org/drawingml/2006/main" prst="roundRect">
            <a:avLst>
              <a:gd name="adj" fmla="val 2703"/>
            </a:avLst>
          </a:prstGeom>
          <a:solidFill xmlns:a="http://schemas.openxmlformats.org/drawingml/2006/main">
            <a:srgbClr val="EFEBFA"/>
          </a:solidFill>
          <a:ln xmlns:a="http://schemas.openxmlformats.org/drawingml/2006/main" w="9525">
            <a:solidFill>
              <a:srgbClr val="D9D2F1"/>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6" name="Text 4">
            <a:extLst xmlns:a="http://schemas.openxmlformats.org/drawingml/2006/main">
              <a:ext uri="{FF2B5EF4-FFF2-40B4-BE49-F238E27FC236}">
                <a16:creationId xmlns:a16="http://schemas.microsoft.com/office/drawing/2014/main" id="{6BEAE89E-E507-4221-9739-6D240C43C281}"/>
              </a:ext>
            </a:extLst>
          </p:cNvPr>
          <p:cNvSpPr>
            <a:spLocks xmlns:a="http://schemas.openxmlformats.org/drawingml/2006/main" noGrp="1"/>
          </p:cNvSpPr>
          <p:nvPr/>
        </p:nvSpPr>
        <p:spPr>
          <a:xfrm xmlns:a="http://schemas.openxmlformats.org/drawingml/2006/main">
            <a:off x="1005840" y="2011680"/>
            <a:ext cx="283464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50" b="1" spc="150">
                <a:solidFill>
                  <a:srgbClr val="6B46C7"/>
                </a:solidFill>
                <a:latin typeface="Calibri"/>
                <a:ea typeface="Calibri"/>
                <a:cs typeface="Calibri"/>
              </a:rPr>
              <a:t>DIFFICULTÉS &amp; LIMITES</a:t>
            </a:r>
            <a:endParaRPr sz="950"/>
          </a:p>
        </p:txBody>
      </p:sp>
      <p:sp>
        <p:nvSpPr>
          <p:cNvPr id="7" name="Text 5">
            <a:extLst xmlns:a="http://schemas.openxmlformats.org/drawingml/2006/main">
              <a:ext uri="{FF2B5EF4-FFF2-40B4-BE49-F238E27FC236}">
                <a16:creationId xmlns:a16="http://schemas.microsoft.com/office/drawing/2014/main" id="{B3652B40-EE54-4EC1-B8E0-A1FCEB02D088}"/>
              </a:ext>
            </a:extLst>
          </p:cNvPr>
          <p:cNvSpPr>
            <a:spLocks xmlns:a="http://schemas.openxmlformats.org/drawingml/2006/main" noGrp="1"/>
          </p:cNvSpPr>
          <p:nvPr/>
        </p:nvSpPr>
        <p:spPr>
          <a:xfrm xmlns:a="http://schemas.openxmlformats.org/drawingml/2006/main">
            <a:off x="1005840" y="2331720"/>
            <a:ext cx="28346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41230"/>
                </a:solidFill>
                <a:latin typeface="Cambria"/>
                <a:ea typeface="Cambria"/>
                <a:cs typeface="Cambria"/>
              </a:rPr>
              <a:t>Historique réel de douze mois</a:t>
            </a:r>
            <a:endParaRPr sz="1300"/>
          </a:p>
        </p:txBody>
      </p:sp>
      <p:sp>
        <p:nvSpPr>
          <p:cNvPr id="8" name="Text 6">
            <a:extLst xmlns:a="http://schemas.openxmlformats.org/drawingml/2006/main">
              <a:ext uri="{FF2B5EF4-FFF2-40B4-BE49-F238E27FC236}">
                <a16:creationId xmlns:a16="http://schemas.microsoft.com/office/drawing/2014/main" id="{1DD89D99-9FA4-461B-ABD4-E6FD82F58F73}"/>
              </a:ext>
            </a:extLst>
          </p:cNvPr>
          <p:cNvSpPr>
            <a:spLocks xmlns:a="http://schemas.openxmlformats.org/drawingml/2006/main" noGrp="1"/>
          </p:cNvSpPr>
          <p:nvPr/>
        </p:nvSpPr>
        <p:spPr>
          <a:xfrm xmlns:a="http://schemas.openxmlformats.org/drawingml/2006/main">
            <a:off x="1005840" y="2606040"/>
            <a:ext cx="2834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050">
                <a:solidFill>
                  <a:srgbClr val="6E6A88"/>
                </a:solidFill>
                <a:latin typeface="Calibri"/>
                <a:ea typeface="Calibri"/>
                <a:cs typeface="Calibri"/>
              </a:rPr>
              <a:t>Saisonnalité non identifiable ; aucun décalage annuel exploitable.</a:t>
            </a:r>
            <a:endParaRPr sz="1050"/>
          </a:p>
        </p:txBody>
      </p:sp>
      <p:sp>
        <p:nvSpPr>
          <p:cNvPr id="9" name="Text 7">
            <a:extLst xmlns:a="http://schemas.openxmlformats.org/drawingml/2006/main">
              <a:ext uri="{FF2B5EF4-FFF2-40B4-BE49-F238E27FC236}">
                <a16:creationId xmlns:a16="http://schemas.microsoft.com/office/drawing/2014/main" id="{52A1D269-6A7B-4500-BE21-B7B4BCF2FDC9}"/>
              </a:ext>
            </a:extLst>
          </p:cNvPr>
          <p:cNvSpPr>
            <a:spLocks xmlns:a="http://schemas.openxmlformats.org/drawingml/2006/main" noGrp="1"/>
          </p:cNvSpPr>
          <p:nvPr/>
        </p:nvSpPr>
        <p:spPr>
          <a:xfrm xmlns:a="http://schemas.openxmlformats.org/drawingml/2006/main">
            <a:off x="1005840" y="3136392"/>
            <a:ext cx="28346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41230"/>
                </a:solidFill>
                <a:latin typeface="Cambria"/>
                <a:ea typeface="Cambria"/>
                <a:cs typeface="Cambria"/>
              </a:rPr>
              <a:t>Recours aux données synthétiques</a:t>
            </a:r>
            <a:endParaRPr sz="1300"/>
          </a:p>
        </p:txBody>
      </p:sp>
      <p:sp>
        <p:nvSpPr>
          <p:cNvPr id="10" name="Text 8">
            <a:extLst xmlns:a="http://schemas.openxmlformats.org/drawingml/2006/main">
              <a:ext uri="{FF2B5EF4-FFF2-40B4-BE49-F238E27FC236}">
                <a16:creationId xmlns:a16="http://schemas.microsoft.com/office/drawing/2014/main" id="{57D3C692-17C1-403A-80F1-7613AE322E67}"/>
              </a:ext>
            </a:extLst>
          </p:cNvPr>
          <p:cNvSpPr>
            <a:spLocks xmlns:a="http://schemas.openxmlformats.org/drawingml/2006/main" noGrp="1"/>
          </p:cNvSpPr>
          <p:nvPr/>
        </p:nvSpPr>
        <p:spPr>
          <a:xfrm xmlns:a="http://schemas.openxmlformats.org/drawingml/2006/main">
            <a:off x="1005840" y="3410712"/>
            <a:ext cx="2834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050">
                <a:solidFill>
                  <a:srgbClr val="6E6A88"/>
                </a:solidFill>
                <a:latin typeface="Calibri"/>
                <a:ea typeface="Calibri"/>
                <a:cs typeface="Calibri"/>
              </a:rPr>
              <a:t>Valide la mécanique du dispositif, non sa performance opérationnelle.</a:t>
            </a:r>
            <a:endParaRPr sz="1050"/>
          </a:p>
        </p:txBody>
      </p:sp>
      <p:sp>
        <p:nvSpPr>
          <p:cNvPr id="11" name="Text 9">
            <a:extLst xmlns:a="http://schemas.openxmlformats.org/drawingml/2006/main">
              <a:ext uri="{FF2B5EF4-FFF2-40B4-BE49-F238E27FC236}">
                <a16:creationId xmlns:a16="http://schemas.microsoft.com/office/drawing/2014/main" id="{2B5EB66F-07A2-419C-8937-461EA0B1B545}"/>
              </a:ext>
            </a:extLst>
          </p:cNvPr>
          <p:cNvSpPr>
            <a:spLocks xmlns:a="http://schemas.openxmlformats.org/drawingml/2006/main" noGrp="1"/>
          </p:cNvSpPr>
          <p:nvPr/>
        </p:nvSpPr>
        <p:spPr>
          <a:xfrm xmlns:a="http://schemas.openxmlformats.org/drawingml/2006/main">
            <a:off x="1005840" y="3941064"/>
            <a:ext cx="28346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41230"/>
                </a:solidFill>
                <a:latin typeface="Cambria"/>
                <a:ea typeface="Cambria"/>
                <a:cs typeface="Cambria"/>
              </a:rPr>
              <a:t>Variables exogènes incomplètes</a:t>
            </a:r>
            <a:endParaRPr sz="1300"/>
          </a:p>
        </p:txBody>
      </p:sp>
      <p:sp>
        <p:nvSpPr>
          <p:cNvPr id="12" name="Text 10">
            <a:extLst xmlns:a="http://schemas.openxmlformats.org/drawingml/2006/main">
              <a:ext uri="{FF2B5EF4-FFF2-40B4-BE49-F238E27FC236}">
                <a16:creationId xmlns:a16="http://schemas.microsoft.com/office/drawing/2014/main" id="{65A8CE19-5188-4173-8B83-EE48E22CBB64}"/>
              </a:ext>
            </a:extLst>
          </p:cNvPr>
          <p:cNvSpPr>
            <a:spLocks xmlns:a="http://schemas.openxmlformats.org/drawingml/2006/main" noGrp="1"/>
          </p:cNvSpPr>
          <p:nvPr/>
        </p:nvSpPr>
        <p:spPr>
          <a:xfrm xmlns:a="http://schemas.openxmlformats.org/drawingml/2006/main">
            <a:off x="1005840" y="4215384"/>
            <a:ext cx="2834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050">
                <a:solidFill>
                  <a:srgbClr val="6E6A88"/>
                </a:solidFill>
                <a:latin typeface="Calibri"/>
                <a:ea typeface="Calibri"/>
                <a:cs typeface="Calibri"/>
              </a:rPr>
              <a:t>Budget, carnet de commandes et effectifs absents à la maille section.</a:t>
            </a:r>
            <a:endParaRPr sz="1050"/>
          </a:p>
        </p:txBody>
      </p:sp>
      <p:sp>
        <p:nvSpPr>
          <p:cNvPr id="13" name="Text 11">
            <a:extLst xmlns:a="http://schemas.openxmlformats.org/drawingml/2006/main">
              <a:ext uri="{FF2B5EF4-FFF2-40B4-BE49-F238E27FC236}">
                <a16:creationId xmlns:a16="http://schemas.microsoft.com/office/drawing/2014/main" id="{BC1A2B42-886B-4B6D-94AF-4EC6634CD261}"/>
              </a:ext>
            </a:extLst>
          </p:cNvPr>
          <p:cNvSpPr>
            <a:spLocks xmlns:a="http://schemas.openxmlformats.org/drawingml/2006/main" noGrp="1"/>
          </p:cNvSpPr>
          <p:nvPr/>
        </p:nvSpPr>
        <p:spPr>
          <a:xfrm xmlns:a="http://schemas.openxmlformats.org/drawingml/2006/main">
            <a:off x="1005840" y="4745736"/>
            <a:ext cx="283464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141230"/>
                </a:solidFill>
                <a:latin typeface="Cambria"/>
                <a:ea typeface="Cambria"/>
                <a:cs typeface="Cambria"/>
              </a:rPr>
              <a:t>Prévision ponctuelle</a:t>
            </a:r>
            <a:endParaRPr sz="1300"/>
          </a:p>
        </p:txBody>
      </p:sp>
      <p:sp>
        <p:nvSpPr>
          <p:cNvPr id="14" name="Text 12">
            <a:extLst xmlns:a="http://schemas.openxmlformats.org/drawingml/2006/main">
              <a:ext uri="{FF2B5EF4-FFF2-40B4-BE49-F238E27FC236}">
                <a16:creationId xmlns:a16="http://schemas.microsoft.com/office/drawing/2014/main" id="{F3A0DB6E-EC4B-498E-8805-1DFB45593653}"/>
              </a:ext>
            </a:extLst>
          </p:cNvPr>
          <p:cNvSpPr>
            <a:spLocks xmlns:a="http://schemas.openxmlformats.org/drawingml/2006/main" noGrp="1"/>
          </p:cNvSpPr>
          <p:nvPr/>
        </p:nvSpPr>
        <p:spPr>
          <a:xfrm xmlns:a="http://schemas.openxmlformats.org/drawingml/2006/main">
            <a:off x="1005840" y="5020056"/>
            <a:ext cx="283464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5000"/>
              </a:lnSpc>
              <a:buNone/>
            </a:pPr>
            <a:r>
              <a:rPr sz="1050">
                <a:solidFill>
                  <a:srgbClr val="6E6A88"/>
                </a:solidFill>
                <a:latin typeface="Calibri"/>
                <a:ea typeface="Calibri"/>
                <a:cs typeface="Calibri"/>
              </a:rPr>
              <a:t>Ne renseigne pas sur le degré d'incertitude associé.</a:t>
            </a:r>
            <a:endParaRPr sz="1050"/>
          </a:p>
        </p:txBody>
      </p:sp>
      <p:sp>
        <p:nvSpPr>
          <p:cNvPr id="15" name="Shape 13">
            <a:extLst xmlns:a="http://schemas.openxmlformats.org/drawingml/2006/main">
              <a:ext uri="{FF2B5EF4-FFF2-40B4-BE49-F238E27FC236}">
                <a16:creationId xmlns:a16="http://schemas.microsoft.com/office/drawing/2014/main" id="{5FFC08E5-B04F-4CFD-AF47-487DB0C4CA2E}"/>
              </a:ext>
            </a:extLst>
          </p:cNvPr>
          <p:cNvSpPr>
            <a:spLocks xmlns:a="http://schemas.openxmlformats.org/drawingml/2006/main" noGrp="1"/>
          </p:cNvSpPr>
          <p:nvPr/>
        </p:nvSpPr>
        <p:spPr>
          <a:xfrm xmlns:a="http://schemas.openxmlformats.org/drawingml/2006/main">
            <a:off x="4315968" y="1783080"/>
            <a:ext cx="2304288" cy="3886200"/>
          </a:xfrm>
          <a:prstGeom xmlns:a="http://schemas.openxmlformats.org/drawingml/2006/main" prst="roundRect">
            <a:avLst>
              <a:gd name="adj" fmla="val 3968"/>
            </a:avLst>
          </a:prstGeom>
          <a:solidFill xmlns:a="http://schemas.openxmlformats.org/drawingml/2006/main">
            <a:srgbClr val="F6F5FB"/>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16" name="Text 14">
            <a:extLst xmlns:a="http://schemas.openxmlformats.org/drawingml/2006/main">
              <a:ext uri="{FF2B5EF4-FFF2-40B4-BE49-F238E27FC236}">
                <a16:creationId xmlns:a16="http://schemas.microsoft.com/office/drawing/2014/main" id="{2FFADF85-69B3-4F17-8906-7CE09967E54C}"/>
              </a:ext>
            </a:extLst>
          </p:cNvPr>
          <p:cNvSpPr>
            <a:spLocks xmlns:a="http://schemas.openxmlformats.org/drawingml/2006/main" noGrp="1"/>
          </p:cNvSpPr>
          <p:nvPr/>
        </p:nvSpPr>
        <p:spPr>
          <a:xfrm xmlns:a="http://schemas.openxmlformats.org/drawingml/2006/main">
            <a:off x="4572000" y="2029968"/>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30">
                <a:solidFill>
                  <a:srgbClr val="6B46C7"/>
                </a:solidFill>
                <a:latin typeface="Calibri"/>
                <a:ea typeface="Calibri"/>
                <a:cs typeface="Calibri"/>
              </a:rPr>
              <a:t>COURT TERME</a:t>
            </a:r>
            <a:endParaRPr sz="900"/>
          </a:p>
        </p:txBody>
      </p:sp>
      <p:sp>
        <p:nvSpPr>
          <p:cNvPr id="17" name="Text 15">
            <a:extLst xmlns:a="http://schemas.openxmlformats.org/drawingml/2006/main">
              <a:ext uri="{FF2B5EF4-FFF2-40B4-BE49-F238E27FC236}">
                <a16:creationId xmlns:a16="http://schemas.microsoft.com/office/drawing/2014/main" id="{E9F16419-CAEC-4516-9BB8-B52E7618A4E2}"/>
              </a:ext>
            </a:extLst>
          </p:cNvPr>
          <p:cNvSpPr>
            <a:spLocks xmlns:a="http://schemas.openxmlformats.org/drawingml/2006/main" noGrp="1"/>
          </p:cNvSpPr>
          <p:nvPr/>
        </p:nvSpPr>
        <p:spPr>
          <a:xfrm xmlns:a="http://schemas.openxmlformats.org/drawingml/2006/main">
            <a:off x="4572000" y="2286000"/>
            <a:ext cx="18288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41230"/>
                </a:solidFill>
                <a:latin typeface="Cambria"/>
                <a:ea typeface="Cambria"/>
                <a:cs typeface="Cambria"/>
              </a:rPr>
              <a:t>Sécuriser</a:t>
            </a:r>
            <a:endParaRPr sz="1700"/>
          </a:p>
        </p:txBody>
      </p:sp>
      <p:sp>
        <p:nvSpPr>
          <p:cNvPr id="18" name="Shape 16">
            <a:extLst xmlns:a="http://schemas.openxmlformats.org/drawingml/2006/main">
              <a:ext uri="{FF2B5EF4-FFF2-40B4-BE49-F238E27FC236}">
                <a16:creationId xmlns:a16="http://schemas.microsoft.com/office/drawing/2014/main" id="{E32A78B4-A81C-426F-926C-06CAF8F41169}"/>
              </a:ext>
            </a:extLst>
          </p:cNvPr>
          <p:cNvSpPr>
            <a:spLocks xmlns:a="http://schemas.openxmlformats.org/drawingml/2006/main" noGrp="1"/>
          </p:cNvSpPr>
          <p:nvPr/>
        </p:nvSpPr>
        <p:spPr>
          <a:xfrm xmlns:a="http://schemas.openxmlformats.org/drawingml/2006/main">
            <a:off x="4590288" y="2889504"/>
            <a:ext cx="91440" cy="91440"/>
          </a:xfrm>
          <a:prstGeom xmlns:a="http://schemas.openxmlformats.org/drawingml/2006/main" prst="ellipse">
            <a:avLst/>
          </a:prstGeom>
          <a:solidFill xmlns:a="http://schemas.openxmlformats.org/drawingml/2006/main">
            <a:srgbClr val="A78BFA"/>
          </a:solidFill>
        </p:spPr>
      </p:sp>
      <p:sp>
        <p:nvSpPr>
          <p:cNvPr id="19" name="Text 17">
            <a:extLst xmlns:a="http://schemas.openxmlformats.org/drawingml/2006/main">
              <a:ext uri="{FF2B5EF4-FFF2-40B4-BE49-F238E27FC236}">
                <a16:creationId xmlns:a16="http://schemas.microsoft.com/office/drawing/2014/main" id="{81114784-BAA0-422F-8163-DFAE1653292C}"/>
              </a:ext>
            </a:extLst>
          </p:cNvPr>
          <p:cNvSpPr>
            <a:spLocks xmlns:a="http://schemas.openxmlformats.org/drawingml/2006/main" noGrp="1"/>
          </p:cNvSpPr>
          <p:nvPr/>
        </p:nvSpPr>
        <p:spPr>
          <a:xfrm xmlns:a="http://schemas.openxmlformats.org/drawingml/2006/main">
            <a:off x="4818888" y="2798064"/>
            <a:ext cx="16002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050">
                <a:solidFill>
                  <a:srgbClr val="6E6A88"/>
                </a:solidFill>
                <a:latin typeface="Calibri"/>
                <a:ea typeface="Calibri"/>
                <a:cs typeface="Calibri"/>
              </a:rPr>
              <a:t>Conserver la méthode naïve comme référence</a:t>
            </a:r>
            <a:endParaRPr sz="1050"/>
          </a:p>
        </p:txBody>
      </p:sp>
      <p:sp>
        <p:nvSpPr>
          <p:cNvPr id="20" name="Shape 18">
            <a:extLst xmlns:a="http://schemas.openxmlformats.org/drawingml/2006/main">
              <a:ext uri="{FF2B5EF4-FFF2-40B4-BE49-F238E27FC236}">
                <a16:creationId xmlns:a16="http://schemas.microsoft.com/office/drawing/2014/main" id="{6CF0D8AE-375C-4DA3-A6C5-BDCDA7E97BC3}"/>
              </a:ext>
            </a:extLst>
          </p:cNvPr>
          <p:cNvSpPr>
            <a:spLocks xmlns:a="http://schemas.openxmlformats.org/drawingml/2006/main" noGrp="1"/>
          </p:cNvSpPr>
          <p:nvPr/>
        </p:nvSpPr>
        <p:spPr>
          <a:xfrm xmlns:a="http://schemas.openxmlformats.org/drawingml/2006/main">
            <a:off x="4590288" y="3822192"/>
            <a:ext cx="91440" cy="91440"/>
          </a:xfrm>
          <a:prstGeom xmlns:a="http://schemas.openxmlformats.org/drawingml/2006/main" prst="ellipse">
            <a:avLst/>
          </a:prstGeom>
          <a:solidFill xmlns:a="http://schemas.openxmlformats.org/drawingml/2006/main">
            <a:srgbClr val="A78BFA"/>
          </a:solidFill>
        </p:spPr>
      </p:sp>
      <p:sp>
        <p:nvSpPr>
          <p:cNvPr id="21" name="Text 19">
            <a:extLst xmlns:a="http://schemas.openxmlformats.org/drawingml/2006/main">
              <a:ext uri="{FF2B5EF4-FFF2-40B4-BE49-F238E27FC236}">
                <a16:creationId xmlns:a16="http://schemas.microsoft.com/office/drawing/2014/main" id="{B8B320B7-F02B-461D-9834-D2F8A7E65EC5}"/>
              </a:ext>
            </a:extLst>
          </p:cNvPr>
          <p:cNvSpPr>
            <a:spLocks xmlns:a="http://schemas.openxmlformats.org/drawingml/2006/main" noGrp="1"/>
          </p:cNvSpPr>
          <p:nvPr/>
        </p:nvSpPr>
        <p:spPr>
          <a:xfrm xmlns:a="http://schemas.openxmlformats.org/drawingml/2006/main">
            <a:off x="4818888" y="3730752"/>
            <a:ext cx="16002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050">
                <a:solidFill>
                  <a:srgbClr val="6E6A88"/>
                </a:solidFill>
                <a:latin typeface="Calibri"/>
                <a:ea typeface="Calibri"/>
                <a:cs typeface="Calibri"/>
              </a:rPr>
              <a:t>Actualiser le benchmark chaque mois</a:t>
            </a:r>
            <a:endParaRPr sz="1050"/>
          </a:p>
        </p:txBody>
      </p:sp>
      <p:sp>
        <p:nvSpPr>
          <p:cNvPr id="22" name="Shape 20">
            <a:extLst xmlns:a="http://schemas.openxmlformats.org/drawingml/2006/main">
              <a:ext uri="{FF2B5EF4-FFF2-40B4-BE49-F238E27FC236}">
                <a16:creationId xmlns:a16="http://schemas.microsoft.com/office/drawing/2014/main" id="{1CC46EC9-BE51-466E-9A68-FDCA126FC216}"/>
              </a:ext>
            </a:extLst>
          </p:cNvPr>
          <p:cNvSpPr>
            <a:spLocks xmlns:a="http://schemas.openxmlformats.org/drawingml/2006/main" noGrp="1"/>
          </p:cNvSpPr>
          <p:nvPr/>
        </p:nvSpPr>
        <p:spPr>
          <a:xfrm xmlns:a="http://schemas.openxmlformats.org/drawingml/2006/main">
            <a:off x="4590288" y="4754880"/>
            <a:ext cx="91440" cy="91440"/>
          </a:xfrm>
          <a:prstGeom xmlns:a="http://schemas.openxmlformats.org/drawingml/2006/main" prst="ellipse">
            <a:avLst/>
          </a:prstGeom>
          <a:solidFill xmlns:a="http://schemas.openxmlformats.org/drawingml/2006/main">
            <a:srgbClr val="A78BFA"/>
          </a:solidFill>
        </p:spPr>
      </p:sp>
      <p:sp>
        <p:nvSpPr>
          <p:cNvPr id="23" name="Text 21">
            <a:extLst xmlns:a="http://schemas.openxmlformats.org/drawingml/2006/main">
              <a:ext uri="{FF2B5EF4-FFF2-40B4-BE49-F238E27FC236}">
                <a16:creationId xmlns:a16="http://schemas.microsoft.com/office/drawing/2014/main" id="{79E918AA-8CFF-4DB7-9888-68B5158A569F}"/>
              </a:ext>
            </a:extLst>
          </p:cNvPr>
          <p:cNvSpPr>
            <a:spLocks xmlns:a="http://schemas.openxmlformats.org/drawingml/2006/main" noGrp="1"/>
          </p:cNvSpPr>
          <p:nvPr/>
        </p:nvSpPr>
        <p:spPr>
          <a:xfrm xmlns:a="http://schemas.openxmlformats.org/drawingml/2006/main">
            <a:off x="4818888" y="4663440"/>
            <a:ext cx="16002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050">
                <a:solidFill>
                  <a:srgbClr val="6E6A88"/>
                </a:solidFill>
                <a:latin typeface="Calibri"/>
                <a:ea typeface="Calibri"/>
                <a:cs typeface="Calibri"/>
              </a:rPr>
              <a:t>Contrôler les prévisions négatives</a:t>
            </a:r>
            <a:endParaRPr sz="1050"/>
          </a:p>
        </p:txBody>
      </p:sp>
      <p:sp>
        <p:nvSpPr>
          <p:cNvPr id="24" name="Shape 22">
            <a:extLst xmlns:a="http://schemas.openxmlformats.org/drawingml/2006/main">
              <a:ext uri="{FF2B5EF4-FFF2-40B4-BE49-F238E27FC236}">
                <a16:creationId xmlns:a16="http://schemas.microsoft.com/office/drawing/2014/main" id="{5A141D12-C86B-47D1-A009-4B1EDDE60BB3}"/>
              </a:ext>
            </a:extLst>
          </p:cNvPr>
          <p:cNvSpPr>
            <a:spLocks xmlns:a="http://schemas.openxmlformats.org/drawingml/2006/main" noGrp="1"/>
          </p:cNvSpPr>
          <p:nvPr/>
        </p:nvSpPr>
        <p:spPr>
          <a:xfrm xmlns:a="http://schemas.openxmlformats.org/drawingml/2006/main">
            <a:off x="6803136" y="1783080"/>
            <a:ext cx="2304288" cy="3886200"/>
          </a:xfrm>
          <a:prstGeom xmlns:a="http://schemas.openxmlformats.org/drawingml/2006/main" prst="roundRect">
            <a:avLst>
              <a:gd name="adj" fmla="val 3968"/>
            </a:avLst>
          </a:prstGeom>
          <a:solidFill xmlns:a="http://schemas.openxmlformats.org/drawingml/2006/main">
            <a:srgbClr val="EEEBF8"/>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25" name="Text 23">
            <a:extLst xmlns:a="http://schemas.openxmlformats.org/drawingml/2006/main">
              <a:ext uri="{FF2B5EF4-FFF2-40B4-BE49-F238E27FC236}">
                <a16:creationId xmlns:a16="http://schemas.microsoft.com/office/drawing/2014/main" id="{AF3AACA0-7AE2-44D4-A27F-81CC86628FED}"/>
              </a:ext>
            </a:extLst>
          </p:cNvPr>
          <p:cNvSpPr>
            <a:spLocks xmlns:a="http://schemas.openxmlformats.org/drawingml/2006/main" noGrp="1"/>
          </p:cNvSpPr>
          <p:nvPr/>
        </p:nvSpPr>
        <p:spPr>
          <a:xfrm xmlns:a="http://schemas.openxmlformats.org/drawingml/2006/main">
            <a:off x="7059168" y="2029968"/>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30">
                <a:solidFill>
                  <a:srgbClr val="6B46C7"/>
                </a:solidFill>
                <a:latin typeface="Calibri"/>
                <a:ea typeface="Calibri"/>
                <a:cs typeface="Calibri"/>
              </a:rPr>
              <a:t>MOYEN TERME</a:t>
            </a:r>
            <a:endParaRPr sz="900"/>
          </a:p>
        </p:txBody>
      </p:sp>
      <p:sp>
        <p:nvSpPr>
          <p:cNvPr id="26" name="Text 24">
            <a:extLst xmlns:a="http://schemas.openxmlformats.org/drawingml/2006/main">
              <a:ext uri="{FF2B5EF4-FFF2-40B4-BE49-F238E27FC236}">
                <a16:creationId xmlns:a16="http://schemas.microsoft.com/office/drawing/2014/main" id="{8CC3B8A8-2087-4D7B-9336-EDCB6C6297A6}"/>
              </a:ext>
            </a:extLst>
          </p:cNvPr>
          <p:cNvSpPr>
            <a:spLocks xmlns:a="http://schemas.openxmlformats.org/drawingml/2006/main" noGrp="1"/>
          </p:cNvSpPr>
          <p:nvPr/>
        </p:nvSpPr>
        <p:spPr>
          <a:xfrm xmlns:a="http://schemas.openxmlformats.org/drawingml/2006/main">
            <a:off x="7059168" y="2286000"/>
            <a:ext cx="18288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141230"/>
                </a:solidFill>
                <a:latin typeface="Cambria"/>
                <a:ea typeface="Cambria"/>
                <a:cs typeface="Cambria"/>
              </a:rPr>
              <a:t>Enrichir</a:t>
            </a:r>
            <a:endParaRPr sz="1700"/>
          </a:p>
        </p:txBody>
      </p:sp>
      <p:sp>
        <p:nvSpPr>
          <p:cNvPr id="27" name="Shape 25">
            <a:extLst xmlns:a="http://schemas.openxmlformats.org/drawingml/2006/main">
              <a:ext uri="{FF2B5EF4-FFF2-40B4-BE49-F238E27FC236}">
                <a16:creationId xmlns:a16="http://schemas.microsoft.com/office/drawing/2014/main" id="{ADDA1C85-5AB1-4E0A-B3FE-CF85E07E3151}"/>
              </a:ext>
            </a:extLst>
          </p:cNvPr>
          <p:cNvSpPr>
            <a:spLocks xmlns:a="http://schemas.openxmlformats.org/drawingml/2006/main" noGrp="1"/>
          </p:cNvSpPr>
          <p:nvPr/>
        </p:nvSpPr>
        <p:spPr>
          <a:xfrm xmlns:a="http://schemas.openxmlformats.org/drawingml/2006/main">
            <a:off x="7077456" y="2889504"/>
            <a:ext cx="91440" cy="91440"/>
          </a:xfrm>
          <a:prstGeom xmlns:a="http://schemas.openxmlformats.org/drawingml/2006/main" prst="ellipse">
            <a:avLst/>
          </a:prstGeom>
          <a:solidFill xmlns:a="http://schemas.openxmlformats.org/drawingml/2006/main">
            <a:srgbClr val="A78BFA"/>
          </a:solidFill>
        </p:spPr>
      </p:sp>
      <p:sp>
        <p:nvSpPr>
          <p:cNvPr id="28" name="Text 26">
            <a:extLst xmlns:a="http://schemas.openxmlformats.org/drawingml/2006/main">
              <a:ext uri="{FF2B5EF4-FFF2-40B4-BE49-F238E27FC236}">
                <a16:creationId xmlns:a16="http://schemas.microsoft.com/office/drawing/2014/main" id="{8B96E765-9D2F-4905-9818-91BB688CF166}"/>
              </a:ext>
            </a:extLst>
          </p:cNvPr>
          <p:cNvSpPr>
            <a:spLocks xmlns:a="http://schemas.openxmlformats.org/drawingml/2006/main" noGrp="1"/>
          </p:cNvSpPr>
          <p:nvPr/>
        </p:nvSpPr>
        <p:spPr>
          <a:xfrm xmlns:a="http://schemas.openxmlformats.org/drawingml/2006/main">
            <a:off x="7306056" y="2798064"/>
            <a:ext cx="16002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050">
                <a:solidFill>
                  <a:srgbClr val="6E6A88"/>
                </a:solidFill>
                <a:latin typeface="Calibri"/>
                <a:ea typeface="Calibri"/>
                <a:cs typeface="Calibri"/>
              </a:rPr>
              <a:t>Constituer un historique réel multi-annuel</a:t>
            </a:r>
            <a:endParaRPr sz="1050"/>
          </a:p>
        </p:txBody>
      </p:sp>
      <p:sp>
        <p:nvSpPr>
          <p:cNvPr id="29" name="Shape 27">
            <a:extLst xmlns:a="http://schemas.openxmlformats.org/drawingml/2006/main">
              <a:ext uri="{FF2B5EF4-FFF2-40B4-BE49-F238E27FC236}">
                <a16:creationId xmlns:a16="http://schemas.microsoft.com/office/drawing/2014/main" id="{68549A46-93BE-48F1-9211-B262C82A3AA1}"/>
              </a:ext>
            </a:extLst>
          </p:cNvPr>
          <p:cNvSpPr>
            <a:spLocks xmlns:a="http://schemas.openxmlformats.org/drawingml/2006/main" noGrp="1"/>
          </p:cNvSpPr>
          <p:nvPr/>
        </p:nvSpPr>
        <p:spPr>
          <a:xfrm xmlns:a="http://schemas.openxmlformats.org/drawingml/2006/main">
            <a:off x="7077456" y="3822192"/>
            <a:ext cx="91440" cy="91440"/>
          </a:xfrm>
          <a:prstGeom xmlns:a="http://schemas.openxmlformats.org/drawingml/2006/main" prst="ellipse">
            <a:avLst/>
          </a:prstGeom>
          <a:solidFill xmlns:a="http://schemas.openxmlformats.org/drawingml/2006/main">
            <a:srgbClr val="A78BFA"/>
          </a:solidFill>
        </p:spPr>
      </p:sp>
      <p:sp>
        <p:nvSpPr>
          <p:cNvPr id="30" name="Text 28">
            <a:extLst xmlns:a="http://schemas.openxmlformats.org/drawingml/2006/main">
              <a:ext uri="{FF2B5EF4-FFF2-40B4-BE49-F238E27FC236}">
                <a16:creationId xmlns:a16="http://schemas.microsoft.com/office/drawing/2014/main" id="{A87C0F67-A761-4CAB-AE08-92C4B6509093}"/>
              </a:ext>
            </a:extLst>
          </p:cNvPr>
          <p:cNvSpPr>
            <a:spLocks xmlns:a="http://schemas.openxmlformats.org/drawingml/2006/main" noGrp="1"/>
          </p:cNvSpPr>
          <p:nvPr/>
        </p:nvSpPr>
        <p:spPr>
          <a:xfrm xmlns:a="http://schemas.openxmlformats.org/drawingml/2006/main">
            <a:off x="7306056" y="3730752"/>
            <a:ext cx="16002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050">
                <a:solidFill>
                  <a:srgbClr val="6E6A88"/>
                </a:solidFill>
                <a:latin typeface="Calibri"/>
                <a:ea typeface="Calibri"/>
                <a:cs typeface="Calibri"/>
              </a:rPr>
              <a:t>Intégrer budget, backlog et effectifs réels</a:t>
            </a:r>
            <a:endParaRPr sz="1050"/>
          </a:p>
        </p:txBody>
      </p:sp>
      <p:sp>
        <p:nvSpPr>
          <p:cNvPr id="31" name="Shape 29">
            <a:extLst xmlns:a="http://schemas.openxmlformats.org/drawingml/2006/main">
              <a:ext uri="{FF2B5EF4-FFF2-40B4-BE49-F238E27FC236}">
                <a16:creationId xmlns:a16="http://schemas.microsoft.com/office/drawing/2014/main" id="{35C9A3CC-5425-4C2B-9125-AA8BA47CD22A}"/>
              </a:ext>
            </a:extLst>
          </p:cNvPr>
          <p:cNvSpPr>
            <a:spLocks xmlns:a="http://schemas.openxmlformats.org/drawingml/2006/main" noGrp="1"/>
          </p:cNvSpPr>
          <p:nvPr/>
        </p:nvSpPr>
        <p:spPr>
          <a:xfrm xmlns:a="http://schemas.openxmlformats.org/drawingml/2006/main">
            <a:off x="7077456" y="4754880"/>
            <a:ext cx="91440" cy="91440"/>
          </a:xfrm>
          <a:prstGeom xmlns:a="http://schemas.openxmlformats.org/drawingml/2006/main" prst="ellipse">
            <a:avLst/>
          </a:prstGeom>
          <a:solidFill xmlns:a="http://schemas.openxmlformats.org/drawingml/2006/main">
            <a:srgbClr val="A78BFA"/>
          </a:solidFill>
        </p:spPr>
      </p:sp>
      <p:sp>
        <p:nvSpPr>
          <p:cNvPr id="32" name="Text 30">
            <a:extLst xmlns:a="http://schemas.openxmlformats.org/drawingml/2006/main">
              <a:ext uri="{FF2B5EF4-FFF2-40B4-BE49-F238E27FC236}">
                <a16:creationId xmlns:a16="http://schemas.microsoft.com/office/drawing/2014/main" id="{F7B661BB-CFE6-4463-AC62-E3B03EF9298B}"/>
              </a:ext>
            </a:extLst>
          </p:cNvPr>
          <p:cNvSpPr>
            <a:spLocks xmlns:a="http://schemas.openxmlformats.org/drawingml/2006/main" noGrp="1"/>
          </p:cNvSpPr>
          <p:nvPr/>
        </p:nvSpPr>
        <p:spPr>
          <a:xfrm xmlns:a="http://schemas.openxmlformats.org/drawingml/2006/main">
            <a:off x="7306056" y="4663440"/>
            <a:ext cx="16002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050">
                <a:solidFill>
                  <a:srgbClr val="6E6A88"/>
                </a:solidFill>
                <a:latin typeface="Calibri"/>
                <a:ea typeface="Calibri"/>
                <a:cs typeface="Calibri"/>
              </a:rPr>
              <a:t>Segmenter les modèles par profil de section</a:t>
            </a:r>
            <a:endParaRPr sz="1050"/>
          </a:p>
        </p:txBody>
      </p:sp>
      <p:sp>
        <p:nvSpPr>
          <p:cNvPr id="33" name="Shape 31">
            <a:extLst xmlns:a="http://schemas.openxmlformats.org/drawingml/2006/main">
              <a:ext uri="{FF2B5EF4-FFF2-40B4-BE49-F238E27FC236}">
                <a16:creationId xmlns:a16="http://schemas.microsoft.com/office/drawing/2014/main" id="{B1314A9F-1366-41DA-8DB3-73A55BDA0B9C}"/>
              </a:ext>
            </a:extLst>
          </p:cNvPr>
          <p:cNvSpPr>
            <a:spLocks xmlns:a="http://schemas.openxmlformats.org/drawingml/2006/main" noGrp="1"/>
          </p:cNvSpPr>
          <p:nvPr/>
        </p:nvSpPr>
        <p:spPr>
          <a:xfrm xmlns:a="http://schemas.openxmlformats.org/drawingml/2006/main">
            <a:off x="9290304" y="1783080"/>
            <a:ext cx="2304288" cy="3886200"/>
          </a:xfrm>
          <a:prstGeom xmlns:a="http://schemas.openxmlformats.org/drawingml/2006/main" prst="roundRect">
            <a:avLst>
              <a:gd name="adj" fmla="val 3968"/>
            </a:avLst>
          </a:prstGeom>
          <a:solidFill xmlns:a="http://schemas.openxmlformats.org/drawingml/2006/main">
            <a:srgbClr val="6B46C7"/>
          </a:solidFill>
          <a:effectLst xmlns:a="http://schemas.openxmlformats.org/drawingml/2006/main">
            <a:outerShdw blurRad="203200" dist="38100" dir="5400000" sx="100000" sy="100000" kx="0" ky="0" algn="bl" rotWithShape="0">
              <a:srgbClr val="3C2E7A">
                <a:alpha val="10000"/>
              </a:srgbClr>
            </a:outerShdw>
          </a:effectLst>
        </p:spPr>
      </p:sp>
      <p:sp>
        <p:nvSpPr>
          <p:cNvPr id="34" name="Text 32">
            <a:extLst xmlns:a="http://schemas.openxmlformats.org/drawingml/2006/main">
              <a:ext uri="{FF2B5EF4-FFF2-40B4-BE49-F238E27FC236}">
                <a16:creationId xmlns:a16="http://schemas.microsoft.com/office/drawing/2014/main" id="{CBADBDBF-8C45-4FBF-9A6B-247F63C85DD7}"/>
              </a:ext>
            </a:extLst>
          </p:cNvPr>
          <p:cNvSpPr>
            <a:spLocks xmlns:a="http://schemas.openxmlformats.org/drawingml/2006/main" noGrp="1"/>
          </p:cNvSpPr>
          <p:nvPr/>
        </p:nvSpPr>
        <p:spPr>
          <a:xfrm xmlns:a="http://schemas.openxmlformats.org/drawingml/2006/main">
            <a:off x="9546336" y="2029968"/>
            <a:ext cx="1828800" cy="219456"/>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spc="130">
                <a:solidFill>
                  <a:srgbClr val="D6C9FF"/>
                </a:solidFill>
                <a:latin typeface="Calibri"/>
                <a:ea typeface="Calibri"/>
                <a:cs typeface="Calibri"/>
              </a:rPr>
              <a:t>LONG TERME</a:t>
            </a:r>
            <a:endParaRPr sz="900"/>
          </a:p>
        </p:txBody>
      </p:sp>
      <p:sp>
        <p:nvSpPr>
          <p:cNvPr id="35" name="Text 33">
            <a:extLst xmlns:a="http://schemas.openxmlformats.org/drawingml/2006/main">
              <a:ext uri="{FF2B5EF4-FFF2-40B4-BE49-F238E27FC236}">
                <a16:creationId xmlns:a16="http://schemas.microsoft.com/office/drawing/2014/main" id="{E29749D0-8199-4F2C-A2BE-E61CF7C7602D}"/>
              </a:ext>
            </a:extLst>
          </p:cNvPr>
          <p:cNvSpPr>
            <a:spLocks xmlns:a="http://schemas.openxmlformats.org/drawingml/2006/main" noGrp="1"/>
          </p:cNvSpPr>
          <p:nvPr/>
        </p:nvSpPr>
        <p:spPr>
          <a:xfrm xmlns:a="http://schemas.openxmlformats.org/drawingml/2006/main">
            <a:off x="9546336" y="2286000"/>
            <a:ext cx="1828800" cy="329184"/>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700" b="1">
                <a:solidFill>
                  <a:srgbClr val="FFFFFF"/>
                </a:solidFill>
                <a:latin typeface="Cambria"/>
                <a:ea typeface="Cambria"/>
                <a:cs typeface="Cambria"/>
              </a:rPr>
              <a:t>Industrialiser</a:t>
            </a:r>
            <a:endParaRPr sz="1700"/>
          </a:p>
        </p:txBody>
      </p:sp>
      <p:sp>
        <p:nvSpPr>
          <p:cNvPr id="36" name="Shape 34">
            <a:extLst xmlns:a="http://schemas.openxmlformats.org/drawingml/2006/main">
              <a:ext uri="{FF2B5EF4-FFF2-40B4-BE49-F238E27FC236}">
                <a16:creationId xmlns:a16="http://schemas.microsoft.com/office/drawing/2014/main" id="{FD9F4F75-9958-4C19-BC2B-1DDE25088F9C}"/>
              </a:ext>
            </a:extLst>
          </p:cNvPr>
          <p:cNvSpPr>
            <a:spLocks xmlns:a="http://schemas.openxmlformats.org/drawingml/2006/main" noGrp="1"/>
          </p:cNvSpPr>
          <p:nvPr/>
        </p:nvSpPr>
        <p:spPr>
          <a:xfrm xmlns:a="http://schemas.openxmlformats.org/drawingml/2006/main">
            <a:off x="9564624" y="2889504"/>
            <a:ext cx="91440" cy="91440"/>
          </a:xfrm>
          <a:prstGeom xmlns:a="http://schemas.openxmlformats.org/drawingml/2006/main" prst="ellipse">
            <a:avLst/>
          </a:prstGeom>
          <a:solidFill xmlns:a="http://schemas.openxmlformats.org/drawingml/2006/main">
            <a:srgbClr val="D6C9FF"/>
          </a:solidFill>
        </p:spPr>
      </p:sp>
      <p:sp>
        <p:nvSpPr>
          <p:cNvPr id="37" name="Text 35">
            <a:extLst xmlns:a="http://schemas.openxmlformats.org/drawingml/2006/main">
              <a:ext uri="{FF2B5EF4-FFF2-40B4-BE49-F238E27FC236}">
                <a16:creationId xmlns:a16="http://schemas.microsoft.com/office/drawing/2014/main" id="{A07142F5-6D85-4EC1-826B-B03C297976B6}"/>
              </a:ext>
            </a:extLst>
          </p:cNvPr>
          <p:cNvSpPr>
            <a:spLocks xmlns:a="http://schemas.openxmlformats.org/drawingml/2006/main" noGrp="1"/>
          </p:cNvSpPr>
          <p:nvPr/>
        </p:nvSpPr>
        <p:spPr>
          <a:xfrm xmlns:a="http://schemas.openxmlformats.org/drawingml/2006/main">
            <a:off x="9793224" y="2798064"/>
            <a:ext cx="16002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050">
                <a:solidFill>
                  <a:srgbClr val="E4DAFF"/>
                </a:solidFill>
                <a:latin typeface="Calibri"/>
                <a:ea typeface="Calibri"/>
                <a:cs typeface="Calibri"/>
              </a:rPr>
              <a:t>Adopter une logique champion / challenger</a:t>
            </a:r>
            <a:endParaRPr sz="1050"/>
          </a:p>
        </p:txBody>
      </p:sp>
      <p:sp>
        <p:nvSpPr>
          <p:cNvPr id="38" name="Shape 36">
            <a:extLst xmlns:a="http://schemas.openxmlformats.org/drawingml/2006/main">
              <a:ext uri="{FF2B5EF4-FFF2-40B4-BE49-F238E27FC236}">
                <a16:creationId xmlns:a16="http://schemas.microsoft.com/office/drawing/2014/main" id="{4CB90200-1BB9-4713-A84D-DEA6AE62C1A6}"/>
              </a:ext>
            </a:extLst>
          </p:cNvPr>
          <p:cNvSpPr>
            <a:spLocks xmlns:a="http://schemas.openxmlformats.org/drawingml/2006/main" noGrp="1"/>
          </p:cNvSpPr>
          <p:nvPr/>
        </p:nvSpPr>
        <p:spPr>
          <a:xfrm xmlns:a="http://schemas.openxmlformats.org/drawingml/2006/main">
            <a:off x="9564624" y="3822192"/>
            <a:ext cx="91440" cy="91440"/>
          </a:xfrm>
          <a:prstGeom xmlns:a="http://schemas.openxmlformats.org/drawingml/2006/main" prst="ellipse">
            <a:avLst/>
          </a:prstGeom>
          <a:solidFill xmlns:a="http://schemas.openxmlformats.org/drawingml/2006/main">
            <a:srgbClr val="D6C9FF"/>
          </a:solidFill>
        </p:spPr>
      </p:sp>
      <p:sp>
        <p:nvSpPr>
          <p:cNvPr id="39" name="Text 37">
            <a:extLst xmlns:a="http://schemas.openxmlformats.org/drawingml/2006/main">
              <a:ext uri="{FF2B5EF4-FFF2-40B4-BE49-F238E27FC236}">
                <a16:creationId xmlns:a16="http://schemas.microsoft.com/office/drawing/2014/main" id="{7517F23E-C44D-4603-B356-DDBB6F3EA461}"/>
              </a:ext>
            </a:extLst>
          </p:cNvPr>
          <p:cNvSpPr>
            <a:spLocks xmlns:a="http://schemas.openxmlformats.org/drawingml/2006/main" noGrp="1"/>
          </p:cNvSpPr>
          <p:nvPr/>
        </p:nvSpPr>
        <p:spPr>
          <a:xfrm xmlns:a="http://schemas.openxmlformats.org/drawingml/2006/main">
            <a:off x="9793224" y="3730752"/>
            <a:ext cx="16002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050">
                <a:solidFill>
                  <a:srgbClr val="E4DAFF"/>
                </a:solidFill>
                <a:latin typeface="Calibri"/>
                <a:ea typeface="Calibri"/>
                <a:cs typeface="Calibri"/>
              </a:rPr>
              <a:t>Produire des intervalles de prévision</a:t>
            </a:r>
            <a:endParaRPr sz="1050"/>
          </a:p>
        </p:txBody>
      </p:sp>
      <p:sp>
        <p:nvSpPr>
          <p:cNvPr id="40" name="Shape 38">
            <a:extLst xmlns:a="http://schemas.openxmlformats.org/drawingml/2006/main">
              <a:ext uri="{FF2B5EF4-FFF2-40B4-BE49-F238E27FC236}">
                <a16:creationId xmlns:a16="http://schemas.microsoft.com/office/drawing/2014/main" id="{E7076FDF-B92B-40E9-B71E-EC871576981B}"/>
              </a:ext>
            </a:extLst>
          </p:cNvPr>
          <p:cNvSpPr>
            <a:spLocks xmlns:a="http://schemas.openxmlformats.org/drawingml/2006/main" noGrp="1"/>
          </p:cNvSpPr>
          <p:nvPr/>
        </p:nvSpPr>
        <p:spPr>
          <a:xfrm xmlns:a="http://schemas.openxmlformats.org/drawingml/2006/main">
            <a:off x="9564624" y="4754880"/>
            <a:ext cx="91440" cy="91440"/>
          </a:xfrm>
          <a:prstGeom xmlns:a="http://schemas.openxmlformats.org/drawingml/2006/main" prst="ellipse">
            <a:avLst/>
          </a:prstGeom>
          <a:solidFill xmlns:a="http://schemas.openxmlformats.org/drawingml/2006/main">
            <a:srgbClr val="D6C9FF"/>
          </a:solidFill>
        </p:spPr>
      </p:sp>
      <p:sp>
        <p:nvSpPr>
          <p:cNvPr id="41" name="Text 39">
            <a:extLst xmlns:a="http://schemas.openxmlformats.org/drawingml/2006/main">
              <a:ext uri="{FF2B5EF4-FFF2-40B4-BE49-F238E27FC236}">
                <a16:creationId xmlns:a16="http://schemas.microsoft.com/office/drawing/2014/main" id="{7CB43E67-8E0A-48FA-B90F-D0C53C69D1C0}"/>
              </a:ext>
            </a:extLst>
          </p:cNvPr>
          <p:cNvSpPr>
            <a:spLocks xmlns:a="http://schemas.openxmlformats.org/drawingml/2006/main" noGrp="1"/>
          </p:cNvSpPr>
          <p:nvPr/>
        </p:nvSpPr>
        <p:spPr>
          <a:xfrm xmlns:a="http://schemas.openxmlformats.org/drawingml/2006/main">
            <a:off x="9793224" y="4663440"/>
            <a:ext cx="160020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050">
                <a:solidFill>
                  <a:srgbClr val="E4DAFF"/>
                </a:solidFill>
                <a:latin typeface="Calibri"/>
                <a:ea typeface="Calibri"/>
                <a:cs typeface="Calibri"/>
              </a:rPr>
              <a:t>Intégrer le modèle au rolling forecast</a:t>
            </a:r>
            <a:endParaRPr sz="1050"/>
          </a:p>
        </p:txBody>
      </p:sp>
      <p:sp>
        <p:nvSpPr>
          <p:cNvPr id="42" name="Text 40">
            <a:extLst xmlns:a="http://schemas.openxmlformats.org/drawingml/2006/main">
              <a:ext uri="{FF2B5EF4-FFF2-40B4-BE49-F238E27FC236}">
                <a16:creationId xmlns:a16="http://schemas.microsoft.com/office/drawing/2014/main" id="{4915BE7A-1883-4E4F-9A17-3B35233F60F1}"/>
              </a:ext>
            </a:extLst>
          </p:cNvPr>
          <p:cNvSpPr>
            <a:spLocks xmlns:a="http://schemas.openxmlformats.org/drawingml/2006/main" noGrp="1"/>
          </p:cNvSpPr>
          <p:nvPr/>
        </p:nvSpPr>
        <p:spPr>
          <a:xfrm xmlns:a="http://schemas.openxmlformats.org/drawingml/2006/main">
            <a:off x="4352544" y="5687568"/>
            <a:ext cx="7040880" cy="475488"/>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50" i="1">
                <a:solidFill>
                  <a:srgbClr val="6E6A88"/>
                </a:solidFill>
                <a:latin typeface="Calibri"/>
                <a:ea typeface="Calibri"/>
                <a:cs typeface="Calibri"/>
              </a:rPr>
              <a:t>Le modèle ne remplacera la référence qu'après deux à trois exercices complets, une collecte fiabilisée du budget, du backlog et des effectifs, un avantage reproduit sur plusieurs origines consécutives et confirmé par le test de Diebold-Mariano.</a:t>
            </a:r>
            <a:endParaRPr sz="1250"/>
          </a:p>
        </p:txBody>
      </p:sp>
      <p:sp>
        <p:nvSpPr>
          <p:cNvPr id="43" name="!!footer_label">
            <a:extLst xmlns:a="http://schemas.openxmlformats.org/drawingml/2006/main">
              <a:ext uri="{FF2B5EF4-FFF2-40B4-BE49-F238E27FC236}">
                <a16:creationId xmlns:a16="http://schemas.microsoft.com/office/drawing/2014/main" id="{FB4EC18D-8648-440B-B2AB-7958D7C6D608}"/>
              </a:ext>
            </a:extLst>
          </p:cNvPr>
          <p:cNvSpPr>
            <a:spLocks xmlns:a="http://schemas.openxmlformats.org/drawingml/2006/main" noGrp="1"/>
          </p:cNvSpPr>
          <p:nvPr/>
        </p:nvSpPr>
        <p:spPr>
          <a:xfrm xmlns:a="http://schemas.openxmlformats.org/drawingml/2006/main">
            <a:off x="713232" y="6345936"/>
            <a:ext cx="7315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spc="60">
                <a:solidFill>
                  <a:srgbClr val="A5A1B8"/>
                </a:solidFill>
                <a:latin typeface="Calibri"/>
                <a:ea typeface="Calibri"/>
                <a:cs typeface="Calibri"/>
              </a:rPr>
              <a:t>06 · Recommandations</a:t>
            </a:r>
            <a:endParaRPr sz="900"/>
          </a:p>
        </p:txBody>
      </p:sp>
      <p:sp>
        <p:nvSpPr>
          <p:cNvPr id="44" name="!!footer_page">
            <a:extLst xmlns:a="http://schemas.openxmlformats.org/drawingml/2006/main">
              <a:ext uri="{FF2B5EF4-FFF2-40B4-BE49-F238E27FC236}">
                <a16:creationId xmlns:a16="http://schemas.microsoft.com/office/drawing/2014/main" id="{32E5EB16-81A4-4B5A-A7E5-2474A24F3133}"/>
              </a:ext>
            </a:extLst>
          </p:cNvPr>
          <p:cNvSpPr>
            <a:spLocks xmlns:a="http://schemas.openxmlformats.org/drawingml/2006/main" noGrp="1"/>
          </p:cNvSpPr>
          <p:nvPr/>
        </p:nvSpPr>
        <p:spPr>
          <a:xfrm xmlns:a="http://schemas.openxmlformats.org/drawingml/2006/main">
            <a:off x="10972800" y="6345936"/>
            <a:ext cx="502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50" b="1">
                <a:solidFill>
                  <a:srgbClr val="6B46C7"/>
                </a:solidFill>
                <a:latin typeface="Calibri"/>
                <a:ea typeface="Calibri"/>
                <a:cs typeface="Calibri"/>
              </a:rPr>
              <a:t>15</a:t>
            </a:r>
            <a:endParaRPr sz="950"/>
          </a:p>
        </p:txBody>
      </p:sp>
    </p:spTree>
    <p:extLst>
      <p:ext uri="{BB962C8B-B14F-4D97-AF65-F5344CB8AC3E}">
        <p14:creationId xmlns:p14="http://schemas.microsoft.com/office/powerpoint/2010/main" val="1241812735"/>
      </p:ext>
    </p:extLst>
  </p:cSld>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sld>
</file>

<file path=ppt/slides/slide8.xml><?xml version="1.0" encoding="utf-8"?>
<p:sld xmlns:p="http://schemas.openxmlformats.org/presentationml/2006/main">
  <p:cSld>
    <p:bg>
      <p:bgPr>
        <a:blipFill xmlns:a="http://schemas.openxmlformats.org/drawingml/2006/main" rotWithShape="1">
          <a:blip xmlns:r="http://schemas.openxmlformats.org/officeDocument/2006/relationships" r:embed="Rd743daeedf71496f">
            <a:lum/>
          </a:blip>
          <a:srcRect l="0" t="0" r="0" b="0"/>
          <a:stretch>
            <a:fillRect l="0" t="0" r="0" b="0"/>
          </a:stretch>
        </a:blipFill>
      </p:bgPr>
    </p:bg>
    <p:spTree>
      <p:nvGrpSpPr>
        <p:cNvPr id="1" name=""/>
        <p:cNvGrpSpPr/>
        <p:nvPr/>
      </p:nvGrpSpPr>
      <p:grpSpPr>
        <a:xfrm xmlns:a="http://schemas.openxmlformats.org/drawingml/2006/main"/>
      </p:grpSpPr>
      <p:sp>
        <p:nvSpPr>
          <p:cNvPr id="2" name="!!eyebrow">
            <a:extLst xmlns:a="http://schemas.openxmlformats.org/drawingml/2006/main">
              <a:ext uri="{FF2B5EF4-FFF2-40B4-BE49-F238E27FC236}">
                <a16:creationId xmlns:a16="http://schemas.microsoft.com/office/drawing/2014/main" id="{21443A56-7EDB-44D1-93A9-200B4AA78E1E}"/>
              </a:ext>
            </a:extLst>
          </p:cNvPr>
          <p:cNvSpPr>
            <a:spLocks xmlns:a="http://schemas.openxmlformats.org/drawingml/2006/main" noGrp="1"/>
          </p:cNvSpPr>
          <p:nvPr/>
        </p:nvSpPr>
        <p:spPr>
          <a:xfrm xmlns:a="http://schemas.openxmlformats.org/drawingml/2006/main">
            <a:off x="749808" y="594360"/>
            <a:ext cx="54864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b="1" spc="240">
                <a:solidFill>
                  <a:srgbClr val="6B46C7"/>
                </a:solidFill>
                <a:latin typeface="Calibri"/>
                <a:ea typeface="Calibri"/>
                <a:cs typeface="Calibri"/>
              </a:rPr>
              <a:t>CONCLUSION</a:t>
            </a:r>
            <a:endParaRPr sz="1050"/>
          </a:p>
        </p:txBody>
      </p:sp>
      <p:sp>
        <p:nvSpPr>
          <p:cNvPr id="3" name="!!title">
            <a:extLst xmlns:a="http://schemas.openxmlformats.org/drawingml/2006/main">
              <a:ext uri="{FF2B5EF4-FFF2-40B4-BE49-F238E27FC236}">
                <a16:creationId xmlns:a16="http://schemas.microsoft.com/office/drawing/2014/main" id="{EA0EC385-EAF5-4013-9A4E-9C491638C542}"/>
              </a:ext>
            </a:extLst>
          </p:cNvPr>
          <p:cNvSpPr>
            <a:spLocks xmlns:a="http://schemas.openxmlformats.org/drawingml/2006/main" noGrp="1"/>
          </p:cNvSpPr>
          <p:nvPr/>
        </p:nvSpPr>
        <p:spPr>
          <a:xfrm xmlns:a="http://schemas.openxmlformats.org/drawingml/2006/main">
            <a:off x="713232" y="960120"/>
            <a:ext cx="82296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3100" b="1">
                <a:solidFill>
                  <a:srgbClr val="141230"/>
                </a:solidFill>
                <a:latin typeface="Cambria"/>
                <a:ea typeface="Cambria"/>
                <a:cs typeface="Cambria"/>
              </a:rPr>
              <a:t>Trois enseignements à retenir</a:t>
            </a:r>
            <a:endParaRPr sz="3100"/>
          </a:p>
        </p:txBody>
      </p:sp>
      <p:sp>
        <p:nvSpPr>
          <p:cNvPr id="4" name="Shape 2">
            <a:extLst xmlns:a="http://schemas.openxmlformats.org/drawingml/2006/main">
              <a:ext uri="{FF2B5EF4-FFF2-40B4-BE49-F238E27FC236}">
                <a16:creationId xmlns:a16="http://schemas.microsoft.com/office/drawing/2014/main" id="{E2BD7E29-8F87-4F40-B608-A3868DFEE876}"/>
              </a:ext>
            </a:extLst>
          </p:cNvPr>
          <p:cNvSpPr>
            <a:spLocks xmlns:a="http://schemas.openxmlformats.org/drawingml/2006/main" noGrp="1"/>
          </p:cNvSpPr>
          <p:nvPr/>
        </p:nvSpPr>
        <p:spPr>
          <a:xfrm xmlns:a="http://schemas.openxmlformats.org/drawingml/2006/main">
            <a:off x="713232" y="1965960"/>
            <a:ext cx="3383280" cy="3063240"/>
          </a:xfrm>
          <a:prstGeom xmlns:a="http://schemas.openxmlformats.org/drawingml/2006/main" prst="roundRect">
            <a:avLst>
              <a:gd name="adj" fmla="val 2985"/>
            </a:avLst>
          </a:prstGeom>
          <a:solidFill xmlns:a="http://schemas.openxmlformats.org/drawingml/2006/main">
            <a:srgbClr val="F6F5FB"/>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txBody xmlns:a="http://schemas.openxmlformats.org/drawingml/2006/main">
          <a:bodyPr/>
          <a:p/>
        </p:txBody>
      </p:sp>
      <p:sp>
        <p:nvSpPr>
          <p:cNvPr id="5" name="Shape 3">
            <a:extLst xmlns:a="http://schemas.openxmlformats.org/drawingml/2006/main">
              <a:ext uri="{FF2B5EF4-FFF2-40B4-BE49-F238E27FC236}">
                <a16:creationId xmlns:a16="http://schemas.microsoft.com/office/drawing/2014/main" id="{BBFA7BC4-53CF-431D-A65C-55052268986C}"/>
              </a:ext>
            </a:extLst>
          </p:cNvPr>
          <p:cNvSpPr>
            <a:spLocks xmlns:a="http://schemas.openxmlformats.org/drawingml/2006/main" noGrp="1"/>
          </p:cNvSpPr>
          <p:nvPr/>
        </p:nvSpPr>
        <p:spPr>
          <a:xfrm xmlns:a="http://schemas.openxmlformats.org/drawingml/2006/main">
            <a:off x="1005840" y="2240280"/>
            <a:ext cx="365760" cy="365760"/>
          </a:xfrm>
          <a:prstGeom xmlns:a="http://schemas.openxmlformats.org/drawingml/2006/main" prst="roundRect">
            <a:avLst>
              <a:gd name="adj" fmla="val 17500"/>
            </a:avLst>
          </a:prstGeom>
          <a:solidFill xmlns:a="http://schemas.openxmlformats.org/drawingml/2006/main">
            <a:srgbClr val="6B46C7"/>
          </a:solidFill>
        </p:spPr>
        <p:txBody xmlns:a="http://schemas.openxmlformats.org/drawingml/2006/main">
          <a:bodyPr/>
          <a:p/>
        </p:txBody>
      </p:sp>
      <p:sp>
        <p:nvSpPr>
          <p:cNvPr id="6" name="Text 4">
            <a:extLst xmlns:a="http://schemas.openxmlformats.org/drawingml/2006/main">
              <a:ext uri="{FF2B5EF4-FFF2-40B4-BE49-F238E27FC236}">
                <a16:creationId xmlns:a16="http://schemas.microsoft.com/office/drawing/2014/main" id="{F56AF450-94B0-4867-B164-AC24B176C011}"/>
              </a:ext>
            </a:extLst>
          </p:cNvPr>
          <p:cNvSpPr>
            <a:spLocks xmlns:a="http://schemas.openxmlformats.org/drawingml/2006/main" noGrp="1"/>
          </p:cNvSpPr>
          <p:nvPr/>
        </p:nvSpPr>
        <p:spPr>
          <a:xfrm xmlns:a="http://schemas.openxmlformats.org/drawingml/2006/main">
            <a:off x="1005840" y="224028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01</a:t>
            </a:r>
            <a:endParaRPr sz="1200"/>
          </a:p>
        </p:txBody>
      </p:sp>
      <p:sp>
        <p:nvSpPr>
          <p:cNvPr id="7" name="Text 5">
            <a:extLst xmlns:a="http://schemas.openxmlformats.org/drawingml/2006/main">
              <a:ext uri="{FF2B5EF4-FFF2-40B4-BE49-F238E27FC236}">
                <a16:creationId xmlns:a16="http://schemas.microsoft.com/office/drawing/2014/main" id="{23685B60-FD1F-453C-9782-C21F441E8DA9}"/>
              </a:ext>
            </a:extLst>
          </p:cNvPr>
          <p:cNvSpPr>
            <a:spLocks xmlns:a="http://schemas.openxmlformats.org/drawingml/2006/main" noGrp="1"/>
          </p:cNvSpPr>
          <p:nvPr/>
        </p:nvSpPr>
        <p:spPr>
          <a:xfrm xmlns:a="http://schemas.openxmlformats.org/drawingml/2006/main">
            <a:off x="1005840" y="2743200"/>
            <a:ext cx="279806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600" b="1">
                <a:solidFill>
                  <a:srgbClr val="141230"/>
                </a:solidFill>
                <a:latin typeface="Cambria"/>
                <a:ea typeface="Cambria"/>
                <a:cs typeface="Cambria"/>
              </a:rPr>
              <a:t>La complexité n'est pas une preuve</a:t>
            </a:r>
            <a:endParaRPr sz="1600"/>
          </a:p>
        </p:txBody>
      </p:sp>
      <p:sp>
        <p:nvSpPr>
          <p:cNvPr id="8" name="Text 6">
            <a:extLst xmlns:a="http://schemas.openxmlformats.org/drawingml/2006/main">
              <a:ext uri="{FF2B5EF4-FFF2-40B4-BE49-F238E27FC236}">
                <a16:creationId xmlns:a16="http://schemas.microsoft.com/office/drawing/2014/main" id="{0EC872C4-3016-4362-B5A5-5D70BFE57C5A}"/>
              </a:ext>
            </a:extLst>
          </p:cNvPr>
          <p:cNvSpPr>
            <a:spLocks xmlns:a="http://schemas.openxmlformats.org/drawingml/2006/main" noGrp="1"/>
          </p:cNvSpPr>
          <p:nvPr/>
        </p:nvSpPr>
        <p:spPr>
          <a:xfrm xmlns:a="http://schemas.openxmlformats.org/drawingml/2006/main">
            <a:off x="1005840" y="3429000"/>
            <a:ext cx="2798064" cy="1417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150">
                <a:solidFill>
                  <a:srgbClr val="6E6A88"/>
                </a:solidFill>
                <a:latin typeface="Calibri"/>
                <a:ea typeface="Calibri"/>
                <a:cs typeface="Calibri"/>
              </a:rPr>
              <a:t>Sur données réelles, la méthode de référence conserve l'avantage sur chacune des trois origines, et cette supériorité est statistiquement établie. Recommander XGBoost aujourd'hui serait recommander un coût sans gain démontré.</a:t>
            </a:r>
            <a:endParaRPr sz="1150"/>
          </a:p>
        </p:txBody>
      </p:sp>
      <p:sp>
        <p:nvSpPr>
          <p:cNvPr id="9" name="Shape 7">
            <a:extLst xmlns:a="http://schemas.openxmlformats.org/drawingml/2006/main">
              <a:ext uri="{FF2B5EF4-FFF2-40B4-BE49-F238E27FC236}">
                <a16:creationId xmlns:a16="http://schemas.microsoft.com/office/drawing/2014/main" id="{04D148CE-2528-43C5-BFD6-93E8640E0FC8}"/>
              </a:ext>
            </a:extLst>
          </p:cNvPr>
          <p:cNvSpPr>
            <a:spLocks xmlns:a="http://schemas.openxmlformats.org/drawingml/2006/main" noGrp="1"/>
          </p:cNvSpPr>
          <p:nvPr/>
        </p:nvSpPr>
        <p:spPr>
          <a:xfrm xmlns:a="http://schemas.openxmlformats.org/drawingml/2006/main">
            <a:off x="4389120" y="1965960"/>
            <a:ext cx="3383280" cy="3063240"/>
          </a:xfrm>
          <a:prstGeom xmlns:a="http://schemas.openxmlformats.org/drawingml/2006/main" prst="roundRect">
            <a:avLst>
              <a:gd name="adj" fmla="val 2985"/>
            </a:avLst>
          </a:prstGeom>
          <a:solidFill xmlns:a="http://schemas.openxmlformats.org/drawingml/2006/main">
            <a:srgbClr val="EEEBF8"/>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10" name="Shape 8">
            <a:extLst xmlns:a="http://schemas.openxmlformats.org/drawingml/2006/main">
              <a:ext uri="{FF2B5EF4-FFF2-40B4-BE49-F238E27FC236}">
                <a16:creationId xmlns:a16="http://schemas.microsoft.com/office/drawing/2014/main" id="{D9A336B8-5D8D-4D55-BDF8-957E8B04A22D}"/>
              </a:ext>
            </a:extLst>
          </p:cNvPr>
          <p:cNvSpPr>
            <a:spLocks xmlns:a="http://schemas.openxmlformats.org/drawingml/2006/main" noGrp="1"/>
          </p:cNvSpPr>
          <p:nvPr/>
        </p:nvSpPr>
        <p:spPr>
          <a:xfrm xmlns:a="http://schemas.openxmlformats.org/drawingml/2006/main">
            <a:off x="4681728" y="2240280"/>
            <a:ext cx="365760" cy="365760"/>
          </a:xfrm>
          <a:prstGeom xmlns:a="http://schemas.openxmlformats.org/drawingml/2006/main" prst="roundRect">
            <a:avLst>
              <a:gd name="adj" fmla="val 17500"/>
            </a:avLst>
          </a:prstGeom>
          <a:solidFill xmlns:a="http://schemas.openxmlformats.org/drawingml/2006/main">
            <a:srgbClr val="6B46C7"/>
          </a:solidFill>
        </p:spPr>
      </p:sp>
      <p:sp>
        <p:nvSpPr>
          <p:cNvPr id="11" name="Text 9">
            <a:extLst xmlns:a="http://schemas.openxmlformats.org/drawingml/2006/main">
              <a:ext uri="{FF2B5EF4-FFF2-40B4-BE49-F238E27FC236}">
                <a16:creationId xmlns:a16="http://schemas.microsoft.com/office/drawing/2014/main" id="{01FB636E-D695-48ED-8913-38015FC754D5}"/>
              </a:ext>
            </a:extLst>
          </p:cNvPr>
          <p:cNvSpPr>
            <a:spLocks xmlns:a="http://schemas.openxmlformats.org/drawingml/2006/main" noGrp="1"/>
          </p:cNvSpPr>
          <p:nvPr/>
        </p:nvSpPr>
        <p:spPr>
          <a:xfrm xmlns:a="http://schemas.openxmlformats.org/drawingml/2006/main">
            <a:off x="4681728" y="224028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02</a:t>
            </a:r>
            <a:endParaRPr sz="1200"/>
          </a:p>
        </p:txBody>
      </p:sp>
      <p:sp>
        <p:nvSpPr>
          <p:cNvPr id="12" name="Text 10">
            <a:extLst xmlns:a="http://schemas.openxmlformats.org/drawingml/2006/main">
              <a:ext uri="{FF2B5EF4-FFF2-40B4-BE49-F238E27FC236}">
                <a16:creationId xmlns:a16="http://schemas.microsoft.com/office/drawing/2014/main" id="{7C932A52-ABF1-4347-8247-70C9290594B9}"/>
              </a:ext>
            </a:extLst>
          </p:cNvPr>
          <p:cNvSpPr>
            <a:spLocks xmlns:a="http://schemas.openxmlformats.org/drawingml/2006/main" noGrp="1"/>
          </p:cNvSpPr>
          <p:nvPr/>
        </p:nvSpPr>
        <p:spPr>
          <a:xfrm xmlns:a="http://schemas.openxmlformats.org/drawingml/2006/main">
            <a:off x="4681728" y="2743200"/>
            <a:ext cx="279806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600" b="1">
                <a:solidFill>
                  <a:srgbClr val="141230"/>
                </a:solidFill>
                <a:latin typeface="Cambria"/>
                <a:ea typeface="Cambria"/>
                <a:cs typeface="Cambria"/>
              </a:rPr>
              <a:t>La profondeur des données limite le modèle</a:t>
            </a:r>
            <a:endParaRPr sz="1600"/>
          </a:p>
        </p:txBody>
      </p:sp>
      <p:sp>
        <p:nvSpPr>
          <p:cNvPr id="13" name="Text 11">
            <a:extLst xmlns:a="http://schemas.openxmlformats.org/drawingml/2006/main">
              <a:ext uri="{FF2B5EF4-FFF2-40B4-BE49-F238E27FC236}">
                <a16:creationId xmlns:a16="http://schemas.microsoft.com/office/drawing/2014/main" id="{D352765E-64BE-484A-8C82-898D7A2F6B44}"/>
              </a:ext>
            </a:extLst>
          </p:cNvPr>
          <p:cNvSpPr>
            <a:spLocks xmlns:a="http://schemas.openxmlformats.org/drawingml/2006/main" noGrp="1"/>
          </p:cNvSpPr>
          <p:nvPr/>
        </p:nvSpPr>
        <p:spPr>
          <a:xfrm xmlns:a="http://schemas.openxmlformats.org/drawingml/2006/main">
            <a:off x="4681728" y="3429000"/>
            <a:ext cx="2798064" cy="1417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150">
                <a:solidFill>
                  <a:srgbClr val="6E6A88"/>
                </a:solidFill>
                <a:latin typeface="Calibri"/>
                <a:ea typeface="Calibri"/>
                <a:cs typeface="Calibri"/>
              </a:rPr>
              <a:t>Le même pipeline atteint un R² de 0,945 sur le volet synthétique, entraîné sur six exercices (2019–2024). La baisse de l’erreur avec chaque mois ajouté indique que la profondeur des données constitue aujourd’hui un facteur limitant majeur.</a:t>
            </a:r>
            <a:endParaRPr sz="1150"/>
          </a:p>
        </p:txBody>
      </p:sp>
      <p:sp>
        <p:nvSpPr>
          <p:cNvPr id="14" name="Shape 12">
            <a:extLst xmlns:a="http://schemas.openxmlformats.org/drawingml/2006/main">
              <a:ext uri="{FF2B5EF4-FFF2-40B4-BE49-F238E27FC236}">
                <a16:creationId xmlns:a16="http://schemas.microsoft.com/office/drawing/2014/main" id="{2C9BDAF8-476D-489D-B040-05069834C201}"/>
              </a:ext>
            </a:extLst>
          </p:cNvPr>
          <p:cNvSpPr>
            <a:spLocks xmlns:a="http://schemas.openxmlformats.org/drawingml/2006/main" noGrp="1"/>
          </p:cNvSpPr>
          <p:nvPr/>
        </p:nvSpPr>
        <p:spPr>
          <a:xfrm xmlns:a="http://schemas.openxmlformats.org/drawingml/2006/main">
            <a:off x="8065008" y="1965960"/>
            <a:ext cx="3383280" cy="3063240"/>
          </a:xfrm>
          <a:prstGeom xmlns:a="http://schemas.openxmlformats.org/drawingml/2006/main" prst="roundRect">
            <a:avLst>
              <a:gd name="adj" fmla="val 2985"/>
            </a:avLst>
          </a:prstGeom>
          <a:solidFill xmlns:a="http://schemas.openxmlformats.org/drawingml/2006/main">
            <a:srgbClr val="F6F5FB"/>
          </a:solidFill>
          <a:ln xmlns:a="http://schemas.openxmlformats.org/drawingml/2006/main" w="9525">
            <a:solidFill>
              <a:srgbClr val="E2DEF0"/>
            </a:solidFill>
            <a:prstDash val="solid"/>
          </a:ln>
          <a:effectLst xmlns:a="http://schemas.openxmlformats.org/drawingml/2006/main">
            <a:outerShdw blurRad="203200" dist="38100" dir="5400000" sx="100000" sy="100000" kx="0" ky="0" algn="bl" rotWithShape="0">
              <a:srgbClr val="3C2E7A">
                <a:alpha val="10000"/>
              </a:srgbClr>
            </a:outerShdw>
          </a:effectLst>
        </p:spPr>
      </p:sp>
      <p:sp>
        <p:nvSpPr>
          <p:cNvPr id="15" name="Shape 13">
            <a:extLst xmlns:a="http://schemas.openxmlformats.org/drawingml/2006/main">
              <a:ext uri="{FF2B5EF4-FFF2-40B4-BE49-F238E27FC236}">
                <a16:creationId xmlns:a16="http://schemas.microsoft.com/office/drawing/2014/main" id="{FAFCBB78-E2C1-481E-8A05-943B28350388}"/>
              </a:ext>
            </a:extLst>
          </p:cNvPr>
          <p:cNvSpPr>
            <a:spLocks xmlns:a="http://schemas.openxmlformats.org/drawingml/2006/main" noGrp="1"/>
          </p:cNvSpPr>
          <p:nvPr/>
        </p:nvSpPr>
        <p:spPr>
          <a:xfrm xmlns:a="http://schemas.openxmlformats.org/drawingml/2006/main">
            <a:off x="8357616" y="2240280"/>
            <a:ext cx="365760" cy="365760"/>
          </a:xfrm>
          <a:prstGeom xmlns:a="http://schemas.openxmlformats.org/drawingml/2006/main" prst="roundRect">
            <a:avLst>
              <a:gd name="adj" fmla="val 17500"/>
            </a:avLst>
          </a:prstGeom>
          <a:solidFill xmlns:a="http://schemas.openxmlformats.org/drawingml/2006/main">
            <a:srgbClr val="6B46C7"/>
          </a:solidFill>
        </p:spPr>
      </p:sp>
      <p:sp>
        <p:nvSpPr>
          <p:cNvPr id="16" name="Text 14">
            <a:extLst xmlns:a="http://schemas.openxmlformats.org/drawingml/2006/main">
              <a:ext uri="{FF2B5EF4-FFF2-40B4-BE49-F238E27FC236}">
                <a16:creationId xmlns:a16="http://schemas.microsoft.com/office/drawing/2014/main" id="{93E91969-7D60-42EE-9C56-07B2DE516068}"/>
              </a:ext>
            </a:extLst>
          </p:cNvPr>
          <p:cNvSpPr>
            <a:spLocks xmlns:a="http://schemas.openxmlformats.org/drawingml/2006/main" noGrp="1"/>
          </p:cNvSpPr>
          <p:nvPr/>
        </p:nvSpPr>
        <p:spPr>
          <a:xfrm xmlns:a="http://schemas.openxmlformats.org/drawingml/2006/main">
            <a:off x="8357616" y="2240280"/>
            <a:ext cx="3657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FFFFFF"/>
                </a:solidFill>
                <a:latin typeface="Calibri"/>
                <a:ea typeface="Calibri"/>
                <a:cs typeface="Calibri"/>
              </a:rPr>
              <a:t>03</a:t>
            </a:r>
            <a:endParaRPr sz="1200"/>
          </a:p>
        </p:txBody>
      </p:sp>
      <p:sp>
        <p:nvSpPr>
          <p:cNvPr id="17" name="Text 15">
            <a:extLst xmlns:a="http://schemas.openxmlformats.org/drawingml/2006/main">
              <a:ext uri="{FF2B5EF4-FFF2-40B4-BE49-F238E27FC236}">
                <a16:creationId xmlns:a16="http://schemas.microsoft.com/office/drawing/2014/main" id="{7B7AB3CC-5570-415B-8A40-3C907C08CEB5}"/>
              </a:ext>
            </a:extLst>
          </p:cNvPr>
          <p:cNvSpPr>
            <a:spLocks xmlns:a="http://schemas.openxmlformats.org/drawingml/2006/main" noGrp="1"/>
          </p:cNvSpPr>
          <p:nvPr/>
        </p:nvSpPr>
        <p:spPr>
          <a:xfrm xmlns:a="http://schemas.openxmlformats.org/drawingml/2006/main">
            <a:off x="8357616" y="2743200"/>
            <a:ext cx="2798064"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05000"/>
              </a:lnSpc>
              <a:buNone/>
            </a:pPr>
            <a:r>
              <a:rPr sz="1600" b="1">
                <a:solidFill>
                  <a:srgbClr val="141230"/>
                </a:solidFill>
                <a:latin typeface="Cambria"/>
                <a:ea typeface="Cambria"/>
                <a:cs typeface="Cambria"/>
              </a:rPr>
              <a:t>La valeur créée guide la décision FP&amp;A</a:t>
            </a:r>
            <a:endParaRPr sz="1600"/>
          </a:p>
        </p:txBody>
      </p:sp>
      <p:sp>
        <p:nvSpPr>
          <p:cNvPr id="18" name="Text 16">
            <a:extLst xmlns:a="http://schemas.openxmlformats.org/drawingml/2006/main">
              <a:ext uri="{FF2B5EF4-FFF2-40B4-BE49-F238E27FC236}">
                <a16:creationId xmlns:a16="http://schemas.microsoft.com/office/drawing/2014/main" id="{F2C8578E-CF71-4B35-8B6D-FCA8A4781B2F}"/>
              </a:ext>
            </a:extLst>
          </p:cNvPr>
          <p:cNvSpPr>
            <a:spLocks xmlns:a="http://schemas.openxmlformats.org/drawingml/2006/main" noGrp="1"/>
          </p:cNvSpPr>
          <p:nvPr/>
        </p:nvSpPr>
        <p:spPr>
          <a:xfrm xmlns:a="http://schemas.openxmlformats.org/drawingml/2006/main">
            <a:off x="8357616" y="3429000"/>
            <a:ext cx="2798064" cy="1417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20000"/>
              </a:lnSpc>
              <a:buNone/>
            </a:pPr>
            <a:r>
              <a:rPr sz="1150">
                <a:solidFill>
                  <a:srgbClr val="6E6A88"/>
                </a:solidFill>
                <a:latin typeface="Calibri"/>
                <a:ea typeface="Calibri"/>
                <a:cs typeface="Calibri"/>
              </a:rPr>
              <a:t>Base analytique fiable, benchmark formalisé et outil de suivi des écarts : le FP&amp;A dispose désormais d’un cadre pour arbitrer, documenter ses forecasts et challenger à nouveau XGBoost lorsque l’historique sera suffisant.</a:t>
            </a:r>
            <a:endParaRPr sz="1150"/>
          </a:p>
        </p:txBody>
      </p:sp>
      <p:sp>
        <p:nvSpPr>
          <p:cNvPr id="19" name="Text 17">
            <a:extLst xmlns:a="http://schemas.openxmlformats.org/drawingml/2006/main">
              <a:ext uri="{FF2B5EF4-FFF2-40B4-BE49-F238E27FC236}">
                <a16:creationId xmlns:a16="http://schemas.microsoft.com/office/drawing/2014/main" id="{76ECE91B-668A-4819-B11F-34C40D28F325}"/>
              </a:ext>
            </a:extLst>
          </p:cNvPr>
          <p:cNvSpPr>
            <a:spLocks xmlns:a="http://schemas.openxmlformats.org/drawingml/2006/main" noGrp="1"/>
          </p:cNvSpPr>
          <p:nvPr/>
        </p:nvSpPr>
        <p:spPr>
          <a:xfrm xmlns:a="http://schemas.openxmlformats.org/drawingml/2006/main">
            <a:off x="749808" y="5349240"/>
            <a:ext cx="1060704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nSpc>
                <a:spcPct val="118000"/>
              </a:lnSpc>
              <a:buNone/>
            </a:pPr>
            <a:r>
              <a:rPr sz="1500" i="1">
                <a:solidFill>
                  <a:srgbClr val="4B2FA0"/>
                </a:solidFill>
                <a:latin typeface="Cambria"/>
                <a:ea typeface="Cambria"/>
                <a:cs typeface="Cambria"/>
              </a:rPr>
              <a:t>La valeur d'une démarche de prévision financière ne dépend pas de la sophistication du modèle, mais de la qualité des données, de la rigueur de l'évaluation et de l'utilité des résultats pour la décision.</a:t>
            </a:r>
            <a:endParaRPr sz="1500"/>
          </a:p>
        </p:txBody>
      </p:sp>
      <p:sp>
        <p:nvSpPr>
          <p:cNvPr id="20" name="!!footer_label">
            <a:extLst xmlns:a="http://schemas.openxmlformats.org/drawingml/2006/main">
              <a:ext uri="{FF2B5EF4-FFF2-40B4-BE49-F238E27FC236}">
                <a16:creationId xmlns:a16="http://schemas.microsoft.com/office/drawing/2014/main" id="{3EA10F22-FE13-4C30-92B4-032862569633}"/>
              </a:ext>
            </a:extLst>
          </p:cNvPr>
          <p:cNvSpPr>
            <a:spLocks xmlns:a="http://schemas.openxmlformats.org/drawingml/2006/main" noGrp="1"/>
          </p:cNvSpPr>
          <p:nvPr/>
        </p:nvSpPr>
        <p:spPr>
          <a:xfrm xmlns:a="http://schemas.openxmlformats.org/drawingml/2006/main">
            <a:off x="713232" y="6345936"/>
            <a:ext cx="731520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endParaRPr sz="900"/>
          </a:p>
        </p:txBody>
      </p:sp>
      <p:sp>
        <p:nvSpPr>
          <p:cNvPr id="21" name="!!footer_page">
            <a:extLst xmlns:a="http://schemas.openxmlformats.org/drawingml/2006/main">
              <a:ext uri="{FF2B5EF4-FFF2-40B4-BE49-F238E27FC236}">
                <a16:creationId xmlns:a16="http://schemas.microsoft.com/office/drawing/2014/main" id="{B8EF551B-410B-4AAC-8EB8-4EAA18AB15A7}"/>
              </a:ext>
            </a:extLst>
          </p:cNvPr>
          <p:cNvSpPr>
            <a:spLocks xmlns:a="http://schemas.openxmlformats.org/drawingml/2006/main" noGrp="1"/>
          </p:cNvSpPr>
          <p:nvPr/>
        </p:nvSpPr>
        <p:spPr>
          <a:xfrm xmlns:a="http://schemas.openxmlformats.org/drawingml/2006/main">
            <a:off x="10972800" y="6345936"/>
            <a:ext cx="502920" cy="256032"/>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50" b="1">
                <a:solidFill>
                  <a:srgbClr val="6B46C7"/>
                </a:solidFill>
                <a:latin typeface="Calibri"/>
                <a:ea typeface="Calibri"/>
                <a:cs typeface="Calibri"/>
              </a:rPr>
              <a:t>16</a:t>
            </a:r>
            <a:endParaRPr sz="950"/>
          </a:p>
        </p:txBody>
      </p:sp>
    </p:spTree>
    <p:extLst>
      <p:ext uri="{BB962C8B-B14F-4D97-AF65-F5344CB8AC3E}">
        <p14:creationId xmlns:p14="http://schemas.microsoft.com/office/powerpoint/2010/main" val="244388719"/>
      </p:ext>
    </p:extLst>
  </p:cSld>
  <mc:AlternateContent xmlns:mc="http://schemas.openxmlformats.org/markup-compatibility/2006">
    <mc:Choice xmlns:p159="http://schemas.microsoft.com/office/powerpoint/2015/09/main" Requires="p159">
      <p:transition xmlns:p14="http://schemas.microsoft.com/office/powerpoint/2010/main" spd="slow" p14:dur="800">
        <p159:morph option="byObject"/>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2026-09-01T16:14:48.3430000Z</dcterms:created>
  <dcterms:modified xsi:type="dcterms:W3CDTF">2026-09-01T16:14:48.3430000Z</dcterms:modified>
</coreProperties>
</file>